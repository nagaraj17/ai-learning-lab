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7e99374e1b49be" /><Relationship Type="http://schemas.openxmlformats.org/officeDocument/2006/relationships/extended-properties" Target="/docProps/app.xml" Id="R9e94368898254239" /><Relationship Type="http://schemas.openxmlformats.org/officeDocument/2006/relationships/officeDocument" Target="/ppt/presentation.xml" Id="R287d80ffaf18431d" /></Relationships>
</file>

<file path=ppt/presentation.xml><?xml version="1.0" encoding="utf-8"?>
<p:presentation xmlns:p="http://schemas.openxmlformats.org/presentationml/2006/main">
  <p:sldMasterIdLst>
    <p:sldMasterId xmlns:r="http://schemas.openxmlformats.org/officeDocument/2006/relationships" id="2147483648" r:id="Rcd8eb8f1b7e84cc8"/>
  </p:sldMasterIdLst>
  <p:notesMasterIdLst>
    <p:notesMasterId xmlns:r="http://schemas.openxmlformats.org/officeDocument/2006/relationships" r:id="Ra0540ada0e9c42ea"/>
  </p:notesMasterIdLst>
  <p:sldIdLst>
    <p:sldId xmlns:r="http://schemas.openxmlformats.org/officeDocument/2006/relationships" id="256" r:id="Rfc3bf5c1762d457e"/>
    <p:sldId xmlns:r="http://schemas.openxmlformats.org/officeDocument/2006/relationships" id="257" r:id="R71121a0ff95b4c49"/>
    <p:sldId xmlns:r="http://schemas.openxmlformats.org/officeDocument/2006/relationships" id="258" r:id="Rad04a797c7274125"/>
    <p:sldId xmlns:r="http://schemas.openxmlformats.org/officeDocument/2006/relationships" id="259" r:id="Rcbf6144656324901"/>
    <p:sldId xmlns:r="http://schemas.openxmlformats.org/officeDocument/2006/relationships" id="260" r:id="Rbc7f7dc82099475b"/>
    <p:sldId xmlns:r="http://schemas.openxmlformats.org/officeDocument/2006/relationships" id="261" r:id="R494be6c240c14894"/>
    <p:sldId xmlns:r="http://schemas.openxmlformats.org/officeDocument/2006/relationships" id="262" r:id="Rbc309219e0dd47b4"/>
    <p:sldId xmlns:r="http://schemas.openxmlformats.org/officeDocument/2006/relationships" id="263" r:id="R5f4af1175fd74e12"/>
    <p:sldId xmlns:r="http://schemas.openxmlformats.org/officeDocument/2006/relationships" id="264" r:id="R95f574fefacc46a4"/>
    <p:sldId xmlns:r="http://schemas.openxmlformats.org/officeDocument/2006/relationships" id="265" r:id="Rcb0e3a7f0aef4f32"/>
    <p:sldId xmlns:r="http://schemas.openxmlformats.org/officeDocument/2006/relationships" id="266" r:id="R26fa401295c94e76"/>
    <p:sldId xmlns:r="http://schemas.openxmlformats.org/officeDocument/2006/relationships" id="267" r:id="R9cd79031d87d4b02"/>
    <p:sldId xmlns:r="http://schemas.openxmlformats.org/officeDocument/2006/relationships" id="268" r:id="R4ec8c126f1914a5a"/>
    <p:sldId xmlns:r="http://schemas.openxmlformats.org/officeDocument/2006/relationships" id="269" r:id="Rf0f710372db44dd7"/>
    <p:sldId xmlns:r="http://schemas.openxmlformats.org/officeDocument/2006/relationships" id="270" r:id="Ree071c32037b479f"/>
    <p:sldId xmlns:r="http://schemas.openxmlformats.org/officeDocument/2006/relationships" id="271" r:id="R66476c8f344c4d1f"/>
    <p:sldId xmlns:r="http://schemas.openxmlformats.org/officeDocument/2006/relationships" id="272" r:id="Reafd8cf0750d4898"/>
    <p:sldId xmlns:r="http://schemas.openxmlformats.org/officeDocument/2006/relationships" id="273" r:id="Rd6fe850dbd644b86"/>
    <p:sldId xmlns:r="http://schemas.openxmlformats.org/officeDocument/2006/relationships" id="274" r:id="R07ce7c4cf50e405a"/>
    <p:sldId xmlns:r="http://schemas.openxmlformats.org/officeDocument/2006/relationships" id="275" r:id="Ra75ec86d97724f54"/>
    <p:sldId xmlns:r="http://schemas.openxmlformats.org/officeDocument/2006/relationships" id="276" r:id="R8124bb55f16b471a"/>
    <p:sldId xmlns:r="http://schemas.openxmlformats.org/officeDocument/2006/relationships" id="277" r:id="R961d01ac8bf64b0f"/>
    <p:sldId xmlns:r="http://schemas.openxmlformats.org/officeDocument/2006/relationships" id="278" r:id="R5a8b280e955749ad"/>
    <p:sldId xmlns:r="http://schemas.openxmlformats.org/officeDocument/2006/relationships" id="279" r:id="Rbfddd13b9b304016"/>
    <p:sldId xmlns:r="http://schemas.openxmlformats.org/officeDocument/2006/relationships" id="280" r:id="R1d43ea950fd44309"/>
    <p:sldId xmlns:r="http://schemas.openxmlformats.org/officeDocument/2006/relationships" id="281" r:id="Rea2e11808bdf4469"/>
    <p:sldId xmlns:r="http://schemas.openxmlformats.org/officeDocument/2006/relationships" id="282" r:id="R3d8d259f47ef43cf"/>
    <p:sldId xmlns:r="http://schemas.openxmlformats.org/officeDocument/2006/relationships" id="283" r:id="Reb830065904948e1"/>
    <p:sldId xmlns:r="http://schemas.openxmlformats.org/officeDocument/2006/relationships" id="284" r:id="R169d47fc5902433a"/>
    <p:sldId xmlns:r="http://schemas.openxmlformats.org/officeDocument/2006/relationships" id="285" r:id="R85da7490748043ff"/>
    <p:sldId xmlns:r="http://schemas.openxmlformats.org/officeDocument/2006/relationships" id="286" r:id="R061e6d48092d4910"/>
    <p:sldId xmlns:r="http://schemas.openxmlformats.org/officeDocument/2006/relationships" id="287" r:id="Rd7f49b2dda9e47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18b4daab8d46a1" /><Relationship Type="http://schemas.openxmlformats.org/officeDocument/2006/relationships/slideMaster" Target="/ppt/slideMasters/slideMaster1.xml" Id="Rcd8eb8f1b7e84cc8" /><Relationship Type="http://schemas.openxmlformats.org/officeDocument/2006/relationships/notesMaster" Target="/ppt/notesMasters/notesMaster1.xml" Id="Ra0540ada0e9c42ea" /><Relationship Type="http://schemas.openxmlformats.org/officeDocument/2006/relationships/presProps" Target="/ppt/presProps.xml" Id="Re390357c2a1041ed" /><Relationship Type="http://schemas.openxmlformats.org/officeDocument/2006/relationships/tableStyles" Target="/ppt/tableStyles.xml" Id="Rd5ab61ad81d441d8" /><Relationship Type="http://schemas.openxmlformats.org/officeDocument/2006/relationships/slide" Target="/ppt/slides/slide1.xml" Id="Rfc3bf5c1762d457e" /><Relationship Type="http://schemas.openxmlformats.org/officeDocument/2006/relationships/slide" Target="/ppt/slides/slide2.xml" Id="R71121a0ff95b4c49" /><Relationship Type="http://schemas.openxmlformats.org/officeDocument/2006/relationships/slide" Target="/ppt/slides/slide3.xml" Id="Rad04a797c7274125" /><Relationship Type="http://schemas.openxmlformats.org/officeDocument/2006/relationships/slide" Target="/ppt/slides/slide4.xml" Id="Rcbf6144656324901" /><Relationship Type="http://schemas.openxmlformats.org/officeDocument/2006/relationships/slide" Target="/ppt/slides/slide5.xml" Id="Rbc7f7dc82099475b" /><Relationship Type="http://schemas.openxmlformats.org/officeDocument/2006/relationships/slide" Target="/ppt/slides/slide6.xml" Id="R494be6c240c14894" /><Relationship Type="http://schemas.openxmlformats.org/officeDocument/2006/relationships/slide" Target="/ppt/slides/slide7.xml" Id="Rbc309219e0dd47b4" /><Relationship Type="http://schemas.openxmlformats.org/officeDocument/2006/relationships/slide" Target="/ppt/slides/slide8.xml" Id="R5f4af1175fd74e12" /><Relationship Type="http://schemas.openxmlformats.org/officeDocument/2006/relationships/slide" Target="/ppt/slides/slide9.xml" Id="R95f574fefacc46a4" /><Relationship Type="http://schemas.openxmlformats.org/officeDocument/2006/relationships/slide" Target="/ppt/slides/slide10.xml" Id="Rcb0e3a7f0aef4f32" /><Relationship Type="http://schemas.openxmlformats.org/officeDocument/2006/relationships/slide" Target="/ppt/slides/slide11.xml" Id="R26fa401295c94e76" /><Relationship Type="http://schemas.openxmlformats.org/officeDocument/2006/relationships/slide" Target="/ppt/slides/slide12.xml" Id="R9cd79031d87d4b02" /><Relationship Type="http://schemas.openxmlformats.org/officeDocument/2006/relationships/slide" Target="/ppt/slides/slide13.xml" Id="R4ec8c126f1914a5a" /><Relationship Type="http://schemas.openxmlformats.org/officeDocument/2006/relationships/slide" Target="/ppt/slides/slide14.xml" Id="Rf0f710372db44dd7" /><Relationship Type="http://schemas.openxmlformats.org/officeDocument/2006/relationships/slide" Target="/ppt/slides/slide15.xml" Id="Ree071c32037b479f" /><Relationship Type="http://schemas.openxmlformats.org/officeDocument/2006/relationships/slide" Target="/ppt/slides/slide16.xml" Id="R66476c8f344c4d1f" /><Relationship Type="http://schemas.openxmlformats.org/officeDocument/2006/relationships/slide" Target="/ppt/slides/slide17.xml" Id="Reafd8cf0750d4898" /><Relationship Type="http://schemas.openxmlformats.org/officeDocument/2006/relationships/slide" Target="/ppt/slides/slide18.xml" Id="Rd6fe850dbd644b86" /><Relationship Type="http://schemas.openxmlformats.org/officeDocument/2006/relationships/slide" Target="/ppt/slides/slide19.xml" Id="R07ce7c4cf50e405a" /><Relationship Type="http://schemas.openxmlformats.org/officeDocument/2006/relationships/slide" Target="/ppt/slides/slide20.xml" Id="Ra75ec86d97724f54" /><Relationship Type="http://schemas.openxmlformats.org/officeDocument/2006/relationships/slide" Target="/ppt/slides/slide21.xml" Id="R8124bb55f16b471a" /><Relationship Type="http://schemas.openxmlformats.org/officeDocument/2006/relationships/slide" Target="/ppt/slides/slide22.xml" Id="R961d01ac8bf64b0f" /><Relationship Type="http://schemas.openxmlformats.org/officeDocument/2006/relationships/slide" Target="/ppt/slides/slide23.xml" Id="R5a8b280e955749ad" /><Relationship Type="http://schemas.openxmlformats.org/officeDocument/2006/relationships/slide" Target="/ppt/slides/slide24.xml" Id="Rbfddd13b9b304016" /><Relationship Type="http://schemas.openxmlformats.org/officeDocument/2006/relationships/slide" Target="/ppt/slides/slide25.xml" Id="R1d43ea950fd44309" /><Relationship Type="http://schemas.openxmlformats.org/officeDocument/2006/relationships/slide" Target="/ppt/slides/slide26.xml" Id="Rea2e11808bdf4469" /><Relationship Type="http://schemas.openxmlformats.org/officeDocument/2006/relationships/slide" Target="/ppt/slides/slide27.xml" Id="R3d8d259f47ef43cf" /><Relationship Type="http://schemas.openxmlformats.org/officeDocument/2006/relationships/slide" Target="/ppt/slides/slide28.xml" Id="Reb830065904948e1" /><Relationship Type="http://schemas.openxmlformats.org/officeDocument/2006/relationships/slide" Target="/ppt/slides/slide29.xml" Id="R169d47fc5902433a" /><Relationship Type="http://schemas.openxmlformats.org/officeDocument/2006/relationships/slide" Target="/ppt/slides/slide30.xml" Id="R85da7490748043ff" /><Relationship Type="http://schemas.openxmlformats.org/officeDocument/2006/relationships/slide" Target="/ppt/slides/slide31.xml" Id="R061e6d48092d4910" /><Relationship Type="http://schemas.openxmlformats.org/officeDocument/2006/relationships/slide" Target="/ppt/slides/slide32.xml" Id="Rd7f49b2dda9e47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8fb59279274d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fd0cf208f24d60" /><Relationship Type="http://schemas.openxmlformats.org/officeDocument/2006/relationships/notesMaster" Target="/ppt/notesMasters/notesMaster1.xml" Id="R44c6c67175c540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93a97adc474c61" /><Relationship Type="http://schemas.openxmlformats.org/officeDocument/2006/relationships/notesMaster" Target="/ppt/notesMasters/notesMaster1.xml" Id="R238f1c41bac84e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828d46a0854a9a" /><Relationship Type="http://schemas.openxmlformats.org/officeDocument/2006/relationships/notesMaster" Target="/ppt/notesMasters/notesMaster1.xml" Id="R013e08e2e3f04f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b9093e4ed949c0" /><Relationship Type="http://schemas.openxmlformats.org/officeDocument/2006/relationships/notesMaster" Target="/ppt/notesMasters/notesMaster1.xml" Id="Raaf130144ae846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237c2089414a92" /><Relationship Type="http://schemas.openxmlformats.org/officeDocument/2006/relationships/notesMaster" Target="/ppt/notesMasters/notesMaster1.xml" Id="Rf38d2c4648544f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7f05920dc24402" /><Relationship Type="http://schemas.openxmlformats.org/officeDocument/2006/relationships/notesMaster" Target="/ppt/notesMasters/notesMaster1.xml" Id="R891109f987f44a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62000f26954614" /><Relationship Type="http://schemas.openxmlformats.org/officeDocument/2006/relationships/notesMaster" Target="/ppt/notesMasters/notesMaster1.xml" Id="R72185283fa5b47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842d8c84fd4db6" /><Relationship Type="http://schemas.openxmlformats.org/officeDocument/2006/relationships/notesMaster" Target="/ppt/notesMasters/notesMaster1.xml" Id="R58dfd54e075542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ffac200da7456b" /><Relationship Type="http://schemas.openxmlformats.org/officeDocument/2006/relationships/notesMaster" Target="/ppt/notesMasters/notesMaster1.xml" Id="R522f41ab61a34a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24b30c4dfc4f94" /><Relationship Type="http://schemas.openxmlformats.org/officeDocument/2006/relationships/notesMaster" Target="/ppt/notesMasters/notesMaster1.xml" Id="R7a4bdc06d2e548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6583be8da5484a" /><Relationship Type="http://schemas.openxmlformats.org/officeDocument/2006/relationships/notesMaster" Target="/ppt/notesMasters/notesMaster1.xml" Id="R12cca0fe17804e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11215144de41ea" /><Relationship Type="http://schemas.openxmlformats.org/officeDocument/2006/relationships/notesMaster" Target="/ppt/notesMasters/notesMaster1.xml" Id="Rab284f17ce804e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6984f4ea934a0c" /><Relationship Type="http://schemas.openxmlformats.org/officeDocument/2006/relationships/notesMaster" Target="/ppt/notesMasters/notesMaster1.xml" Id="Re52bef412d8e46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6a748530404063" /><Relationship Type="http://schemas.openxmlformats.org/officeDocument/2006/relationships/notesMaster" Target="/ppt/notesMasters/notesMaster1.xml" Id="Rbf0e07a7bd6346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46d196f4824ee8" /><Relationship Type="http://schemas.openxmlformats.org/officeDocument/2006/relationships/notesMaster" Target="/ppt/notesMasters/notesMaster1.xml" Id="Rf9beac6088cd43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2e7e99436543b9" /><Relationship Type="http://schemas.openxmlformats.org/officeDocument/2006/relationships/notesMaster" Target="/ppt/notesMasters/notesMaster1.xml" Id="R687028fae8b149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c2784760c34e55" /><Relationship Type="http://schemas.openxmlformats.org/officeDocument/2006/relationships/notesMaster" Target="/ppt/notesMasters/notesMaster1.xml" Id="R19cba46e8eb141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31ba5b93d54749" /><Relationship Type="http://schemas.openxmlformats.org/officeDocument/2006/relationships/notesMaster" Target="/ppt/notesMasters/notesMaster1.xml" Id="Rd2a197a3cba042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ba5b5c9978a405c" /><Relationship Type="http://schemas.openxmlformats.org/officeDocument/2006/relationships/notesMaster" Target="/ppt/notesMasters/notesMaster1.xml" Id="R625a6eea535441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465d28d0fb415c" /><Relationship Type="http://schemas.openxmlformats.org/officeDocument/2006/relationships/notesMaster" Target="/ppt/notesMasters/notesMaster1.xml" Id="Rf8fe3d70bc2248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e47e2ca9f9e4b06" /><Relationship Type="http://schemas.openxmlformats.org/officeDocument/2006/relationships/notesMaster" Target="/ppt/notesMasters/notesMaster1.xml" Id="R28a5a727e2f142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1f00f05cc943b4" /><Relationship Type="http://schemas.openxmlformats.org/officeDocument/2006/relationships/notesMaster" Target="/ppt/notesMasters/notesMaster1.xml" Id="R97fd81078613466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fe272ac40140b5" /><Relationship Type="http://schemas.openxmlformats.org/officeDocument/2006/relationships/notesMaster" Target="/ppt/notesMasters/notesMaster1.xml" Id="R4c78f9b8e0ae463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fab8caad79b4d44" /><Relationship Type="http://schemas.openxmlformats.org/officeDocument/2006/relationships/notesMaster" Target="/ppt/notesMasters/notesMaster1.xml" Id="R5aef9433336143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14bab4c426049e0" /><Relationship Type="http://schemas.openxmlformats.org/officeDocument/2006/relationships/notesMaster" Target="/ppt/notesMasters/notesMaster1.xml" Id="R2c8b2539777643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302536742c142da" /><Relationship Type="http://schemas.openxmlformats.org/officeDocument/2006/relationships/notesMaster" Target="/ppt/notesMasters/notesMaster1.xml" Id="Re83cd41d63d04b8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cfc20ffd01494a" /><Relationship Type="http://schemas.openxmlformats.org/officeDocument/2006/relationships/notesMaster" Target="/ppt/notesMasters/notesMaster1.xml" Id="R80113139ae3c4d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b381f715d34e49" /><Relationship Type="http://schemas.openxmlformats.org/officeDocument/2006/relationships/notesMaster" Target="/ppt/notesMasters/notesMaster1.xml" Id="Ra44bb73988764fd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0b6d5f4ccd43a6" /><Relationship Type="http://schemas.openxmlformats.org/officeDocument/2006/relationships/notesMaster" Target="/ppt/notesMasters/notesMaster1.xml" Id="R3ec1a96b597b4f5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2fa6aab7634beb" /><Relationship Type="http://schemas.openxmlformats.org/officeDocument/2006/relationships/notesMaster" Target="/ppt/notesMasters/notesMaster1.xml" Id="Raca98990b5cb4a9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fea4c49d4324232" /><Relationship Type="http://schemas.openxmlformats.org/officeDocument/2006/relationships/notesMaster" Target="/ppt/notesMasters/notesMaster1.xml" Id="R5eb8e95c0cb841e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6932b3bc8554314" /><Relationship Type="http://schemas.openxmlformats.org/officeDocument/2006/relationships/notesMaster" Target="/ppt/notesMasters/notesMaster1.xml" Id="Ree1678e8672c49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review dated October 18. The main fixed-budget comparison uses eight architectures, seed 42, 1,000 optimizer updates each. This deck reports the 12-note validation generation diagnostics, not complete final-test outcomes or repeated-seed conclusions. Repeats, complete final partitions and extended training are running separately. Individual mastery and actual Colab verification remain pending.</a:t>
            </a:r>
          </a:p>
          <a:p xmlns:a="http://schemas.openxmlformats.org/drawingml/2006/main">
            <a:r>
              <a:t/>
            </a:r>
          </a:p>
          <a:p xmlns:a="http://schemas.openxmlformats.org/drawingml/2006/main">
            <a:r>
              <a:t>Sources:</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narrative, not as a list of technologies. A forward pass computes scores, but loss and backpropagation make those scores learnable. Embeddings replace sparse token identities with learned vectors. Attention lets each position gather information from earlier positions. Multiple heads provide separate learned projections. A complete block combines attention with feature transformation, normalization and residual paths. The tracker marks Weeks 1 to 4 complete and Week 5 in progress. That is a record of learning progress, not a fresh assessment of personal mastery. The Week 5 repository contains executable NumPy components and saved experiment results. The Week 6 engineering implementation is now written and checked, but learner walkthroughs remain open. The complete project imports the same Python model from its notebooks and Gradio.</a:t>
            </a:r>
          </a:p>
          <a:p xmlns:a="http://schemas.openxmlformats.org/drawingml/2006/main">
            <a:r>
              <a:t/>
            </a:r>
          </a:p>
          <a:p xmlns:a="http://schemas.openxmlformats.org/drawingml/2006/main">
            <a:r>
              <a:t>Sources:</a:t>
            </a:r>
          </a:p>
          <a:p xmlns:a="http://schemas.openxmlformats.org/drawingml/2006/main">
            <a:r>
              <a:t>C:/Users/Nagar/source/repos/ai-learning-lab/PROGRESS.md</a:t>
            </a:r>
          </a:p>
          <a:p xmlns:a="http://schemas.openxmlformats.org/drawingml/2006/main">
            <a:r>
              <a:t>C:/Users/Nagar/source/repos/ai-learning-lab/projects/week 5/numpy_transformer_suite.py</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source, the expected transformation and an actual generated continuation. The goal is to replace the patient identity while preserving the treatment association. Our inference function reads only source plus checkpoint. It cannot call the gold renderer. The task is synthetic and educational; a classifier plus replacement or a rule system is an alternative implementation, and this work does not establish a production advantage.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6/tiny-mitra/data.py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tests establish explicit mechanisms and reproducibility properties. The tiny pilot establishes a small source-dependent learning loop, not broad transfer. Current benchmark generations are often poor: report raw failures and clinical preservation. The final claim must be limited to the experiment actually run. The full API check tests outputs, attention rows, intervention/restoration and eight saved rows. Actual cloud runtime use has not occurred.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6/tiny-mitra/artifacts/results/mechanics-tests.xml</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6/tiny-mitra/artifacts/results/pilot_controlled_context.json</a:t>
            </a:r>
          </a:p>
          <a:p xmlns:a="http://schemas.openxmlformats.org/drawingml/2006/main">
            <a:r>
              <a:t>C:/Users/Nagar/source/repos/ai-learning-lab/projects/Week 6/tiny-mitra/app.py</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text is serialized and then encoded. The character tokenizer retains spaces, case and punctuation and reserves atomic protocol and placeholder tokens. It does not represent PATIENT as one word token. IDs are shifted so the position holding OUTPUT predicts the first output character P. Output tokens and EOS are scored; source prediction and padding targets are ignored. This describes desired targets, not an observed generation.</a:t>
            </a:r>
          </a:p>
          <a:p xmlns:a="http://schemas.openxmlformats.org/drawingml/2006/main">
            <a:r>
              <a:t/>
            </a:r>
          </a:p>
          <a:p xmlns:a="http://schemas.openxmlformats.org/drawingml/2006/main">
            <a:r>
              <a:t>Sources:</a:t>
            </a:r>
          </a:p>
          <a:p xmlns:a="http://schemas.openxmlformats.org/drawingml/2006/main">
            <a:r>
              <a:t>C:/Users/Nagar/source/repos/ai-learning-lab/projects/Week 6/tiny-mitra/tokenizer.py</a:t>
            </a:r>
          </a:p>
          <a:p xmlns:a="http://schemas.openxmlformats.org/drawingml/2006/main">
            <a:r>
              <a:t>C:/Users/Nagar/source/repos/ai-learning-lab/projects/Week 6/tiny-mitra/data.py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expected previous output characters and the source as a causal prefix. Generation begins with only source through OUTPUT, appends one actual selected token, and repeats. Loss is computed only on output targets plus EOS. A correct teacher-forced next token and a correct freely generated note are separate evaluations. An early generated error can feed into later decisions. Checkpoints save weights, tokenizer/configuration, provenance, optimizer, sample-order/random state and completed updates.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6/tiny-mitra/model.py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the Week 3 library analogy carefully: a shelf address is an ID and the stored numerical row is an embedding. The implementation fixes the supported alphabet before final-test use. It does not fit a vocabulary on test examples. Round-trip and offset tests include unseen spellings. Character tokenization makes literal unseen identifiers representable, so zero exact-surface leakage cannot be credited to a word-vocabulary inability to emit them. Nevertheless the leakage scanner can miss partial or reformatted identifiers.</a:t>
            </a:r>
          </a:p>
          <a:p xmlns:a="http://schemas.openxmlformats.org/drawingml/2006/main">
            <a:r>
              <a:t/>
            </a:r>
          </a:p>
          <a:p xmlns:a="http://schemas.openxmlformats.org/drawingml/2006/main">
            <a:r>
              <a:t>Sources:</a:t>
            </a:r>
          </a:p>
          <a:p xmlns:a="http://schemas.openxmlformats.org/drawingml/2006/main">
            <a:r>
              <a:t>C:/Users/Nagar/source/repos/ai-learning-lab/projects/Week 6/tiny-mitra/tokenizer.py</a:t>
            </a:r>
          </a:p>
          <a:p xmlns:a="http://schemas.openxmlformats.org/drawingml/2006/main">
            <a:r>
              <a:t>C:/Users/Nagar/source/repos/ai-learning-lab/projects/Week 6/tiny-mitra/artifacts/results/mechanics-tests.xml</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 embedding E has shape V by 64; learned position table P has shape 512 by 64. At position t, X_t=E[id_t]+P[t]. Corresponding features are added, keeping width 64. Teaching numbers: [0.2,-0.1]+[0.01,0.04]=[0.21,-0.06]. They are invented for arithmetic, not coordinates from a learned clinical feature. Base lookup plus position does not yet incorporate the entire source context; attention does the mixing. Shapes B,T,64 are traced in the shared notebook.</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6/tiny-mitra/tokenizer.py</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different projections of the current hidden representations. A query at one position has a dot product with every eligible key. Transposing K aligns its feature dimension for those comparisons. Dividing by the square root of head width limits score scale under the standard variance intuition. Softmax exponentiates each eligible score and divides by the row sum, yielding nonnegative weights that sum to one. Multiplying by V gives a weighted mixture, not a discrete database lookup. In a causal layer, later keys are ineligible. The query at a generation step belongs to the final prefix position, which predicts the next token. Calling a head a name-detector requires measured evidence. In this implementation Q/K/V and output Linear layers include biases. Score masks are explicit; no fused attention or ready-made MultiheadAttention is used.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colored teaching matrix illustrates eligible query/key relationships. The causal mask hides future keys before softmax. Key padding independently prevents padded tokens from contributing values. The loss mask ignores source-prediction and padded targets, not source representations themselves. Source embeddings can receive gradients through output attention. A future-token perturbation test verifies unchanged earlier logits for every variant.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eligible earlier positions are accessible to each head. With D=64 and four heads, Dh=16. Q/K/V start B,T,64, reshape B,T,4,16, then transpose B,4,T,16. Scores have B,4,T,T; mixed values B,4,T,16; head features merge back to B,T,64 and pass through an output projection. Head count alone leaves projection parameter count unchanged at fixed width. Learned roles require intervention evidence, not naming heads from a heatmap.</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blocks use pre-LN: U=X+Attention(LN1(X)), Y=U+FFN(LN2(U)). Our LayerNorm explicitly computes feature mean and population variance with learned scale/offset. FFN expands 64 to 192, applies GELU, then contracts to 64. Two blocks plus final normalization form the full model. Component variants remove the declared branch or additions; the no-FFN branch also removes its otherwise unused pre-normalization parameters. PyTorch supplies primitive arithmetic, Linear/Embedding, autograd and AdamW, not the Transformer implementation.</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Cross-entropy penalizes low probability for the correct next token. For probabilities [0.75,0.25], a correct first token has loss -ln(0.75)=0.2877; a correct second token has loss 1.3863. Sum losses over scored output/EOS tokens and divide by their total count. Do not average unequal batch means. Autograd computes gradients through the manually assembled network; AdamW updates parameters. Exact CPU interruption/resume matches uninterrupted updates in the test. Learning rate, sampler, optimizer and random state are recorded.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has its own trained state. Gradio loads the corresponding checkpoint instead of retraining when the selection changes. The bare single/multi variants share the same residual/norm policy. Fixed width keeps the attention projection counts equal across head counts. Component removal changes parameter counts; one versus two blocks also changes capacity. This is a fixed-budget comparison with one primary seed; repeats of four models are separate.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metrics use the declared synthetic field grammar. Placeholder totals alone cannot locate correct redaction, and a clinical keyword appearing somewhere does not establish its original relation. Exact-surface leakage is bounded: it can miss partial or reformatted identifiers. N/A is reported for zero support. Latency from the training work queue is provisional because concurrent jobs can affect it; quiet inference measurement is separate.</a:t>
            </a:r>
          </a:p>
          <a:p xmlns:a="http://schemas.openxmlformats.org/drawingml/2006/main">
            <a:r>
              <a:t/>
            </a:r>
          </a:p>
          <a:p xmlns:a="http://schemas.openxmlformats.org/drawingml/2006/main">
            <a:r>
              <a:t>Sources:</a:t>
            </a:r>
          </a:p>
          <a:p xmlns:a="http://schemas.openxmlformats.org/drawingml/2006/main">
            <a:r>
              <a:t>C:/Users/Nagar/source/repos/ai-learning-lab/projects/Week 6/tiny-mitra/evaluate.py</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Mitra values, not Week 5 numbers. All runs completed 1,000 updates; each model is evaluated at its minimum-validation-loss checkpoint, which can be earlier. The diagnostic generation subset was selected for category support and is small; it is not the complete final test. The full model has better validation loss than the bare baselines but still produces only one exact note out of twelve here. Zero observed exact-surface leakage does not make this successful de-identification.</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model has the lowest validation loss among these rows, while no-residual generates three exact diagnostics compared with one for the full model. That contradicts a blanket claim that residuals always improve our measured output quality. The no-LayerNorm run has larger logged gradient norms and a late rise in validation loss, but it did not fail numerically. No-FFN changes branch and associated normalization parameter count. Different metrics give different rankings; one seed and twelve notes are insufficient for a universal architecture conclusion.</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checkpoint was inspected after observing weak validation-only generation. This is explicitly exploratory and does not replace the registered best-loss benchmark. Minimum average cross-entropy over mixed familiar/novel validation conditions need not optimize field-level generated-note quality. The later state improves these particular outputs while average validation loss is worse. The current UI exposes it as transformer_2_latest with its selection/update shown. A separately registered longer-training extension is not included in this table and has not been evaluated on these final-test outputs.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6/tiny-mitra/artifacts/results/latest_checkpoint_diagnostic.json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recall is 7/15 and exact match is 1/8. Disabling L0 H1 reduces recall to 0/15. L1 H0 leaves the measured outputs unchanged; that does not establish universal redundancy. Most category supports are tiny, and baseline MRN recall is already zero, so these tests cannot identify a successful MRN head. The selected pair in each block is exploratory, chosen from validation single-head effects. Gates zero the context before output projection; all-one gates reproduce baseline and request-local restoration is tested. Raw per-category precision/recall and teacher-forced loss are saved separately.</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6/tiny-mitra/artifacts/results/investigations/enriched_head_measurements.json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source pair uses PATIENT John Lee DIAGNOSIS NSCLC BIOMARKER EGFR TREATMENT DrugA versus DrugB, with matched output prefix ending TREATMENT Drug. Source token 64 changes and the query index stays fixed. The embedding-only probabilities are exactly invariant, as expected from its mechanism. The primary attention models change probabilities slightly but do not choose the correct A/B pair; H1 is not established by this main probe. The small separately trained pilot uses PATIENT Jo TREATMENT DrugA/B. Its actual observations are shown; do not transfer its success to the main benchmark. A supplied correct prefix is a conditional test, not a claim that the model generated that prefix freely.</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6/tiny-mitra/artifacts/results/investigations/conditional_probabilities.json</a:t>
            </a:r>
          </a:p>
          <a:p xmlns:a="http://schemas.openxmlformats.org/drawingml/2006/main">
            <a:r>
              <a:t>C:/Users/Nagar/source/repos/ai-learning-lab/projects/Week 6/tiny-mitra/artifacts/results/pilot_controlled_context.json</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rows use sampling, not a greedy/sampling switch. Each note uses the same base sampling seed under the declared procedure. Higher temperature spreads probability; in these eight trials 1.2 increases malformed or incomplete behavior, but one sampling seed and eight prompts do not estimate a general distribution. Low positive temperature is still random. Greedy decoding is a separate reference and is invariant to positive logit scaling. OOD stress prompts have no gold labels and are qualitative.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6/tiny-mitra/artifacts/results/investigations/enriched_head_measurements.json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as small-sample evidence from the saved Week 5 experiment, not Mitra performance. Across five initialization seeds, the full two-block model D improves mean accuracy by 1.25 percentage points over A. The test set in each saved run contains 64 target tokens across four cases. The evaluated scenario labels include both held-out families and familiar families. The saved JSON does not include a full dataset manifest or histories, so it does not establish a broad reproducibility claim. Mean test loss falls from about 1.547 to 1.478 and macro F1 rises from about 0.407 to 0.442. The standard deviations are across seeds, not confidence intervals. No statistical significance claim follows from these aggregates. This is a different task and vocabulary. Its token accuracy is not directly comparable to character-token Mitra accuracy. Use it to show the experimental method, not a before/after product metric.</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C:/Users/Nagar/source/repos/ai-learning-lab/projects/week 5/experiment_runner.py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successful validation example and a failure example, clearly identified as selected examples. Never replace a generated string with its expected label. The latest full checkpoint is exploratory and labeled separately from the best-loss comparison. Head charts identify their saved checkpoint so they cannot be silently attributed to another live selection. The final-partition table loads only completed 50-note rows. Personal presenter names, exact duration and individual walkthroughs remain pending.</a:t>
            </a:r>
          </a:p>
          <a:p xmlns:a="http://schemas.openxmlformats.org/drawingml/2006/main">
            <a:r>
              <a:t/>
            </a:r>
          </a:p>
          <a:p xmlns:a="http://schemas.openxmlformats.org/drawingml/2006/main">
            <a:r>
              <a:t>Sources:</a:t>
            </a:r>
          </a:p>
          <a:p xmlns:a="http://schemas.openxmlformats.org/drawingml/2006/main">
            <a:r>
              <a:t>C:/Users/Nagar/source/repos/ai-learning-lab/projects/Week 6/tiny-mitra/app.py</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conclude that this is a production de-identification system or that every team member has demonstrated mastery. The engineering contribution is a working manually assembled model, reproducible comparisons and bounded investigations. The learning contribution must be completed through each person explaining a prompt and interpreting actual evidence. The next exercises on scaffolding/fine-tuning remain separate.</a:t>
            </a:r>
          </a:p>
          <a:p xmlns:a="http://schemas.openxmlformats.org/drawingml/2006/main">
            <a:r>
              <a:t/>
            </a:r>
          </a:p>
          <a:p xmlns:a="http://schemas.openxmlformats.org/drawingml/2006/main">
            <a:r>
              <a:t>Sources:</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6/tiny-mitra/artifacts/results/latest_checkpoint_diagnostic.json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dot product multiplies matching components and adds them. With q=[1,0], the first key scores 1 and the second scores 0. Dividing by square root 2 gives about 0.7071 and 0. Exponentiation gives positive values, and division by their sum yields probabilities 0.66976155 and 0.33023845. Multiplying those weights by the two value vectors produces [1.33952310,1.32095380]. The output is a mixture and need not equal any original value vector. These are invented inputs used for a verified arithmetic explanation. They are not evidence that a trained Mitra head attends to a name.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LayerNorm uses features within one position, not statistics across all examples in a batch. With x=[1,3], mean is 2 and population variance is 1. Ignoring epsilon for this arithmetic and using gamma=[1,1], beta=[0,0], normalized output is [-1,1]. Learned gamma and beta can rescale and shift it. For the FFN, W1 has shape (64,192), b1 has shape (192), W2 has shape (192,64), and b2 has shape (64). The nonlinearity is essential: two linear maps with no nonlinear activation collapse into a single linear map. Our implementation uses GELU while the earlier NumPy study uses ReLU. Avoid claiming expansion itself guarantees richer measured behavior.</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5/numpy_transformer_suite.py</a:t>
            </a:r>
          </a:p>
          <a:p xmlns:a="http://schemas.openxmlformats.org/drawingml/2006/main">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readable excerpt, not one contiguous six-token example. Inputs omit the final serialized token; targets omit the first. At OUTPUT, score the first output character P. Ignore source-prediction targets and padding but retain source attention dependencies. The target ignore index is -100, not a token ID. EOS is always scored. Context overflow is rejected so the output/EOS cannot disappear silently.</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6/tiny-mitra/tokenizer.py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parameter_count is 130,413. All attention projections and the untied vocabulary head include biases. The position table is 512 positions even though the saved dataset maximum full length is about 140 tokens. Unlike the former starter example, this is the measured project configuration with a fixed character vocabulary of 109 entries. Four heads split the same total width and do not multiply projection parameter count.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6/tiny-mitra/config.py</a:t>
            </a:r>
          </a:p>
          <a:p xmlns:a="http://schemas.openxmlformats.org/drawingml/2006/main">
            <a:r>
              <a:t>C:/Users/Nagar/source/repos/ai-learning-lab/projects/Week 6/tiny-mitra/artifacts/results/benchmark_summary.json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every line in order. Encode the entire source prompt including &lt;OUTPUT&gt;. The model returns vocabulary logits for all supplied positions. Slice the last position and select a single next token. Append it to the supplied context before the next forward pass. EOS is a learned token, and a maximum output length prevents an unbounded loop. The conceptual example deliberately separates greedy selection from temperature-based sampling. Without KV caching, each iteration recomputes prior representations. Attention score work per layer is quadratic in current context length, and total recomputation across many new tokens grows faster than the cost of one step. Detect context overflow explicitly rather than silently discarding the source.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Final-test evaluation is released only after a saved review of the fixed protocol. It evaluates every note in each 50-example partition for each of the eight primary seed-42 best-loss models. Complete final outcomes and repeated-seed summaries are separate running work at this review. No-identifier controls share a layout, dates can recur and novelty for doctors/addresses differs; do not call all identifiers wholly unseen. The tokenizer supports new ASCII spellings without fitting on final answers. No final-test outcomes may tune the reported runs.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6/tiny-mitra/artifacts/results/protocol.json</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an optimization criterion and the task-level generated metrics. The later full checkpoint improves these twelve validation outputs but is not silently substituted into the fixed-budget benchmark. A supplied prefix is not free generation. A head ablation measures dependence of one checkpoint on one intervention under the tested sample; it does not assign an invariant semantic role. Claims about novel templates need the declared complete partitions, not the familiar diagnostic subset. Each presenter must explain these points independently before the presentation is marked rehearsed.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6/tiny-mitra/artifacts/results/latest_checkpoint_diagnostic.json</a:t>
            </a:r>
          </a:p>
          <a:p xmlns:a="http://schemas.openxmlformats.org/drawingml/2006/main">
            <a:r>
              <a:t>C:/Users/Nagar/source/repos/ai-learning-lab/projects/Week 6/tiny-mitra/artifacts/results/investigations/enriched_head_measurements.json</a:t>
            </a:r>
          </a:p>
          <a:p xmlns:a="http://schemas.openxmlformats.org/drawingml/2006/main">
            <a:r>
              <a:t>C:/Users/Nagar/source/repos/ai-learning-lab/projects/Week 6/tiny-mitra/artifacts/results/protocol.json</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are recorded in the relevant slide notes. Main project evidence: C:/Users/Nagar/source/repos/ai-learning-lab/projects/Week 6/tiny-mitra/artifacts/results/benchmark_summary.json . Manual implementation: C:/Users/Nagar/source/repos/ai-learning-lab/projects/Week 6/tiny-mitra/model.py . Registered protocol: C:/Users/Nagar/source/repos/ai-learning-lab/projects/Week 6/tiny-mitra/artifacts/results/protocol.json . Week 5 evidence: C:/Users/Nagar/source/repos/ai-learning-lab/projects/week 5/visualizations/arch_results.json . Architecture: https://arxiv.org/abs/1706.03762 . Normalization: https://arxiv.org/abs/1607.06450 . Attention interpretation: https://aclanthology.org/N19-1357/ and https://aclanthology.org/D19-1002/ . No claims of actual cloud execution, clinical readiness, final repeated-seed conclusions or completed individual mastery are made.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6/tiny-mitra/artifacts/results/protocol.json</a:t>
            </a:r>
          </a:p>
          <a:p xmlns:a="http://schemas.openxmlformats.org/drawingml/2006/main">
            <a:r>
              <a:t>C:/Users/Nagar/source/repos/ai-learning-lab/projects/Week 6/tiny-mitra/artifacts/results/mechanics-tests.xml</a:t>
            </a:r>
          </a:p>
          <a:p xmlns:a="http://schemas.openxmlformats.org/drawingml/2006/main">
            <a:r>
              <a:t>C:/Users/Nagar/source/repos/ai-learning-lab/projects/week 5/visualizations/arch_results.json</a:t>
            </a:r>
          </a:p>
          <a:p xmlns:a="http://schemas.openxmlformats.org/drawingml/2006/main">
            <a:r>
              <a:t>https://arxiv.org/abs/1706.03762</a:t>
            </a:r>
          </a:p>
          <a:p xmlns:a="http://schemas.openxmlformats.org/drawingml/2006/main">
            <a:r>
              <a:t>https://arxiv.org/abs/1607.06450</a:t>
            </a:r>
          </a:p>
          <a:p xmlns:a="http://schemas.openxmlformats.org/drawingml/2006/main">
            <a:r>
              <a:t>https://aclanthology.org/N19-1357/</a:t>
            </a:r>
          </a:p>
          <a:p xmlns:a="http://schemas.openxmlformats.org/drawingml/2006/main">
            <a:r>
              <a:t>https://aclanthology.org/D19-1002/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a5241ba1d548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8c53f8d1d944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3b167606bc41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6b36e75a5f4d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30e0dd3ecc45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65993a435e4b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1BA4E3-E8D5-4BA0-B5AC-43ED5C6BD2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02481C-B93F-4BEE-A9B4-CE05E3CAEC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93DCD9-7C13-4603-962C-FC453261DD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B276FB-8891-44E6-92A9-F690778717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4C2275-D0F6-484D-AE74-A607BBAADF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C1082A-358C-46D8-BC35-37B4BBBEED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75B877-7B69-4E4E-B9DB-79DA50EC19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F0160D-10A6-4314-8115-2BB90BF30F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5479DB-BE22-46FA-A5C8-49B3965841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8341B4-6A33-40D2-B06C-3784F9547B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01498a706e474f" /><Relationship Type="http://schemas.openxmlformats.org/officeDocument/2006/relationships/slideLayout" Target="/ppt/slideLayouts/slideLayout1.xml" Id="Rb63a71a4dc144902" /><Relationship Type="http://schemas.openxmlformats.org/officeDocument/2006/relationships/slideLayout" Target="/ppt/slideLayouts/slideLayout2.xml" Id="R18001d7c3e0046a8" /><Relationship Type="http://schemas.openxmlformats.org/officeDocument/2006/relationships/slideLayout" Target="/ppt/slideLayouts/slideLayout3.xml" Id="R7c9cbf4f9f4b4c6e" /><Relationship Type="http://schemas.openxmlformats.org/officeDocument/2006/relationships/slideLayout" Target="/ppt/slideLayouts/slideLayout4.xml" Id="Rd26843a51f694f91" /><Relationship Type="http://schemas.openxmlformats.org/officeDocument/2006/relationships/slideLayout" Target="/ppt/slideLayouts/slideLayout5.xml" Id="Rb5c23dec8d6844f7" /><Relationship Type="http://schemas.openxmlformats.org/officeDocument/2006/relationships/slideLayout" Target="/ppt/slideLayouts/slideLayout6.xml" Id="R0471e170a3e347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3a71a4dc144902"/>
    <p:sldLayoutId xmlns:r="http://schemas.openxmlformats.org/officeDocument/2006/relationships" id="2147483650" r:id="R18001d7c3e0046a8"/>
    <p:sldLayoutId xmlns:r="http://schemas.openxmlformats.org/officeDocument/2006/relationships" id="2147483651" r:id="R7c9cbf4f9f4b4c6e"/>
    <p:sldLayoutId xmlns:r="http://schemas.openxmlformats.org/officeDocument/2006/relationships" id="2147483652" r:id="Rd26843a51f694f91"/>
    <p:sldLayoutId xmlns:r="http://schemas.openxmlformats.org/officeDocument/2006/relationships" id="2147483653" r:id="Rb5c23dec8d6844f7"/>
    <p:sldLayoutId xmlns:r="http://schemas.openxmlformats.org/officeDocument/2006/relationships" id="2147483654" r:id="R0471e170a3e347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5b2706b5ef4c0c" /><Relationship Type="http://schemas.openxmlformats.org/officeDocument/2006/relationships/notesSlide" Target="/ppt/notesSlides/notesSlide1.xml" Id="R1b27b5d1d09542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efb73b0d864ed3" /><Relationship Type="http://schemas.openxmlformats.org/officeDocument/2006/relationships/notesSlide" Target="/ppt/notesSlides/notesSlide2.xml" Id="R9918520823c742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7f7af4b5a44396" /><Relationship Type="http://schemas.openxmlformats.org/officeDocument/2006/relationships/notesSlide" Target="/ppt/notesSlides/notesSlide3.xml" Id="R8e27818fd1c74a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b89bea89c34c75" /><Relationship Type="http://schemas.openxmlformats.org/officeDocument/2006/relationships/notesSlide" Target="/ppt/notesSlides/notesSlide4.xml" Id="R10170935e0e440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bf7e99f1714623" /><Relationship Type="http://schemas.openxmlformats.org/officeDocument/2006/relationships/notesSlide" Target="/ppt/notesSlides/notesSlide5.xml" Id="R6ce37119ae9e4d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52326e52cdd497e" /><Relationship Type="http://schemas.openxmlformats.org/officeDocument/2006/relationships/notesSlide" Target="/ppt/notesSlides/notesSlide6.xml" Id="Rc3b24f872fc04c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b6700b35934809" /><Relationship Type="http://schemas.openxmlformats.org/officeDocument/2006/relationships/notesSlide" Target="/ppt/notesSlides/notesSlide7.xml" Id="R6b64f0ec0e9f46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42cf064131d4db9" /><Relationship Type="http://schemas.openxmlformats.org/officeDocument/2006/relationships/notesSlide" Target="/ppt/notesSlides/notesSlide8.xml" Id="R4ad59fef113e40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f076ee26184473" /><Relationship Type="http://schemas.openxmlformats.org/officeDocument/2006/relationships/notesSlide" Target="/ppt/notesSlides/notesSlide9.xml" Id="Ra21ebf9391d542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04fce7aa484b25" /><Relationship Type="http://schemas.openxmlformats.org/officeDocument/2006/relationships/notesSlide" Target="/ppt/notesSlides/notesSlide10.xml" Id="Rd3b4bb65efdb4d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bb4af4e745a4809" /><Relationship Type="http://schemas.openxmlformats.org/officeDocument/2006/relationships/notesSlide" Target="/ppt/notesSlides/notesSlide11.xml" Id="R0b85e2f8e51341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d3d976798542d8" /><Relationship Type="http://schemas.openxmlformats.org/officeDocument/2006/relationships/notesSlide" Target="/ppt/notesSlides/notesSlide12.xml" Id="Rc3c10a6494dd47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3410aff4f6448a" /><Relationship Type="http://schemas.openxmlformats.org/officeDocument/2006/relationships/notesSlide" Target="/ppt/notesSlides/notesSlide13.xml" Id="Ra7eca40023b749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81428a721c94563" /><Relationship Type="http://schemas.openxmlformats.org/officeDocument/2006/relationships/notesSlide" Target="/ppt/notesSlides/notesSlide14.xml" Id="R614836170dea44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f109bce7cb4ca9" /><Relationship Type="http://schemas.openxmlformats.org/officeDocument/2006/relationships/notesSlide" Target="/ppt/notesSlides/notesSlide15.xml" Id="Rfaf667dc0b6c4e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a27a22236a84119" /><Relationship Type="http://schemas.openxmlformats.org/officeDocument/2006/relationships/notesSlide" Target="/ppt/notesSlides/notesSlide16.xml" Id="Rca56dc5e33f044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7d3dc256a524090" /><Relationship Type="http://schemas.openxmlformats.org/officeDocument/2006/relationships/notesSlide" Target="/ppt/notesSlides/notesSlide17.xml" Id="R53ad1c25e1cb40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21dbf1e6f794b19" /><Relationship Type="http://schemas.openxmlformats.org/officeDocument/2006/relationships/notesSlide" Target="/ppt/notesSlides/notesSlide18.xml" Id="R487b1c26b0f94cf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c5eadf3dd5246df" /><Relationship Type="http://schemas.openxmlformats.org/officeDocument/2006/relationships/notesSlide" Target="/ppt/notesSlides/notesSlide19.xml" Id="Rce20a7e5ca3b4d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bcbbaeeca7f4c26" /><Relationship Type="http://schemas.openxmlformats.org/officeDocument/2006/relationships/notesSlide" Target="/ppt/notesSlides/notesSlide20.xml" Id="R95aa89ead1ac47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4add75260074f0c" /><Relationship Type="http://schemas.openxmlformats.org/officeDocument/2006/relationships/notesSlide" Target="/ppt/notesSlides/notesSlide21.xml" Id="R663312cb6da247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1852159f5b04994" /><Relationship Type="http://schemas.openxmlformats.org/officeDocument/2006/relationships/notesSlide" Target="/ppt/notesSlides/notesSlide22.xml" Id="Rd5eb78e57dce47d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22ea2f8cec74438" /><Relationship Type="http://schemas.openxmlformats.org/officeDocument/2006/relationships/notesSlide" Target="/ppt/notesSlides/notesSlide23.xml" Id="R4ee42a0a0111496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7fdf82270d445f7" /><Relationship Type="http://schemas.openxmlformats.org/officeDocument/2006/relationships/notesSlide" Target="/ppt/notesSlides/notesSlide24.xml" Id="R26e9f112e9ab41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baeb413f1ab475b" /><Relationship Type="http://schemas.openxmlformats.org/officeDocument/2006/relationships/notesSlide" Target="/ppt/notesSlides/notesSlide25.xml" Id="Rf6a491167b994f8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618ad2b942f4a26" /><Relationship Type="http://schemas.openxmlformats.org/officeDocument/2006/relationships/notesSlide" Target="/ppt/notesSlides/notesSlide26.xml" Id="R0332b46340f94c3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ea147801e964430" /><Relationship Type="http://schemas.openxmlformats.org/officeDocument/2006/relationships/notesSlide" Target="/ppt/notesSlides/notesSlide27.xml" Id="R1c6ac4cf424e45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1734c47fbb84980" /><Relationship Type="http://schemas.openxmlformats.org/officeDocument/2006/relationships/notesSlide" Target="/ppt/notesSlides/notesSlide28.xml" Id="R59a116e46fc249b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de13066bb8a4356" /><Relationship Type="http://schemas.openxmlformats.org/officeDocument/2006/relationships/notesSlide" Target="/ppt/notesSlides/notesSlide29.xml" Id="Rbdecd43ee9f540b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9079f2a56da4a32" /><Relationship Type="http://schemas.openxmlformats.org/officeDocument/2006/relationships/notesSlide" Target="/ppt/notesSlides/notesSlide30.xml" Id="Re561501657ae4db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10326afc04f42cf" /><Relationship Type="http://schemas.openxmlformats.org/officeDocument/2006/relationships/notesSlide" Target="/ppt/notesSlides/notesSlide31.xml" Id="R5487299b3b2e4ee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00f6391d55f401f" /><Relationship Type="http://schemas.openxmlformats.org/officeDocument/2006/relationships/notesSlide" Target="/ppt/notesSlides/notesSlide32.xml" Id="R9878b833118f47b5" /></Relationships>
</file>

<file path=ppt/slides/slide1.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5" name="body">
            <a:extLst xmlns:a="http://schemas.openxmlformats.org/drawingml/2006/main">
              <a:ext uri="{FF2B5EF4-FFF2-40B4-BE49-F238E27FC236}">
                <a16:creationId xmlns:a16="http://schemas.microsoft.com/office/drawing/2014/main" id="{DAFBC5C5-13D5-4268-A934-83CB1B73B27C}"/>
              </a:ext>
            </a:extLst>
          </p:cNvPr>
          <p:cNvSpPr>
            <a:spLocks xmlns:a="http://schemas.openxmlformats.org/drawingml/2006/main" noGrp="1"/>
          </p:cNvSpPr>
          <p:nvPr/>
        </p:nvSpPr>
        <p:spPr>
          <a:xfrm xmlns:a="http://schemas.openxmlformats.org/drawingml/2006/main">
            <a:off x="723900" y="809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AB58F"/>
                </a:solidFill>
                <a:latin typeface="Calibri"/>
                <a:ea typeface="Calibri"/>
                <a:cs typeface="Calibri"/>
              </a:defRPr>
            </a:defPPr>
            <a:lvl1pPr>
              <a:defRPr sz="1800" b="0">
                <a:solidFill>
                  <a:srgbClr val="DAB58F"/>
                </a:solidFill>
                <a:latin typeface="Calibri"/>
                <a:ea typeface="Calibri"/>
                <a:cs typeface="Calibri"/>
              </a:defRPr>
            </a:lvl1pPr>
            <a:lvl2pPr>
              <a:defRPr sz="1800" b="0">
                <a:solidFill>
                  <a:srgbClr val="DAB58F"/>
                </a:solidFill>
                <a:latin typeface="Calibri"/>
                <a:ea typeface="Calibri"/>
                <a:cs typeface="Calibri"/>
              </a:defRPr>
            </a:lvl2pPr>
            <a:lvl3pPr>
              <a:defRPr sz="1800" b="0">
                <a:solidFill>
                  <a:srgbClr val="DAB58F"/>
                </a:solidFill>
                <a:latin typeface="Calibri"/>
                <a:ea typeface="Calibri"/>
                <a:cs typeface="Calibri"/>
              </a:defRPr>
            </a:lvl3pPr>
            <a:lvl4pPr>
              <a:defRPr sz="1800" b="0">
                <a:solidFill>
                  <a:srgbClr val="DAB58F"/>
                </a:solidFill>
                <a:latin typeface="Calibri"/>
                <a:ea typeface="Calibri"/>
                <a:cs typeface="Calibri"/>
              </a:defRPr>
            </a:lvl4pPr>
            <a:lvl5pPr>
              <a:defRPr sz="1800" b="0">
                <a:solidFill>
                  <a:srgbClr val="DAB58F"/>
                </a:solidFill>
                <a:latin typeface="Calibri"/>
                <a:ea typeface="Calibri"/>
                <a:cs typeface="Calibri"/>
              </a:defRPr>
            </a:lvl5pPr>
            <a:lvl6pPr>
              <a:defRPr sz="1800" b="0">
                <a:solidFill>
                  <a:srgbClr val="DAB58F"/>
                </a:solidFill>
                <a:latin typeface="Calibri"/>
                <a:ea typeface="Calibri"/>
                <a:cs typeface="Calibri"/>
              </a:defRPr>
            </a:lvl6pPr>
            <a:lvl7pPr>
              <a:defRPr sz="1800" b="0">
                <a:solidFill>
                  <a:srgbClr val="DAB58F"/>
                </a:solidFill>
                <a:latin typeface="Calibri"/>
                <a:ea typeface="Calibri"/>
                <a:cs typeface="Calibri"/>
              </a:defRPr>
            </a:lvl7pPr>
            <a:lvl8pPr>
              <a:defRPr sz="1800" b="0">
                <a:solidFill>
                  <a:srgbClr val="DAB58F"/>
                </a:solidFill>
                <a:latin typeface="Calibri"/>
                <a:ea typeface="Calibri"/>
                <a:cs typeface="Calibri"/>
              </a:defRPr>
            </a:lvl8pPr>
            <a:lvl9pPr>
              <a:defRPr sz="1800" b="0">
                <a:solidFill>
                  <a:srgbClr val="DAB58F"/>
                </a:solidFill>
                <a:latin typeface="Calibri"/>
                <a:ea typeface="Calibri"/>
                <a:cs typeface="Calibri"/>
              </a:defRPr>
            </a:lvl9pPr>
          </a:lstStyle>
          <a:p xmlns:a="http://schemas.openxmlformats.org/drawingml/2006/main">
            <a:pPr>
              <a:defRPr sz="1800" b="0">
                <a:solidFill>
                  <a:srgbClr val="DAB58F"/>
                </a:solidFill>
                <a:latin typeface="Calibri"/>
                <a:ea typeface="Calibri"/>
                <a:cs typeface="Calibri"/>
              </a:defRPr>
            </a:pPr>
            <a:r>
              <a:rPr sz="1800" b="0">
                <a:solidFill>
                  <a:srgbClr val="DAB58F"/>
                </a:solidFill>
                <a:latin typeface="Calibri"/>
                <a:ea typeface="Calibri"/>
                <a:cs typeface="Calibri"/>
              </a:rPr>
              <a:t>AI Learning Lab</a:t>
            </a:r>
          </a:p>
        </p:txBody>
      </p:sp>
      <p:sp>
        <p:nvSpPr>
          <p:cNvPr id="2" name="heading">
            <a:extLst xmlns:a="http://schemas.openxmlformats.org/drawingml/2006/main">
              <a:ext uri="{FF2B5EF4-FFF2-40B4-BE49-F238E27FC236}">
                <a16:creationId xmlns:a16="http://schemas.microsoft.com/office/drawing/2014/main" id="{BBAD2730-13C0-4E09-8890-6110558DED2E}"/>
              </a:ext>
            </a:extLst>
          </p:cNvPr>
          <p:cNvSpPr>
            <a:spLocks xmlns:a="http://schemas.openxmlformats.org/drawingml/2006/main" noGrp="1"/>
          </p:cNvSpPr>
          <p:nvPr/>
        </p:nvSpPr>
        <p:spPr>
          <a:xfrm xmlns:a="http://schemas.openxmlformats.org/drawingml/2006/main">
            <a:off x="685800" y="2047875"/>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F9F7F1"/>
                </a:solidFill>
                <a:latin typeface="Calibri"/>
                <a:ea typeface="Calibri"/>
                <a:cs typeface="Calibri"/>
              </a:defRPr>
            </a:defPPr>
            <a:lvl1pPr>
              <a:defRPr sz="7800" b="1">
                <a:solidFill>
                  <a:srgbClr val="F9F7F1"/>
                </a:solidFill>
                <a:latin typeface="Calibri"/>
                <a:ea typeface="Calibri"/>
                <a:cs typeface="Calibri"/>
              </a:defRPr>
            </a:lvl1pPr>
            <a:lvl2pPr>
              <a:defRPr sz="7800" b="1">
                <a:solidFill>
                  <a:srgbClr val="F9F7F1"/>
                </a:solidFill>
                <a:latin typeface="Calibri"/>
                <a:ea typeface="Calibri"/>
                <a:cs typeface="Calibri"/>
              </a:defRPr>
            </a:lvl2pPr>
            <a:lvl3pPr>
              <a:defRPr sz="7800" b="1">
                <a:solidFill>
                  <a:srgbClr val="F9F7F1"/>
                </a:solidFill>
                <a:latin typeface="Calibri"/>
                <a:ea typeface="Calibri"/>
                <a:cs typeface="Calibri"/>
              </a:defRPr>
            </a:lvl3pPr>
            <a:lvl4pPr>
              <a:defRPr sz="7800" b="1">
                <a:solidFill>
                  <a:srgbClr val="F9F7F1"/>
                </a:solidFill>
                <a:latin typeface="Calibri"/>
                <a:ea typeface="Calibri"/>
                <a:cs typeface="Calibri"/>
              </a:defRPr>
            </a:lvl4pPr>
            <a:lvl5pPr>
              <a:defRPr sz="7800" b="1">
                <a:solidFill>
                  <a:srgbClr val="F9F7F1"/>
                </a:solidFill>
                <a:latin typeface="Calibri"/>
                <a:ea typeface="Calibri"/>
                <a:cs typeface="Calibri"/>
              </a:defRPr>
            </a:lvl5pPr>
            <a:lvl6pPr>
              <a:defRPr sz="7800" b="1">
                <a:solidFill>
                  <a:srgbClr val="F9F7F1"/>
                </a:solidFill>
                <a:latin typeface="Calibri"/>
                <a:ea typeface="Calibri"/>
                <a:cs typeface="Calibri"/>
              </a:defRPr>
            </a:lvl6pPr>
            <a:lvl7pPr>
              <a:defRPr sz="7800" b="1">
                <a:solidFill>
                  <a:srgbClr val="F9F7F1"/>
                </a:solidFill>
                <a:latin typeface="Calibri"/>
                <a:ea typeface="Calibri"/>
                <a:cs typeface="Calibri"/>
              </a:defRPr>
            </a:lvl7pPr>
            <a:lvl8pPr>
              <a:defRPr sz="7800" b="1">
                <a:solidFill>
                  <a:srgbClr val="F9F7F1"/>
                </a:solidFill>
                <a:latin typeface="Calibri"/>
                <a:ea typeface="Calibri"/>
                <a:cs typeface="Calibri"/>
              </a:defRPr>
            </a:lvl8pPr>
            <a:lvl9pPr>
              <a:defRPr sz="7800" b="1">
                <a:solidFill>
                  <a:srgbClr val="F9F7F1"/>
                </a:solidFill>
                <a:latin typeface="Calibri"/>
                <a:ea typeface="Calibri"/>
                <a:cs typeface="Calibri"/>
              </a:defRPr>
            </a:lvl9pPr>
          </a:lstStyle>
          <a:p xmlns:a="http://schemas.openxmlformats.org/drawingml/2006/main">
            <a:pPr>
              <a:defRPr sz="7800" b="1">
                <a:solidFill>
                  <a:srgbClr val="F9F7F1"/>
                </a:solidFill>
                <a:latin typeface="Calibri"/>
                <a:ea typeface="Calibri"/>
                <a:cs typeface="Calibri"/>
              </a:defRPr>
            </a:pPr>
            <a:r>
              <a:rPr sz="7800" b="1">
                <a:solidFill>
                  <a:srgbClr val="F9F7F1"/>
                </a:solidFill>
                <a:latin typeface="Calibri"/>
                <a:ea typeface="Calibri"/>
                <a:cs typeface="Calibri"/>
              </a:rPr>
              <a:t>Tiny Mitra</a:t>
            </a:r>
          </a:p>
        </p:txBody>
      </p:sp>
      <p:sp>
        <p:nvSpPr>
          <p:cNvPr id="3" name="body">
            <a:extLst xmlns:a="http://schemas.openxmlformats.org/drawingml/2006/main">
              <a:ext uri="{FF2B5EF4-FFF2-40B4-BE49-F238E27FC236}">
                <a16:creationId xmlns:a16="http://schemas.microsoft.com/office/drawing/2014/main" id="{198B9039-799B-4366-8CAE-25646034238C}"/>
              </a:ext>
            </a:extLst>
          </p:cNvPr>
          <p:cNvSpPr>
            <a:spLocks xmlns:a="http://schemas.openxmlformats.org/drawingml/2006/main" noGrp="1"/>
          </p:cNvSpPr>
          <p:nvPr/>
        </p:nvSpPr>
        <p:spPr>
          <a:xfrm xmlns:a="http://schemas.openxmlformats.org/drawingml/2006/main">
            <a:off x="733425" y="35052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F9F7F1"/>
                </a:solidFill>
                <a:latin typeface="Calibri"/>
                <a:ea typeface="Calibri"/>
                <a:cs typeface="Calibri"/>
              </a:defRPr>
            </a:defPPr>
            <a:lvl1pPr>
              <a:defRPr sz="3150" b="0">
                <a:solidFill>
                  <a:srgbClr val="F9F7F1"/>
                </a:solidFill>
                <a:latin typeface="Calibri"/>
                <a:ea typeface="Calibri"/>
                <a:cs typeface="Calibri"/>
              </a:defRPr>
            </a:lvl1pPr>
            <a:lvl2pPr>
              <a:defRPr sz="3150" b="0">
                <a:solidFill>
                  <a:srgbClr val="F9F7F1"/>
                </a:solidFill>
                <a:latin typeface="Calibri"/>
                <a:ea typeface="Calibri"/>
                <a:cs typeface="Calibri"/>
              </a:defRPr>
            </a:lvl2pPr>
            <a:lvl3pPr>
              <a:defRPr sz="3150" b="0">
                <a:solidFill>
                  <a:srgbClr val="F9F7F1"/>
                </a:solidFill>
                <a:latin typeface="Calibri"/>
                <a:ea typeface="Calibri"/>
                <a:cs typeface="Calibri"/>
              </a:defRPr>
            </a:lvl3pPr>
            <a:lvl4pPr>
              <a:defRPr sz="3150" b="0">
                <a:solidFill>
                  <a:srgbClr val="F9F7F1"/>
                </a:solidFill>
                <a:latin typeface="Calibri"/>
                <a:ea typeface="Calibri"/>
                <a:cs typeface="Calibri"/>
              </a:defRPr>
            </a:lvl4pPr>
            <a:lvl5pPr>
              <a:defRPr sz="3150" b="0">
                <a:solidFill>
                  <a:srgbClr val="F9F7F1"/>
                </a:solidFill>
                <a:latin typeface="Calibri"/>
                <a:ea typeface="Calibri"/>
                <a:cs typeface="Calibri"/>
              </a:defRPr>
            </a:lvl5pPr>
            <a:lvl6pPr>
              <a:defRPr sz="3150" b="0">
                <a:solidFill>
                  <a:srgbClr val="F9F7F1"/>
                </a:solidFill>
                <a:latin typeface="Calibri"/>
                <a:ea typeface="Calibri"/>
                <a:cs typeface="Calibri"/>
              </a:defRPr>
            </a:lvl6pPr>
            <a:lvl7pPr>
              <a:defRPr sz="3150" b="0">
                <a:solidFill>
                  <a:srgbClr val="F9F7F1"/>
                </a:solidFill>
                <a:latin typeface="Calibri"/>
                <a:ea typeface="Calibri"/>
                <a:cs typeface="Calibri"/>
              </a:defRPr>
            </a:lvl7pPr>
            <a:lvl8pPr>
              <a:defRPr sz="3150" b="0">
                <a:solidFill>
                  <a:srgbClr val="F9F7F1"/>
                </a:solidFill>
                <a:latin typeface="Calibri"/>
                <a:ea typeface="Calibri"/>
                <a:cs typeface="Calibri"/>
              </a:defRPr>
            </a:lvl8pPr>
            <a:lvl9pPr>
              <a:defRPr sz="3150" b="0">
                <a:solidFill>
                  <a:srgbClr val="F9F7F1"/>
                </a:solidFill>
                <a:latin typeface="Calibri"/>
                <a:ea typeface="Calibri"/>
                <a:cs typeface="Calibri"/>
              </a:defRPr>
            </a:lvl9pPr>
          </a:lstStyle>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Building, testing and explaining</a:t>
            </a:r>
          </a:p>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a small GPT from PyTorch primitives</a:t>
            </a:r>
          </a:p>
        </p:txBody>
      </p:sp>
      <p:sp>
        <p:nvSpPr>
          <p:cNvPr id="4" name="body">
            <a:extLst xmlns:a="http://schemas.openxmlformats.org/drawingml/2006/main">
              <a:ext uri="{FF2B5EF4-FFF2-40B4-BE49-F238E27FC236}">
                <a16:creationId xmlns:a16="http://schemas.microsoft.com/office/drawing/2014/main" id="{CDA07E7F-EF30-4A35-A165-FA33D594B3F9}"/>
              </a:ext>
            </a:extLst>
          </p:cNvPr>
          <p:cNvSpPr>
            <a:spLocks xmlns:a="http://schemas.openxmlformats.org/drawingml/2006/main" noGrp="1"/>
          </p:cNvSpPr>
          <p:nvPr/>
        </p:nvSpPr>
        <p:spPr>
          <a:xfrm xmlns:a="http://schemas.openxmlformats.org/drawingml/2006/main">
            <a:off x="733425" y="5962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CAD7D8"/>
                </a:solidFill>
                <a:latin typeface="Calibri"/>
                <a:ea typeface="Calibri"/>
                <a:cs typeface="Calibri"/>
              </a:defRPr>
            </a:defPPr>
            <a:lvl1pPr>
              <a:defRPr sz="1575" b="0">
                <a:solidFill>
                  <a:srgbClr val="CAD7D8"/>
                </a:solidFill>
                <a:latin typeface="Calibri"/>
                <a:ea typeface="Calibri"/>
                <a:cs typeface="Calibri"/>
              </a:defRPr>
            </a:lvl1pPr>
            <a:lvl2pPr>
              <a:defRPr sz="1575" b="0">
                <a:solidFill>
                  <a:srgbClr val="CAD7D8"/>
                </a:solidFill>
                <a:latin typeface="Calibri"/>
                <a:ea typeface="Calibri"/>
                <a:cs typeface="Calibri"/>
              </a:defRPr>
            </a:lvl2pPr>
            <a:lvl3pPr>
              <a:defRPr sz="1575" b="0">
                <a:solidFill>
                  <a:srgbClr val="CAD7D8"/>
                </a:solidFill>
                <a:latin typeface="Calibri"/>
                <a:ea typeface="Calibri"/>
                <a:cs typeface="Calibri"/>
              </a:defRPr>
            </a:lvl3pPr>
            <a:lvl4pPr>
              <a:defRPr sz="1575" b="0">
                <a:solidFill>
                  <a:srgbClr val="CAD7D8"/>
                </a:solidFill>
                <a:latin typeface="Calibri"/>
                <a:ea typeface="Calibri"/>
                <a:cs typeface="Calibri"/>
              </a:defRPr>
            </a:lvl4pPr>
            <a:lvl5pPr>
              <a:defRPr sz="1575" b="0">
                <a:solidFill>
                  <a:srgbClr val="CAD7D8"/>
                </a:solidFill>
                <a:latin typeface="Calibri"/>
                <a:ea typeface="Calibri"/>
                <a:cs typeface="Calibri"/>
              </a:defRPr>
            </a:lvl5pPr>
            <a:lvl6pPr>
              <a:defRPr sz="1575" b="0">
                <a:solidFill>
                  <a:srgbClr val="CAD7D8"/>
                </a:solidFill>
                <a:latin typeface="Calibri"/>
                <a:ea typeface="Calibri"/>
                <a:cs typeface="Calibri"/>
              </a:defRPr>
            </a:lvl6pPr>
            <a:lvl7pPr>
              <a:defRPr sz="1575" b="0">
                <a:solidFill>
                  <a:srgbClr val="CAD7D8"/>
                </a:solidFill>
                <a:latin typeface="Calibri"/>
                <a:ea typeface="Calibri"/>
                <a:cs typeface="Calibri"/>
              </a:defRPr>
            </a:lvl7pPr>
            <a:lvl8pPr>
              <a:defRPr sz="1575" b="0">
                <a:solidFill>
                  <a:srgbClr val="CAD7D8"/>
                </a:solidFill>
                <a:latin typeface="Calibri"/>
                <a:ea typeface="Calibri"/>
                <a:cs typeface="Calibri"/>
              </a:defRPr>
            </a:lvl8pPr>
            <a:lvl9pPr>
              <a:defRPr sz="1575" b="0">
                <a:solidFill>
                  <a:srgbClr val="CAD7D8"/>
                </a:solidFill>
                <a:latin typeface="Calibri"/>
                <a:ea typeface="Calibri"/>
                <a:cs typeface="Calibri"/>
              </a:defRPr>
            </a:lvl9pPr>
          </a:lstStyle>
          <a:p xmlns:a="http://schemas.openxmlformats.org/drawingml/2006/main">
            <a:pPr>
              <a:defRPr sz="1575" b="0">
                <a:solidFill>
                  <a:srgbClr val="CAD7D8"/>
                </a:solidFill>
                <a:latin typeface="Calibri"/>
                <a:ea typeface="Calibri"/>
                <a:cs typeface="Calibri"/>
              </a:defRPr>
            </a:pPr>
            <a:r>
              <a:rPr sz="1575" b="0">
                <a:solidFill>
                  <a:srgbClr val="CAD7D8"/>
                </a:solidFill>
                <a:latin typeface="Calibri"/>
                <a:ea typeface="Calibri"/>
                <a:cs typeface="Calibri"/>
              </a:rPr>
              <a:t>Implementation review     18 October 2026</a:t>
            </a:r>
          </a:p>
        </p:txBody>
      </p:sp>
    </p:spTree>
    <p:extLst>
      <p:ext uri="{BB962C8B-B14F-4D97-AF65-F5344CB8AC3E}">
        <p14:creationId xmlns:p14="http://schemas.microsoft.com/office/powerpoint/2010/main" val="35053269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A280F50E-6300-40B2-9C04-49D81BDC57B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Our learning journey</a:t>
            </a:r>
          </a:p>
        </p:txBody>
      </p:sp>
      <p:sp>
        <p:nvSpPr>
          <p:cNvPr id="2" name="subtitle">
            <a:extLst xmlns:a="http://schemas.openxmlformats.org/drawingml/2006/main">
              <a:ext uri="{FF2B5EF4-FFF2-40B4-BE49-F238E27FC236}">
                <a16:creationId xmlns:a16="http://schemas.microsoft.com/office/drawing/2014/main" id="{08290E53-943B-473E-B6F7-E30710B6C76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Each week removed a limitation in the previous model</a:t>
            </a:r>
          </a:p>
        </p:txBody>
      </p:sp>
      <p:sp>
        <p:nvSpPr>
          <p:cNvPr id="3" name="page-number">
            <a:extLst xmlns:a="http://schemas.openxmlformats.org/drawingml/2006/main">
              <a:ext uri="{FF2B5EF4-FFF2-40B4-BE49-F238E27FC236}">
                <a16:creationId xmlns:a16="http://schemas.microsoft.com/office/drawing/2014/main" id="{79F53992-7F04-43DE-A5A5-15ADC0948D5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02</a:t>
            </a:r>
          </a:p>
        </p:txBody>
      </p:sp>
      <p:graphicFrame>
        <p:nvGraphicFramePr>
          <p:cNvPr id="4" name="">
            <a:extLst xmlns:a="http://schemas.openxmlformats.org/drawingml/2006/main">
              <a:ext uri="{FF2B5EF4-FFF2-40B4-BE49-F238E27FC236}">
                <a16:creationId xmlns:a16="http://schemas.microsoft.com/office/drawing/2014/main" id="{87EF9C11-FAD0-4278-868C-C410D0AA7A0C}"/>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381125"/>
                <a:gridCol w="4238625"/>
                <a:gridCol w="5200650"/>
              </a:tblGrid>
              <a:tr h="650875">
                <a:tc>
                  <a:txBody>
                    <a:bodyPr/>
                    <a:lstStyle/>
                    <a:p>
                      <a:r>
                        <a:rPr sz="1650" b="1">
                          <a:solidFill>
                            <a:srgbClr val="F9F7F1"/>
                          </a:solidFill>
                          <a:latin typeface="Calibri"/>
                          <a:ea typeface="Calibri"/>
                          <a:cs typeface="Calibri"/>
                        </a:rPr>
                        <a:t>Stage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we built or studied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Why it matters for Mitra</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Week 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Forward pass, loss and learning</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Turn prediction errors into parameter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Tokenization and embeddings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Represent text as trainable vectors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Causal self-attention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Use relevant earlier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4</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Multiple attention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 several context distributions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5</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Transformer blocks and ablations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Test what added components actually buy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254110357"/>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2407B749-17D8-475E-8E7F-CED4319C0CF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synthetic transformation task</a:t>
            </a:r>
          </a:p>
        </p:txBody>
      </p:sp>
      <p:sp>
        <p:nvSpPr>
          <p:cNvPr id="2" name="subtitle">
            <a:extLst xmlns:a="http://schemas.openxmlformats.org/drawingml/2006/main">
              <a:ext uri="{FF2B5EF4-FFF2-40B4-BE49-F238E27FC236}">
                <a16:creationId xmlns:a16="http://schemas.microsoft.com/office/drawing/2014/main" id="{B40B8582-63A3-4E25-B00D-3569EAF3AB7B}"/>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Synthetic examples with an explicit redaction policy</a:t>
            </a:r>
          </a:p>
        </p:txBody>
      </p:sp>
      <p:sp>
        <p:nvSpPr>
          <p:cNvPr id="3" name="page-number">
            <a:extLst xmlns:a="http://schemas.openxmlformats.org/drawingml/2006/main">
              <a:ext uri="{FF2B5EF4-FFF2-40B4-BE49-F238E27FC236}">
                <a16:creationId xmlns:a16="http://schemas.microsoft.com/office/drawing/2014/main" id="{63B4A152-D25A-4DB0-B86D-D3A72B8C214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03</a:t>
            </a:r>
          </a:p>
        </p:txBody>
      </p:sp>
      <p:sp>
        <p:nvSpPr>
          <p:cNvPr id="4" name="body">
            <a:extLst xmlns:a="http://schemas.openxmlformats.org/drawingml/2006/main">
              <a:ext uri="{FF2B5EF4-FFF2-40B4-BE49-F238E27FC236}">
                <a16:creationId xmlns:a16="http://schemas.microsoft.com/office/drawing/2014/main" id="{0C53E1B1-605B-4B1B-8B33-19B8E46EAFFD}"/>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B162C6F2-F4A9-4E49-A3B0-B54A073071E7}"/>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John Lee TREATMENT DrugA</a:t>
            </a:r>
          </a:p>
        </p:txBody>
      </p:sp>
      <p:sp>
        <p:nvSpPr>
          <p:cNvPr id="6" name="body">
            <a:extLst xmlns:a="http://schemas.openxmlformats.org/drawingml/2006/main">
              <a:ext uri="{FF2B5EF4-FFF2-40B4-BE49-F238E27FC236}">
                <a16:creationId xmlns:a16="http://schemas.microsoft.com/office/drawing/2014/main" id="{37C0FDB6-ED37-4CE6-A4E0-F2CC193EA5E1}"/>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TARGET OUTPUT</a:t>
            </a:r>
          </a:p>
        </p:txBody>
      </p:sp>
      <p:sp>
        <p:nvSpPr>
          <p:cNvPr id="7" name="body">
            <a:extLst xmlns:a="http://schemas.openxmlformats.org/drawingml/2006/main">
              <a:ext uri="{FF2B5EF4-FFF2-40B4-BE49-F238E27FC236}">
                <a16:creationId xmlns:a16="http://schemas.microsoft.com/office/drawing/2014/main" id="{7738093F-19E0-40A8-9143-3044787ADD78}"/>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TREATMENT DrugA</a:t>
            </a:r>
          </a:p>
        </p:txBody>
      </p:sp>
      <p:sp>
        <p:nvSpPr>
          <p:cNvPr id="8" name="body">
            <a:extLst xmlns:a="http://schemas.openxmlformats.org/drawingml/2006/main">
              <a:ext uri="{FF2B5EF4-FFF2-40B4-BE49-F238E27FC236}">
                <a16:creationId xmlns:a16="http://schemas.microsoft.com/office/drawing/2014/main" id="{A6CE8214-5743-44FB-8C3E-ADFCD558E58E}"/>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Expected target for teaching; actual generated notes may differ</a:t>
            </a:r>
          </a:p>
        </p:txBody>
      </p:sp>
    </p:spTree>
    <p:extLst>
      <p:ext uri="{BB962C8B-B14F-4D97-AF65-F5344CB8AC3E}">
        <p14:creationId xmlns:p14="http://schemas.microsoft.com/office/powerpoint/2010/main" val="750819045"/>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36C9AA3-CC54-4E49-8B2A-3B8A2C46201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What the implementation establishes</a:t>
            </a:r>
          </a:p>
        </p:txBody>
      </p:sp>
      <p:sp>
        <p:nvSpPr>
          <p:cNvPr id="2" name="subtitle">
            <a:extLst xmlns:a="http://schemas.openxmlformats.org/drawingml/2006/main">
              <a:ext uri="{FF2B5EF4-FFF2-40B4-BE49-F238E27FC236}">
                <a16:creationId xmlns:a16="http://schemas.microsoft.com/office/drawing/2014/main" id="{FCD6B9E1-3960-4975-98F4-F81A9E6B443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Engineering evidence and quality evidence answer different questions</a:t>
            </a:r>
          </a:p>
        </p:txBody>
      </p:sp>
      <p:sp>
        <p:nvSpPr>
          <p:cNvPr id="3" name="page-number">
            <a:extLst xmlns:a="http://schemas.openxmlformats.org/drawingml/2006/main">
              <a:ext uri="{FF2B5EF4-FFF2-40B4-BE49-F238E27FC236}">
                <a16:creationId xmlns:a16="http://schemas.microsoft.com/office/drawing/2014/main" id="{CA7DE8C8-6168-4172-8BB5-9063B93A05C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04</a:t>
            </a:r>
          </a:p>
        </p:txBody>
      </p:sp>
      <p:graphicFrame>
        <p:nvGraphicFramePr>
          <p:cNvPr id="4" name="">
            <a:extLst xmlns:a="http://schemas.openxmlformats.org/drawingml/2006/main">
              <a:ext uri="{FF2B5EF4-FFF2-40B4-BE49-F238E27FC236}">
                <a16:creationId xmlns:a16="http://schemas.microsoft.com/office/drawing/2014/main" id="{D76050AA-7761-444B-82EF-B25FA465193A}"/>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095500"/>
                <a:gridCol w="4762500"/>
                <a:gridCol w="3962400"/>
              </a:tblGrid>
              <a:tr h="650875">
                <a:tc>
                  <a:txBody>
                    <a:bodyPr/>
                    <a:lstStyle/>
                    <a:p>
                      <a:r>
                        <a:rPr sz="1650" b="1">
                          <a:solidFill>
                            <a:srgbClr val="F9F7F1"/>
                          </a:solidFill>
                          <a:latin typeface="Calibri"/>
                          <a:ea typeface="Calibri"/>
                          <a:cs typeface="Calibri"/>
                        </a:rPr>
                        <a:t>Area</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Observed evidence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Remaining boundary</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Mechanics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 checks pass; all eight variants are causal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Not a guarantee of task quality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Learning loop</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Tiny pilot produces 6/6 expected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Only four training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Architecture runs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Eight seed-42 checkpoints; 1,000 updates each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Repeats and final partitions separate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Gradio</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A/B/C, attention and head APIs tested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Visual rehearsal and team explanation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Cloud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Guided notebook and project-only bundle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Actual GPU/resume/CPU test pending</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44268976"/>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F9F57FC1-49C1-4C83-B419-793A1FF3281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transformation as next-token prediction</a:t>
            </a:r>
          </a:p>
        </p:txBody>
      </p:sp>
      <p:sp>
        <p:nvSpPr>
          <p:cNvPr id="2" name="subtitle">
            <a:extLst xmlns:a="http://schemas.openxmlformats.org/drawingml/2006/main">
              <a:ext uri="{FF2B5EF4-FFF2-40B4-BE49-F238E27FC236}">
                <a16:creationId xmlns:a16="http://schemas.microsoft.com/office/drawing/2014/main" id="{7DD21AB7-7320-41EC-9BA0-2C9219AAEB0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same sequence contains the source and the desired continuation</a:t>
            </a:r>
          </a:p>
        </p:txBody>
      </p:sp>
      <p:sp>
        <p:nvSpPr>
          <p:cNvPr id="3" name="page-number">
            <a:extLst xmlns:a="http://schemas.openxmlformats.org/drawingml/2006/main">
              <a:ext uri="{FF2B5EF4-FFF2-40B4-BE49-F238E27FC236}">
                <a16:creationId xmlns:a16="http://schemas.microsoft.com/office/drawing/2014/main" id="{FA2BDEC5-04CC-488F-95B8-D1D4B01B608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05</a:t>
            </a:r>
          </a:p>
        </p:txBody>
      </p:sp>
      <p:sp>
        <p:nvSpPr>
          <p:cNvPr id="4" name="body">
            <a:extLst xmlns:a="http://schemas.openxmlformats.org/drawingml/2006/main">
              <a:ext uri="{FF2B5EF4-FFF2-40B4-BE49-F238E27FC236}">
                <a16:creationId xmlns:a16="http://schemas.microsoft.com/office/drawing/2014/main" id="{448763E7-113B-424F-8761-652BFA014EC3}"/>
              </a:ext>
            </a:extLst>
          </p:cNvPr>
          <p:cNvSpPr>
            <a:spLocks xmlns:a="http://schemas.openxmlformats.org/drawingml/2006/main" noGrp="1"/>
          </p:cNvSpPr>
          <p:nvPr/>
        </p:nvSpPr>
        <p:spPr>
          <a:xfrm xmlns:a="http://schemas.openxmlformats.org/drawingml/2006/main">
            <a:off x="685800" y="2238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&lt;BOS&gt;&lt;INPUT&gt;PATIENT John&lt;OUTPUT&gt;</a:t>
            </a:r>
          </a:p>
        </p:txBody>
      </p:sp>
      <p:sp>
        <p:nvSpPr>
          <p:cNvPr id="5" name="body">
            <a:extLst xmlns:a="http://schemas.openxmlformats.org/drawingml/2006/main">
              <a:ext uri="{FF2B5EF4-FFF2-40B4-BE49-F238E27FC236}">
                <a16:creationId xmlns:a16="http://schemas.microsoft.com/office/drawing/2014/main" id="{959FAA89-FD05-4AD3-B281-F517E2BFC512}"/>
              </a:ext>
            </a:extLst>
          </p:cNvPr>
          <p:cNvSpPr>
            <a:spLocks xmlns:a="http://schemas.openxmlformats.org/drawingml/2006/main" noGrp="1"/>
          </p:cNvSpPr>
          <p:nvPr/>
        </p:nvSpPr>
        <p:spPr>
          <a:xfrm xmlns:a="http://schemas.openxmlformats.org/drawingml/2006/main">
            <a:off x="685800" y="2857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PATIENT [NAME]&lt;EOS&gt;</a:t>
            </a:r>
          </a:p>
        </p:txBody>
      </p:sp>
      <p:sp>
        <p:nvSpPr>
          <p:cNvPr id="6" name="body">
            <a:extLst xmlns:a="http://schemas.openxmlformats.org/drawingml/2006/main">
              <a:ext uri="{FF2B5EF4-FFF2-40B4-BE49-F238E27FC236}">
                <a16:creationId xmlns:a16="http://schemas.microsoft.com/office/drawing/2014/main" id="{5BFE42E5-0575-4C98-BAB1-1642C20C364C}"/>
              </a:ext>
            </a:extLst>
          </p:cNvPr>
          <p:cNvSpPr>
            <a:spLocks xmlns:a="http://schemas.openxmlformats.org/drawingml/2006/main" noGrp="1"/>
          </p:cNvSpPr>
          <p:nvPr/>
        </p:nvSpPr>
        <p:spPr>
          <a:xfrm xmlns:a="http://schemas.openxmlformats.org/drawingml/2006/main">
            <a:off x="6858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Protocol markers</a:t>
            </a:r>
          </a:p>
        </p:txBody>
      </p:sp>
      <p:sp>
        <p:nvSpPr>
          <p:cNvPr id="7" name="body">
            <a:extLst xmlns:a="http://schemas.openxmlformats.org/drawingml/2006/main">
              <a:ext uri="{FF2B5EF4-FFF2-40B4-BE49-F238E27FC236}">
                <a16:creationId xmlns:a16="http://schemas.microsoft.com/office/drawing/2014/main" id="{EBCE8607-5447-44E8-B697-938BA1DE7112}"/>
              </a:ext>
            </a:extLst>
          </p:cNvPr>
          <p:cNvSpPr>
            <a:spLocks xmlns:a="http://schemas.openxmlformats.org/drawingml/2006/main" noGrp="1"/>
          </p:cNvSpPr>
          <p:nvPr/>
        </p:nvSpPr>
        <p:spPr>
          <a:xfrm xmlns:a="http://schemas.openxmlformats.org/drawingml/2006/main">
            <a:off x="4171950" y="40481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BOS / INPUT / OUTPUT / EOS are atomic tokens</a:t>
            </a:r>
          </a:p>
        </p:txBody>
      </p:sp>
      <p:sp>
        <p:nvSpPr>
          <p:cNvPr id="8" name="body">
            <a:extLst xmlns:a="http://schemas.openxmlformats.org/drawingml/2006/main">
              <a:ext uri="{FF2B5EF4-FFF2-40B4-BE49-F238E27FC236}">
                <a16:creationId xmlns:a16="http://schemas.microsoft.com/office/drawing/2014/main" id="{223798E0-C977-4BF3-88E2-741F7CE7176B}"/>
              </a:ext>
            </a:extLst>
          </p:cNvPr>
          <p:cNvSpPr>
            <a:spLocks xmlns:a="http://schemas.openxmlformats.org/drawingml/2006/main" noGrp="1"/>
          </p:cNvSpPr>
          <p:nvPr/>
        </p:nvSpPr>
        <p:spPr>
          <a:xfrm xmlns:a="http://schemas.openxmlformats.org/drawingml/2006/main">
            <a:off x="685800" y="47339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Text characters</a:t>
            </a:r>
          </a:p>
        </p:txBody>
      </p:sp>
      <p:sp>
        <p:nvSpPr>
          <p:cNvPr id="9" name="body">
            <a:extLst xmlns:a="http://schemas.openxmlformats.org/drawingml/2006/main">
              <a:ext uri="{FF2B5EF4-FFF2-40B4-BE49-F238E27FC236}">
                <a16:creationId xmlns:a16="http://schemas.microsoft.com/office/drawing/2014/main" id="{67554A87-6D36-4DE1-8DB4-86A2596DF7C0}"/>
              </a:ext>
            </a:extLst>
          </p:cNvPr>
          <p:cNvSpPr>
            <a:spLocks xmlns:a="http://schemas.openxmlformats.org/drawingml/2006/main" noGrp="1"/>
          </p:cNvSpPr>
          <p:nvPr/>
        </p:nvSpPr>
        <p:spPr>
          <a:xfrm xmlns:a="http://schemas.openxmlformats.org/drawingml/2006/main">
            <a:off x="4171950" y="47339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PATIENT is P, A, T, I, E, N, T</a:t>
            </a:r>
          </a:p>
        </p:txBody>
      </p:sp>
      <p:sp>
        <p:nvSpPr>
          <p:cNvPr id="10" name="body">
            <a:extLst xmlns:a="http://schemas.openxmlformats.org/drawingml/2006/main">
              <a:ext uri="{FF2B5EF4-FFF2-40B4-BE49-F238E27FC236}">
                <a16:creationId xmlns:a16="http://schemas.microsoft.com/office/drawing/2014/main" id="{88036EE9-3074-4D78-85EE-9EE5EA94133D}"/>
              </a:ext>
            </a:extLst>
          </p:cNvPr>
          <p:cNvSpPr>
            <a:spLocks xmlns:a="http://schemas.openxmlformats.org/drawingml/2006/main" noGrp="1"/>
          </p:cNvSpPr>
          <p:nvPr/>
        </p:nvSpPr>
        <p:spPr>
          <a:xfrm xmlns:a="http://schemas.openxmlformats.org/drawingml/2006/main">
            <a:off x="685800" y="54197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First output decision</a:t>
            </a:r>
          </a:p>
        </p:txBody>
      </p:sp>
      <p:sp>
        <p:nvSpPr>
          <p:cNvPr id="11" name="body">
            <a:extLst xmlns:a="http://schemas.openxmlformats.org/drawingml/2006/main">
              <a:ext uri="{FF2B5EF4-FFF2-40B4-BE49-F238E27FC236}">
                <a16:creationId xmlns:a16="http://schemas.microsoft.com/office/drawing/2014/main" id="{726921C3-4873-49CF-B45B-F311E7D3B694}"/>
              </a:ext>
            </a:extLst>
          </p:cNvPr>
          <p:cNvSpPr>
            <a:spLocks xmlns:a="http://schemas.openxmlformats.org/drawingml/2006/main" noGrp="1"/>
          </p:cNvSpPr>
          <p:nvPr/>
        </p:nvSpPr>
        <p:spPr>
          <a:xfrm xmlns:a="http://schemas.openxmlformats.org/drawingml/2006/main">
            <a:off x="4171950" y="54197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 &lt;OUTPUT&gt;, the desired next token is P</a:t>
            </a:r>
          </a:p>
        </p:txBody>
      </p:sp>
    </p:spTree>
    <p:extLst>
      <p:ext uri="{BB962C8B-B14F-4D97-AF65-F5344CB8AC3E}">
        <p14:creationId xmlns:p14="http://schemas.microsoft.com/office/powerpoint/2010/main" val="567793254"/>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648EF17-C264-45D5-BB09-A403D77A68F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 and generation</a:t>
            </a:r>
          </a:p>
        </p:txBody>
      </p:sp>
      <p:sp>
        <p:nvSpPr>
          <p:cNvPr id="2" name="subtitle">
            <a:extLst xmlns:a="http://schemas.openxmlformats.org/drawingml/2006/main">
              <a:ext uri="{FF2B5EF4-FFF2-40B4-BE49-F238E27FC236}">
                <a16:creationId xmlns:a16="http://schemas.microsoft.com/office/drawing/2014/main" id="{FFA7DEBE-AC8A-44E5-8548-B09D4F98134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Parallel scoring during training, one appended token during inference</a:t>
            </a:r>
          </a:p>
        </p:txBody>
      </p:sp>
      <p:sp>
        <p:nvSpPr>
          <p:cNvPr id="3" name="page-number">
            <a:extLst xmlns:a="http://schemas.openxmlformats.org/drawingml/2006/main">
              <a:ext uri="{FF2B5EF4-FFF2-40B4-BE49-F238E27FC236}">
                <a16:creationId xmlns:a16="http://schemas.microsoft.com/office/drawing/2014/main" id="{938E23E7-CC07-48E7-9F0B-84C92F8B557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06</a:t>
            </a:r>
          </a:p>
        </p:txBody>
      </p:sp>
      <p:graphicFrame>
        <p:nvGraphicFramePr>
          <p:cNvPr id="4" name="">
            <a:extLst xmlns:a="http://schemas.openxmlformats.org/drawingml/2006/main">
              <a:ext uri="{FF2B5EF4-FFF2-40B4-BE49-F238E27FC236}">
                <a16:creationId xmlns:a16="http://schemas.microsoft.com/office/drawing/2014/main" id="{2AA17662-5306-4ACA-B2E3-D3DC3524931B}"/>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809750"/>
                <a:gridCol w="4505325"/>
                <a:gridCol w="4505325"/>
              </a:tblGrid>
              <a:tr h="650875">
                <a:tc>
                  <a:txBody>
                    <a:bodyPr/>
                    <a:lstStyle/>
                    <a:p>
                      <a:r>
                        <a:rPr sz="1650" b="1">
                          <a:solidFill>
                            <a:srgbClr val="F9F7F1"/>
                          </a:solidFill>
                          <a:latin typeface="Calibri"/>
                          <a:ea typeface="Calibri"/>
                          <a:cs typeface="Calibri"/>
                        </a:rPr>
                        <a:t>Aspect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Training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Generation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Available 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correct output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model-generated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 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Shifted complete example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Current prompt plus generated tokens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Prediction used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 scored output positions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position only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Update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Loss, backpropagation, optimizer step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Append one token without weight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Main risk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Target leakage through an incorrect mask</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An early error becomes future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052978378"/>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F238E132-7456-4948-9D88-10C4B6186FD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Tokenization defines what the model can see</a:t>
            </a:r>
          </a:p>
        </p:txBody>
      </p:sp>
      <p:sp>
        <p:nvSpPr>
          <p:cNvPr id="2" name="page-number">
            <a:extLst xmlns:a="http://schemas.openxmlformats.org/drawingml/2006/main">
              <a:ext uri="{FF2B5EF4-FFF2-40B4-BE49-F238E27FC236}">
                <a16:creationId xmlns:a16="http://schemas.microsoft.com/office/drawing/2014/main" id="{81E32427-BDED-4CCB-8F05-68AEEF13E4D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07</a:t>
            </a:r>
          </a:p>
        </p:txBody>
      </p:sp>
      <p:sp>
        <p:nvSpPr>
          <p:cNvPr id="3" name="body">
            <a:extLst xmlns:a="http://schemas.openxmlformats.org/drawingml/2006/main">
              <a:ext uri="{FF2B5EF4-FFF2-40B4-BE49-F238E27FC236}">
                <a16:creationId xmlns:a16="http://schemas.microsoft.com/office/drawing/2014/main" id="{7DADA28C-932F-48AE-985C-E904F5B19B85}"/>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Word lookup: useful for teaching</a:t>
            </a:r>
          </a:p>
        </p:txBody>
      </p:sp>
      <p:sp>
        <p:nvSpPr>
          <p:cNvPr id="4" name="body">
            <a:extLst xmlns:a="http://schemas.openxmlformats.org/drawingml/2006/main">
              <a:ext uri="{FF2B5EF4-FFF2-40B4-BE49-F238E27FC236}">
                <a16:creationId xmlns:a16="http://schemas.microsoft.com/office/drawing/2014/main" id="{86BD4A00-E155-4FA1-A1CD-663014CDA29C}"/>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Our character representation</a:t>
            </a:r>
          </a:p>
        </p:txBody>
      </p:sp>
      <p:sp>
        <p:nvSpPr>
          <p:cNvPr id="5" name="body">
            <a:extLst xmlns:a="http://schemas.openxmlformats.org/drawingml/2006/main">
              <a:ext uri="{FF2B5EF4-FFF2-40B4-BE49-F238E27FC236}">
                <a16:creationId xmlns:a16="http://schemas.microsoft.com/office/drawing/2014/main" id="{67B32E42-E2F1-4E51-821A-42DC7C1BF814}"/>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A vocabulary maps tokens to integer IDs</a:t>
            </a:r>
          </a:p>
        </p:txBody>
      </p:sp>
      <p:sp>
        <p:nvSpPr>
          <p:cNvPr id="6" name="body">
            <a:extLst xmlns:a="http://schemas.openxmlformats.org/drawingml/2006/main">
              <a:ext uri="{FF2B5EF4-FFF2-40B4-BE49-F238E27FC236}">
                <a16:creationId xmlns:a16="http://schemas.microsoft.com/office/drawing/2014/main" id="{C1AE028D-2A8D-4640-A3DC-9BA013FDA4A6}"/>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Different unseen words can collapse to UNK</a:t>
            </a:r>
          </a:p>
        </p:txBody>
      </p:sp>
      <p:sp>
        <p:nvSpPr>
          <p:cNvPr id="7" name="body">
            <a:extLst xmlns:a="http://schemas.openxmlformats.org/drawingml/2006/main">
              <a:ext uri="{FF2B5EF4-FFF2-40B4-BE49-F238E27FC236}">
                <a16:creationId xmlns:a16="http://schemas.microsoft.com/office/drawing/2014/main" id="{902246D8-2760-4C1A-8106-50F5EF1EB7DB}"/>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Position cannot recover lost spelling</a:t>
            </a:r>
          </a:p>
        </p:txBody>
      </p:sp>
      <p:sp>
        <p:nvSpPr>
          <p:cNvPr id="8" name="body">
            <a:extLst xmlns:a="http://schemas.openxmlformats.org/drawingml/2006/main">
              <a:ext uri="{FF2B5EF4-FFF2-40B4-BE49-F238E27FC236}">
                <a16:creationId xmlns:a16="http://schemas.microsoft.com/office/drawing/2014/main" id="{A72A89FF-14BD-4E3A-BFF4-3E86B7D06EE4}"/>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New ASCII names retain their letters</a:t>
            </a:r>
          </a:p>
        </p:txBody>
      </p:sp>
      <p:sp>
        <p:nvSpPr>
          <p:cNvPr id="9" name="body">
            <a:extLst xmlns:a="http://schemas.openxmlformats.org/drawingml/2006/main">
              <a:ext uri="{FF2B5EF4-FFF2-40B4-BE49-F238E27FC236}">
                <a16:creationId xmlns:a16="http://schemas.microsoft.com/office/drawing/2014/main" id="{2279816B-11F8-4F06-9F8E-9EC4B48C0EEA}"/>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Control and placeholder markers stay atomic</a:t>
            </a:r>
          </a:p>
        </p:txBody>
      </p:sp>
      <p:sp>
        <p:nvSpPr>
          <p:cNvPr id="10" name="body">
            <a:extLst xmlns:a="http://schemas.openxmlformats.org/drawingml/2006/main">
              <a:ext uri="{FF2B5EF4-FFF2-40B4-BE49-F238E27FC236}">
                <a16:creationId xmlns:a16="http://schemas.microsoft.com/office/drawing/2014/main" id="{A84BFC23-C5E3-4A0B-8329-E667CD51981E}"/>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Longer sequences; unsupported characters fail</a:t>
            </a:r>
          </a:p>
        </p:txBody>
      </p:sp>
      <p:sp>
        <p:nvSpPr>
          <p:cNvPr id="11" name="body">
            <a:extLst xmlns:a="http://schemas.openxmlformats.org/drawingml/2006/main">
              <a:ext uri="{FF2B5EF4-FFF2-40B4-BE49-F238E27FC236}">
                <a16:creationId xmlns:a16="http://schemas.microsoft.com/office/drawing/2014/main" id="{3A525251-6BEC-4B66-B43B-B1C098C9C0E8}"/>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 ID selects an embedding row; it is not a learned meaning vector</a:t>
            </a:r>
          </a:p>
        </p:txBody>
      </p:sp>
    </p:spTree>
    <p:extLst>
      <p:ext uri="{BB962C8B-B14F-4D97-AF65-F5344CB8AC3E}">
        <p14:creationId xmlns:p14="http://schemas.microsoft.com/office/powerpoint/2010/main" val="141854887"/>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C9A75CF5-C1BA-4A30-AF3B-B55BC3F95E6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Embeddings and position</a:t>
            </a:r>
          </a:p>
        </p:txBody>
      </p:sp>
      <p:sp>
        <p:nvSpPr>
          <p:cNvPr id="2" name="subtitle">
            <a:extLst xmlns:a="http://schemas.openxmlformats.org/drawingml/2006/main">
              <a:ext uri="{FF2B5EF4-FFF2-40B4-BE49-F238E27FC236}">
                <a16:creationId xmlns:a16="http://schemas.microsoft.com/office/drawing/2014/main" id="{480482F7-442B-4214-A7FB-BF044944381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 token ID selects a vector, then position adds order information</a:t>
            </a:r>
          </a:p>
        </p:txBody>
      </p:sp>
      <p:sp>
        <p:nvSpPr>
          <p:cNvPr id="3" name="page-number">
            <a:extLst xmlns:a="http://schemas.openxmlformats.org/drawingml/2006/main">
              <a:ext uri="{FF2B5EF4-FFF2-40B4-BE49-F238E27FC236}">
                <a16:creationId xmlns:a16="http://schemas.microsoft.com/office/drawing/2014/main" id="{1BB277B6-F57D-4C2B-AE68-14D4DCAFF62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08</a:t>
            </a:r>
          </a:p>
        </p:txBody>
      </p:sp>
      <p:sp>
        <p:nvSpPr>
          <p:cNvPr id="4" name="body">
            <a:extLst xmlns:a="http://schemas.openxmlformats.org/drawingml/2006/main">
              <a:ext uri="{FF2B5EF4-FFF2-40B4-BE49-F238E27FC236}">
                <a16:creationId xmlns:a16="http://schemas.microsoft.com/office/drawing/2014/main" id="{AA94CDC7-32DE-48BC-839C-1DED2D375F43}"/>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X[b, t, :] = E[token_id] + P[t]</a:t>
            </a:r>
          </a:p>
        </p:txBody>
      </p:sp>
      <p:sp>
        <p:nvSpPr>
          <p:cNvPr id="5" name="body">
            <a:extLst xmlns:a="http://schemas.openxmlformats.org/drawingml/2006/main">
              <a:ext uri="{FF2B5EF4-FFF2-40B4-BE49-F238E27FC236}">
                <a16:creationId xmlns:a16="http://schemas.microsoft.com/office/drawing/2014/main" id="{9A037CC3-C3F2-487F-9EE0-9009B66A1572}"/>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E</a:t>
            </a:r>
          </a:p>
        </p:txBody>
      </p:sp>
      <p:sp>
        <p:nvSpPr>
          <p:cNvPr id="6" name="body">
            <a:extLst xmlns:a="http://schemas.openxmlformats.org/drawingml/2006/main">
              <a:ext uri="{FF2B5EF4-FFF2-40B4-BE49-F238E27FC236}">
                <a16:creationId xmlns:a16="http://schemas.microsoft.com/office/drawing/2014/main" id="{4FDFB93F-B8E7-4D01-9933-1AB70BF07256}"/>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token embedding table</a:t>
            </a:r>
          </a:p>
        </p:txBody>
      </p:sp>
      <p:sp>
        <p:nvSpPr>
          <p:cNvPr id="7" name="body">
            <a:extLst xmlns:a="http://schemas.openxmlformats.org/drawingml/2006/main">
              <a:ext uri="{FF2B5EF4-FFF2-40B4-BE49-F238E27FC236}">
                <a16:creationId xmlns:a16="http://schemas.microsoft.com/office/drawing/2014/main" id="{C2D07EA5-0D50-4333-B67D-D423A815C79A}"/>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4D9D0594-3A45-455D-BF24-2B29C685358F}"/>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position embedding table</a:t>
            </a:r>
          </a:p>
        </p:txBody>
      </p:sp>
      <p:sp>
        <p:nvSpPr>
          <p:cNvPr id="9" name="body">
            <a:extLst xmlns:a="http://schemas.openxmlformats.org/drawingml/2006/main">
              <a:ext uri="{FF2B5EF4-FFF2-40B4-BE49-F238E27FC236}">
                <a16:creationId xmlns:a16="http://schemas.microsoft.com/office/drawing/2014/main" id="{A6D3AF2B-1D58-4E8B-A452-B372186B9B1E}"/>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b, t</a:t>
            </a:r>
          </a:p>
        </p:txBody>
      </p:sp>
      <p:sp>
        <p:nvSpPr>
          <p:cNvPr id="10" name="body">
            <a:extLst xmlns:a="http://schemas.openxmlformats.org/drawingml/2006/main">
              <a:ext uri="{FF2B5EF4-FFF2-40B4-BE49-F238E27FC236}">
                <a16:creationId xmlns:a16="http://schemas.microsoft.com/office/drawing/2014/main" id="{CD0E055F-8903-41D6-8046-485A5F78DC90}"/>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Batch item and token position</a:t>
            </a:r>
          </a:p>
        </p:txBody>
      </p:sp>
      <p:sp>
        <p:nvSpPr>
          <p:cNvPr id="11" name="body">
            <a:extLst xmlns:a="http://schemas.openxmlformats.org/drawingml/2006/main">
              <a:ext uri="{FF2B5EF4-FFF2-40B4-BE49-F238E27FC236}">
                <a16:creationId xmlns:a16="http://schemas.microsoft.com/office/drawing/2014/main" id="{ABF57AC2-6E6E-4A61-A7B9-D5518E8A5A70}"/>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X</a:t>
            </a:r>
          </a:p>
        </p:txBody>
      </p:sp>
      <p:sp>
        <p:nvSpPr>
          <p:cNvPr id="12" name="body">
            <a:extLst xmlns:a="http://schemas.openxmlformats.org/drawingml/2006/main">
              <a:ext uri="{FF2B5EF4-FFF2-40B4-BE49-F238E27FC236}">
                <a16:creationId xmlns:a16="http://schemas.microsoft.com/office/drawing/2014/main" id="{92D06060-4C8F-44AF-B967-9D56AB5B45D0}"/>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vectors entering the first decoder block</a:t>
            </a:r>
          </a:p>
        </p:txBody>
      </p:sp>
      <p:sp>
        <p:nvSpPr>
          <p:cNvPr id="13" name="body">
            <a:extLst xmlns:a="http://schemas.openxmlformats.org/drawingml/2006/main">
              <a:ext uri="{FF2B5EF4-FFF2-40B4-BE49-F238E27FC236}">
                <a16:creationId xmlns:a16="http://schemas.microsoft.com/office/drawing/2014/main" id="{2028E1F4-FE92-46CF-9C29-16AE83323DE7}"/>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arithmetic: [0.2, −0.1] + [0.0, 0.3] = [0.2, 0.2]</a:t>
            </a:r>
          </a:p>
        </p:txBody>
      </p:sp>
    </p:spTree>
    <p:extLst>
      <p:ext uri="{BB962C8B-B14F-4D97-AF65-F5344CB8AC3E}">
        <p14:creationId xmlns:p14="http://schemas.microsoft.com/office/powerpoint/2010/main" val="410928596"/>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DFC35717-A6EA-42B5-9CFF-7AADDF57DEF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Attention retrieves a weighted mixture</a:t>
            </a:r>
          </a:p>
        </p:txBody>
      </p:sp>
      <p:sp>
        <p:nvSpPr>
          <p:cNvPr id="2" name="subtitle">
            <a:extLst xmlns:a="http://schemas.openxmlformats.org/drawingml/2006/main">
              <a:ext uri="{FF2B5EF4-FFF2-40B4-BE49-F238E27FC236}">
                <a16:creationId xmlns:a16="http://schemas.microsoft.com/office/drawing/2014/main" id="{EEAC4EAE-0503-4D12-8F87-A41121D5122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Learned compatibility determines how much each earlier value contributes</a:t>
            </a:r>
          </a:p>
        </p:txBody>
      </p:sp>
      <p:sp>
        <p:nvSpPr>
          <p:cNvPr id="3" name="page-number">
            <a:extLst xmlns:a="http://schemas.openxmlformats.org/drawingml/2006/main">
              <a:ext uri="{FF2B5EF4-FFF2-40B4-BE49-F238E27FC236}">
                <a16:creationId xmlns:a16="http://schemas.microsoft.com/office/drawing/2014/main" id="{92119991-2E1D-4DE5-9172-F087990E572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09</a:t>
            </a:r>
          </a:p>
        </p:txBody>
      </p:sp>
      <p:sp>
        <p:nvSpPr>
          <p:cNvPr id="4" name="body">
            <a:extLst xmlns:a="http://schemas.openxmlformats.org/drawingml/2006/main">
              <a:ext uri="{FF2B5EF4-FFF2-40B4-BE49-F238E27FC236}">
                <a16:creationId xmlns:a16="http://schemas.microsoft.com/office/drawing/2014/main" id="{F7091618-078A-4768-B355-B73CA3BEF795}"/>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A = softmax((QKᵀ / √dₕ) + M)     H = AV</a:t>
            </a:r>
          </a:p>
        </p:txBody>
      </p:sp>
      <p:sp>
        <p:nvSpPr>
          <p:cNvPr id="5" name="body">
            <a:extLst xmlns:a="http://schemas.openxmlformats.org/drawingml/2006/main">
              <a:ext uri="{FF2B5EF4-FFF2-40B4-BE49-F238E27FC236}">
                <a16:creationId xmlns:a16="http://schemas.microsoft.com/office/drawing/2014/main" id="{7357CB99-1E11-4DC4-A16E-B8BB1C1CFC79}"/>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Q, K</a:t>
            </a:r>
          </a:p>
        </p:txBody>
      </p:sp>
      <p:sp>
        <p:nvSpPr>
          <p:cNvPr id="6" name="body">
            <a:extLst xmlns:a="http://schemas.openxmlformats.org/drawingml/2006/main">
              <a:ext uri="{FF2B5EF4-FFF2-40B4-BE49-F238E27FC236}">
                <a16:creationId xmlns:a16="http://schemas.microsoft.com/office/drawing/2014/main" id="{C8B490EF-2A3A-4A0F-94E3-C13BBEA0BC02}"/>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query and key projections used for compatibility</a:t>
            </a:r>
          </a:p>
        </p:txBody>
      </p:sp>
      <p:sp>
        <p:nvSpPr>
          <p:cNvPr id="7" name="body">
            <a:extLst xmlns:a="http://schemas.openxmlformats.org/drawingml/2006/main">
              <a:ext uri="{FF2B5EF4-FFF2-40B4-BE49-F238E27FC236}">
                <a16:creationId xmlns:a16="http://schemas.microsoft.com/office/drawing/2014/main" id="{45F49411-6E64-4F17-8D47-8F2B3B87221B}"/>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V</a:t>
            </a:r>
          </a:p>
        </p:txBody>
      </p:sp>
      <p:sp>
        <p:nvSpPr>
          <p:cNvPr id="8" name="body">
            <a:extLst xmlns:a="http://schemas.openxmlformats.org/drawingml/2006/main">
              <a:ext uri="{FF2B5EF4-FFF2-40B4-BE49-F238E27FC236}">
                <a16:creationId xmlns:a16="http://schemas.microsoft.com/office/drawing/2014/main" id="{65D812A5-FB33-448A-99E0-F723952C4D1F}"/>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value vectors that carry the retrieved information</a:t>
            </a:r>
          </a:p>
        </p:txBody>
      </p:sp>
      <p:sp>
        <p:nvSpPr>
          <p:cNvPr id="9" name="body">
            <a:extLst xmlns:a="http://schemas.openxmlformats.org/drawingml/2006/main">
              <a:ext uri="{FF2B5EF4-FFF2-40B4-BE49-F238E27FC236}">
                <a16:creationId xmlns:a16="http://schemas.microsoft.com/office/drawing/2014/main" id="{2BCB9E47-C067-42F4-8FEC-EF0DBB1C2667}"/>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dₕ</a:t>
            </a:r>
          </a:p>
        </p:txBody>
      </p:sp>
      <p:sp>
        <p:nvSpPr>
          <p:cNvPr id="10" name="body">
            <a:extLst xmlns:a="http://schemas.openxmlformats.org/drawingml/2006/main">
              <a:ext uri="{FF2B5EF4-FFF2-40B4-BE49-F238E27FC236}">
                <a16:creationId xmlns:a16="http://schemas.microsoft.com/office/drawing/2014/main" id="{479DAA7C-793F-43A4-9E0D-7635CB8D0418}"/>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Feature width within one head</a:t>
            </a:r>
          </a:p>
        </p:txBody>
      </p:sp>
      <p:sp>
        <p:nvSpPr>
          <p:cNvPr id="11" name="body">
            <a:extLst xmlns:a="http://schemas.openxmlformats.org/drawingml/2006/main">
              <a:ext uri="{FF2B5EF4-FFF2-40B4-BE49-F238E27FC236}">
                <a16:creationId xmlns:a16="http://schemas.microsoft.com/office/drawing/2014/main" id="{2B7552EA-2E90-4020-BC92-05C781B3F661}"/>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 A</a:t>
            </a:r>
          </a:p>
        </p:txBody>
      </p:sp>
      <p:sp>
        <p:nvSpPr>
          <p:cNvPr id="12" name="body">
            <a:extLst xmlns:a="http://schemas.openxmlformats.org/drawingml/2006/main">
              <a:ext uri="{FF2B5EF4-FFF2-40B4-BE49-F238E27FC236}">
                <a16:creationId xmlns:a16="http://schemas.microsoft.com/office/drawing/2014/main" id="{6451A777-88CD-40AB-BEE4-09AD717D2451}"/>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Mask added before softmax, then normalized attention weights</a:t>
            </a:r>
          </a:p>
        </p:txBody>
      </p:sp>
      <p:sp>
        <p:nvSpPr>
          <p:cNvPr id="13" name="body">
            <a:extLst xmlns:a="http://schemas.openxmlformats.org/drawingml/2006/main">
              <a:ext uri="{FF2B5EF4-FFF2-40B4-BE49-F238E27FC236}">
                <a16:creationId xmlns:a16="http://schemas.microsoft.com/office/drawing/2014/main" id="{85D0F4CF-0C29-4283-9CDA-F0D437A1940C}"/>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weights describe internal routing. A role or explanation needs supporting tests</a:t>
            </a:r>
          </a:p>
        </p:txBody>
      </p:sp>
    </p:spTree>
    <p:extLst>
      <p:ext uri="{BB962C8B-B14F-4D97-AF65-F5344CB8AC3E}">
        <p14:creationId xmlns:p14="http://schemas.microsoft.com/office/powerpoint/2010/main" val="1333425854"/>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AF102C3A-1767-4A4F-AB92-8F0665D3631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Three masks, three jobs</a:t>
            </a:r>
          </a:p>
        </p:txBody>
      </p:sp>
      <p:sp>
        <p:nvSpPr>
          <p:cNvPr id="2" name="subtitle">
            <a:extLst xmlns:a="http://schemas.openxmlformats.org/drawingml/2006/main">
              <a:ext uri="{FF2B5EF4-FFF2-40B4-BE49-F238E27FC236}">
                <a16:creationId xmlns:a16="http://schemas.microsoft.com/office/drawing/2014/main" id="{85BC8097-B8EA-4848-A022-90109D9586A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token positions; the model applies the same rule to character tokens</a:t>
            </a:r>
          </a:p>
        </p:txBody>
      </p:sp>
      <p:sp>
        <p:nvSpPr>
          <p:cNvPr id="3" name="page-number">
            <a:extLst xmlns:a="http://schemas.openxmlformats.org/drawingml/2006/main">
              <a:ext uri="{FF2B5EF4-FFF2-40B4-BE49-F238E27FC236}">
                <a16:creationId xmlns:a16="http://schemas.microsoft.com/office/drawing/2014/main" id="{ECFF5B39-1B4B-46B2-A22A-C1EBF79B385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10</a:t>
            </a:r>
          </a:p>
        </p:txBody>
      </p:sp>
      <p:graphicFrame>
        <p:nvGraphicFramePr>
          <p:cNvPr id="4" name="">
            <a:extLst xmlns:a="http://schemas.openxmlformats.org/drawingml/2006/main">
              <a:ext uri="{FF2B5EF4-FFF2-40B4-BE49-F238E27FC236}">
                <a16:creationId xmlns:a16="http://schemas.microsoft.com/office/drawing/2014/main" id="{60B0DFFF-4142-4E3E-A0D7-5B64FD3D05FA}"/>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286000"/>
                <a:gridCol w="2133600"/>
                <a:gridCol w="2133600"/>
                <a:gridCol w="2133600"/>
                <a:gridCol w="2133600"/>
              </a:tblGrid>
              <a:tr h="742950">
                <a:tc>
                  <a:txBody>
                    <a:bodyPr/>
                    <a:lstStyle/>
                    <a:p>
                      <a:r>
                        <a:rPr sz="1650" b="1">
                          <a:solidFill>
                            <a:srgbClr val="F9F7F1"/>
                          </a:solidFill>
                          <a:latin typeface="Calibri"/>
                          <a:ea typeface="Calibri"/>
                          <a:cs typeface="Calibri"/>
                        </a:rPr>
                        <a:t>Query / key</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&lt;OUTPUT&gt;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PATIENT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[NAME]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DIAGNOSIS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PATIENT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[NAME]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DIAGNOSIS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r>
            </a:tbl>
          </a:graphicData>
        </a:graphic>
      </p:graphicFrame>
      <p:sp>
        <p:nvSpPr>
          <p:cNvPr id="5" name="body">
            <a:extLst xmlns:a="http://schemas.openxmlformats.org/drawingml/2006/main">
              <a:ext uri="{FF2B5EF4-FFF2-40B4-BE49-F238E27FC236}">
                <a16:creationId xmlns:a16="http://schemas.microsoft.com/office/drawing/2014/main" id="{3DA06950-94DF-4FA4-AE24-DC8336D6C2E1}"/>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Causal mask: future visibility     Padding mask: filler keys     Loss mask: scored targets</a:t>
            </a:r>
          </a:p>
        </p:txBody>
      </p:sp>
    </p:spTree>
    <p:extLst>
      <p:ext uri="{BB962C8B-B14F-4D97-AF65-F5344CB8AC3E}">
        <p14:creationId xmlns:p14="http://schemas.microsoft.com/office/powerpoint/2010/main" val="45193643"/>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F1CEAAE8-F936-4ED5-9C8F-71461EAA021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Multiple heads examine the full sequence</a:t>
            </a:r>
          </a:p>
        </p:txBody>
      </p:sp>
      <p:sp>
        <p:nvSpPr>
          <p:cNvPr id="2" name="subtitle">
            <a:extLst xmlns:a="http://schemas.openxmlformats.org/drawingml/2006/main">
              <a:ext uri="{FF2B5EF4-FFF2-40B4-BE49-F238E27FC236}">
                <a16:creationId xmlns:a16="http://schemas.microsoft.com/office/drawing/2014/main" id="{13ED7F0B-FD9D-46DE-A642-8741D8B6846B}"/>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feature dimension divides across heads, while every head keeps all token positions</a:t>
            </a:r>
          </a:p>
        </p:txBody>
      </p:sp>
      <p:sp>
        <p:nvSpPr>
          <p:cNvPr id="3" name="page-number">
            <a:extLst xmlns:a="http://schemas.openxmlformats.org/drawingml/2006/main">
              <a:ext uri="{FF2B5EF4-FFF2-40B4-BE49-F238E27FC236}">
                <a16:creationId xmlns:a16="http://schemas.microsoft.com/office/drawing/2014/main" id="{6B457011-5C21-487E-9B03-7F7CC007B55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11</a:t>
            </a:r>
          </a:p>
        </p:txBody>
      </p:sp>
      <p:graphicFrame>
        <p:nvGraphicFramePr>
          <p:cNvPr id="4" name="">
            <a:extLst xmlns:a="http://schemas.openxmlformats.org/drawingml/2006/main">
              <a:ext uri="{FF2B5EF4-FFF2-40B4-BE49-F238E27FC236}">
                <a16:creationId xmlns:a16="http://schemas.microsoft.com/office/drawing/2014/main" id="{D2402270-AE74-4699-AB3B-1EECBDDCB57D}"/>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857500"/>
                <a:gridCol w="2857500"/>
                <a:gridCol w="5105400"/>
              </a:tblGrid>
              <a:tr h="650875">
                <a:tc>
                  <a:txBody>
                    <a:bodyPr/>
                    <a:lstStyle/>
                    <a:p>
                      <a:r>
                        <a:rPr sz="1650" b="1">
                          <a:solidFill>
                            <a:srgbClr val="F9F7F1"/>
                          </a:solidFill>
                          <a:latin typeface="Calibri"/>
                          <a:ea typeface="Calibri"/>
                          <a:cs typeface="Calibri"/>
                        </a:rPr>
                        <a:t>Operation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Illustrative shape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Meaning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 features at every position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Q, K, V after split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different learned projections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Per-head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separate distribution per query and head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Concatenate contexts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Rejoin 4 × 16 features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Output projection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Mix information across head outputs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019529834"/>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8F809341-CC6A-4613-B1A3-A93150484B8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complete decoder block</a:t>
            </a:r>
          </a:p>
        </p:txBody>
      </p:sp>
      <p:sp>
        <p:nvSpPr>
          <p:cNvPr id="2" name="subtitle">
            <a:extLst xmlns:a="http://schemas.openxmlformats.org/drawingml/2006/main">
              <a:ext uri="{FF2B5EF4-FFF2-40B4-BE49-F238E27FC236}">
                <a16:creationId xmlns:a16="http://schemas.microsoft.com/office/drawing/2014/main" id="{2A114189-D1E9-4AC5-8478-B5BF4B882F5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starter uses normalization before each sublayer</a:t>
            </a:r>
          </a:p>
        </p:txBody>
      </p:sp>
      <p:sp>
        <p:nvSpPr>
          <p:cNvPr id="3" name="page-number">
            <a:extLst xmlns:a="http://schemas.openxmlformats.org/drawingml/2006/main">
              <a:ext uri="{FF2B5EF4-FFF2-40B4-BE49-F238E27FC236}">
                <a16:creationId xmlns:a16="http://schemas.microsoft.com/office/drawing/2014/main" id="{084E330F-936F-4B48-93F1-0F368B5EC65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12</a:t>
            </a:r>
          </a:p>
        </p:txBody>
      </p:sp>
      <p:sp>
        <p:nvSpPr>
          <p:cNvPr id="4" name="body">
            <a:extLst xmlns:a="http://schemas.openxmlformats.org/drawingml/2006/main">
              <a:ext uri="{FF2B5EF4-FFF2-40B4-BE49-F238E27FC236}">
                <a16:creationId xmlns:a16="http://schemas.microsoft.com/office/drawing/2014/main" id="{2277C138-BD80-4CF7-A9E4-8FFC4388A583}"/>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U = X + Attention(LN₁(X))</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Y = U + FFN(LN₂(U))</a:t>
            </a:r>
          </a:p>
        </p:txBody>
      </p:sp>
      <p:sp>
        <p:nvSpPr>
          <p:cNvPr id="5" name="body">
            <a:extLst xmlns:a="http://schemas.openxmlformats.org/drawingml/2006/main">
              <a:ext uri="{FF2B5EF4-FFF2-40B4-BE49-F238E27FC236}">
                <a16:creationId xmlns:a16="http://schemas.microsoft.com/office/drawing/2014/main" id="{475D36EC-0956-4A9E-BE3F-837EB30E6749}"/>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LN</a:t>
            </a:r>
          </a:p>
        </p:txBody>
      </p:sp>
      <p:sp>
        <p:nvSpPr>
          <p:cNvPr id="6" name="body">
            <a:extLst xmlns:a="http://schemas.openxmlformats.org/drawingml/2006/main">
              <a:ext uri="{FF2B5EF4-FFF2-40B4-BE49-F238E27FC236}">
                <a16:creationId xmlns:a16="http://schemas.microsoft.com/office/drawing/2014/main" id="{CE6C7E0B-BA43-4D31-B894-E854FBA24636}"/>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Normalize features independently at each token position</a:t>
            </a:r>
          </a:p>
        </p:txBody>
      </p:sp>
      <p:sp>
        <p:nvSpPr>
          <p:cNvPr id="7" name="body">
            <a:extLst xmlns:a="http://schemas.openxmlformats.org/drawingml/2006/main">
              <a:ext uri="{FF2B5EF4-FFF2-40B4-BE49-F238E27FC236}">
                <a16:creationId xmlns:a16="http://schemas.microsoft.com/office/drawing/2014/main" id="{D1C46790-97A4-4DE8-8E73-1FC4291B36A3}"/>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Residual addition</a:t>
            </a:r>
          </a:p>
        </p:txBody>
      </p:sp>
      <p:sp>
        <p:nvSpPr>
          <p:cNvPr id="8" name="body">
            <a:extLst xmlns:a="http://schemas.openxmlformats.org/drawingml/2006/main">
              <a:ext uri="{FF2B5EF4-FFF2-40B4-BE49-F238E27FC236}">
                <a16:creationId xmlns:a16="http://schemas.microsoft.com/office/drawing/2014/main" id="{3D9E63E2-2512-41AE-AFE9-205B8B72022C}"/>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Retain a direct path for features and gradients</a:t>
            </a:r>
          </a:p>
        </p:txBody>
      </p:sp>
      <p:sp>
        <p:nvSpPr>
          <p:cNvPr id="9" name="body">
            <a:extLst xmlns:a="http://schemas.openxmlformats.org/drawingml/2006/main">
              <a:ext uri="{FF2B5EF4-FFF2-40B4-BE49-F238E27FC236}">
                <a16:creationId xmlns:a16="http://schemas.microsoft.com/office/drawing/2014/main" id="{825E19E9-2A6A-4DA5-B69A-4D51A65A2EF6}"/>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Attention</a:t>
            </a:r>
          </a:p>
        </p:txBody>
      </p:sp>
      <p:sp>
        <p:nvSpPr>
          <p:cNvPr id="10" name="body">
            <a:extLst xmlns:a="http://schemas.openxmlformats.org/drawingml/2006/main">
              <a:ext uri="{FF2B5EF4-FFF2-40B4-BE49-F238E27FC236}">
                <a16:creationId xmlns:a16="http://schemas.microsoft.com/office/drawing/2014/main" id="{42D9F599-6D76-4FFE-BFE6-E705ED28D6EA}"/>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Mix information across eligible positions</a:t>
            </a:r>
          </a:p>
        </p:txBody>
      </p:sp>
      <p:sp>
        <p:nvSpPr>
          <p:cNvPr id="11" name="body">
            <a:extLst xmlns:a="http://schemas.openxmlformats.org/drawingml/2006/main">
              <a:ext uri="{FF2B5EF4-FFF2-40B4-BE49-F238E27FC236}">
                <a16:creationId xmlns:a16="http://schemas.microsoft.com/office/drawing/2014/main" id="{94F9DD4A-B5E8-46EF-AF65-F417E441B4AD}"/>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FFN</a:t>
            </a:r>
          </a:p>
        </p:txBody>
      </p:sp>
      <p:sp>
        <p:nvSpPr>
          <p:cNvPr id="12" name="body">
            <a:extLst xmlns:a="http://schemas.openxmlformats.org/drawingml/2006/main">
              <a:ext uri="{FF2B5EF4-FFF2-40B4-BE49-F238E27FC236}">
                <a16:creationId xmlns:a16="http://schemas.microsoft.com/office/drawing/2014/main" id="{B06E5C3B-9EFD-4F11-918C-12F8D375477F}"/>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Transform features separately at each position</a:t>
            </a:r>
          </a:p>
        </p:txBody>
      </p:sp>
      <p:sp>
        <p:nvSpPr>
          <p:cNvPr id="13" name="body">
            <a:extLst xmlns:a="http://schemas.openxmlformats.org/drawingml/2006/main">
              <a:ext uri="{FF2B5EF4-FFF2-40B4-BE49-F238E27FC236}">
                <a16:creationId xmlns:a16="http://schemas.microsoft.com/office/drawing/2014/main" id="{838656F0-0746-4769-AC7F-D0431D44D0D8}"/>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Two blocks repeat this process, followed by final normalization and vocabulary projection</a:t>
            </a:r>
          </a:p>
        </p:txBody>
      </p:sp>
    </p:spTree>
    <p:extLst>
      <p:ext uri="{BB962C8B-B14F-4D97-AF65-F5344CB8AC3E}">
        <p14:creationId xmlns:p14="http://schemas.microsoft.com/office/powerpoint/2010/main" val="620090555"/>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E1F1B97C-6327-4D2A-814E-4F8271C41CE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Learning the output continuation</a:t>
            </a:r>
          </a:p>
        </p:txBody>
      </p:sp>
      <p:sp>
        <p:nvSpPr>
          <p:cNvPr id="2" name="subtitle">
            <a:extLst xmlns:a="http://schemas.openxmlformats.org/drawingml/2006/main">
              <a:ext uri="{FF2B5EF4-FFF2-40B4-BE49-F238E27FC236}">
                <a16:creationId xmlns:a16="http://schemas.microsoft.com/office/drawing/2014/main" id="{F854763A-149A-4A62-8ED6-F879D4F8423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source contributes context while selected targets contribute loss</a:t>
            </a:r>
          </a:p>
        </p:txBody>
      </p:sp>
      <p:sp>
        <p:nvSpPr>
          <p:cNvPr id="3" name="page-number">
            <a:extLst xmlns:a="http://schemas.openxmlformats.org/drawingml/2006/main">
              <a:ext uri="{FF2B5EF4-FFF2-40B4-BE49-F238E27FC236}">
                <a16:creationId xmlns:a16="http://schemas.microsoft.com/office/drawing/2014/main" id="{C04B628D-8022-469A-B28C-7E12BF7B3DC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13</a:t>
            </a:r>
          </a:p>
        </p:txBody>
      </p:sp>
      <p:sp>
        <p:nvSpPr>
          <p:cNvPr id="4" name="body">
            <a:extLst xmlns:a="http://schemas.openxmlformats.org/drawingml/2006/main">
              <a:ext uri="{FF2B5EF4-FFF2-40B4-BE49-F238E27FC236}">
                <a16:creationId xmlns:a16="http://schemas.microsoft.com/office/drawing/2014/main" id="{938B7DBF-B0A8-434A-ADD0-0998B2273C34}"/>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 = −Σₜ mₜ log p(yₜ | prefixₜ) / Σₜ mₜ</a:t>
            </a:r>
          </a:p>
        </p:txBody>
      </p:sp>
      <p:sp>
        <p:nvSpPr>
          <p:cNvPr id="5" name="body">
            <a:extLst xmlns:a="http://schemas.openxmlformats.org/drawingml/2006/main">
              <a:ext uri="{FF2B5EF4-FFF2-40B4-BE49-F238E27FC236}">
                <a16:creationId xmlns:a16="http://schemas.microsoft.com/office/drawing/2014/main" id="{4295AC19-626E-4ED7-ABC6-2F1607BBE75F}"/>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yₜ</a:t>
            </a:r>
          </a:p>
        </p:txBody>
      </p:sp>
      <p:sp>
        <p:nvSpPr>
          <p:cNvPr id="6" name="body">
            <a:extLst xmlns:a="http://schemas.openxmlformats.org/drawingml/2006/main">
              <a:ext uri="{FF2B5EF4-FFF2-40B4-BE49-F238E27FC236}">
                <a16:creationId xmlns:a16="http://schemas.microsoft.com/office/drawing/2014/main" id="{AB46676D-538F-448A-AA70-3516573A27E1}"/>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correct next token at prediction position t</a:t>
            </a:r>
          </a:p>
        </p:txBody>
      </p:sp>
      <p:sp>
        <p:nvSpPr>
          <p:cNvPr id="7" name="body">
            <a:extLst xmlns:a="http://schemas.openxmlformats.org/drawingml/2006/main">
              <a:ext uri="{FF2B5EF4-FFF2-40B4-BE49-F238E27FC236}">
                <a16:creationId xmlns:a16="http://schemas.microsoft.com/office/drawing/2014/main" id="{1135E880-342D-45D1-9D98-B7F57CFC11FF}"/>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DBB7ABEF-53FC-4665-ADDA-3B852881B0C5}"/>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model probability assigned to that correct token</a:t>
            </a:r>
          </a:p>
        </p:txBody>
      </p:sp>
      <p:sp>
        <p:nvSpPr>
          <p:cNvPr id="9" name="body">
            <a:extLst xmlns:a="http://schemas.openxmlformats.org/drawingml/2006/main">
              <a:ext uri="{FF2B5EF4-FFF2-40B4-BE49-F238E27FC236}">
                <a16:creationId xmlns:a16="http://schemas.microsoft.com/office/drawing/2014/main" id="{10359E9B-16F7-4462-A222-40B0B544C38F}"/>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mₜ</a:t>
            </a:r>
          </a:p>
        </p:txBody>
      </p:sp>
      <p:sp>
        <p:nvSpPr>
          <p:cNvPr id="10" name="body">
            <a:extLst xmlns:a="http://schemas.openxmlformats.org/drawingml/2006/main">
              <a:ext uri="{FF2B5EF4-FFF2-40B4-BE49-F238E27FC236}">
                <a16:creationId xmlns:a16="http://schemas.microsoft.com/office/drawing/2014/main" id="{1BF25A3F-D8B4-4DB6-A0D5-2014357709CB}"/>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1 for a scored output target, 0 for prompt or padding</a:t>
            </a:r>
          </a:p>
        </p:txBody>
      </p:sp>
      <p:sp>
        <p:nvSpPr>
          <p:cNvPr id="11" name="body">
            <a:extLst xmlns:a="http://schemas.openxmlformats.org/drawingml/2006/main">
              <a:ext uri="{FF2B5EF4-FFF2-40B4-BE49-F238E27FC236}">
                <a16:creationId xmlns:a16="http://schemas.microsoft.com/office/drawing/2014/main" id="{11351DF7-D020-481A-A880-C05FF09DE9B4}"/>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Σ, log</a:t>
            </a:r>
          </a:p>
        </p:txBody>
      </p:sp>
      <p:sp>
        <p:nvSpPr>
          <p:cNvPr id="12" name="body">
            <a:extLst xmlns:a="http://schemas.openxmlformats.org/drawingml/2006/main">
              <a:ext uri="{FF2B5EF4-FFF2-40B4-BE49-F238E27FC236}">
                <a16:creationId xmlns:a16="http://schemas.microsoft.com/office/drawing/2014/main" id="{80F1BB5C-FE03-4516-8059-0ED33B6600BD}"/>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Sum over positions, using the natural logarithm</a:t>
            </a:r>
          </a:p>
        </p:txBody>
      </p:sp>
      <p:sp>
        <p:nvSpPr>
          <p:cNvPr id="13" name="body">
            <a:extLst xmlns:a="http://schemas.openxmlformats.org/drawingml/2006/main">
              <a:ext uri="{FF2B5EF4-FFF2-40B4-BE49-F238E27FC236}">
                <a16:creationId xmlns:a16="http://schemas.microsoft.com/office/drawing/2014/main" id="{BF296876-A0F6-42FE-B331-069839116F57}"/>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loss: correct-token probability 0.10 gives 2.303, while 0.80 gives 0.223</a:t>
            </a:r>
          </a:p>
        </p:txBody>
      </p:sp>
    </p:spTree>
    <p:extLst>
      <p:ext uri="{BB962C8B-B14F-4D97-AF65-F5344CB8AC3E}">
        <p14:creationId xmlns:p14="http://schemas.microsoft.com/office/powerpoint/2010/main" val="1996689238"/>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5672028-78F0-41A1-9684-F553C17B7EF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Eight trained architecture variants</a:t>
            </a:r>
          </a:p>
        </p:txBody>
      </p:sp>
      <p:sp>
        <p:nvSpPr>
          <p:cNvPr id="2" name="subtitle">
            <a:extLst xmlns:a="http://schemas.openxmlformats.org/drawingml/2006/main">
              <a:ext uri="{FF2B5EF4-FFF2-40B4-BE49-F238E27FC236}">
                <a16:creationId xmlns:a16="http://schemas.microsoft.com/office/drawing/2014/main" id="{413E23BC-E457-4F78-90E7-77A54EDDD6E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shared tokenizer, dataset, width and 1,000-update budget</a:t>
            </a:r>
          </a:p>
        </p:txBody>
      </p:sp>
      <p:sp>
        <p:nvSpPr>
          <p:cNvPr id="3" name="page-number">
            <a:extLst xmlns:a="http://schemas.openxmlformats.org/drawingml/2006/main">
              <a:ext uri="{FF2B5EF4-FFF2-40B4-BE49-F238E27FC236}">
                <a16:creationId xmlns:a16="http://schemas.microsoft.com/office/drawing/2014/main" id="{686C71C5-7325-40A2-952F-A0EBA6F1986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14</a:t>
            </a:r>
          </a:p>
        </p:txBody>
      </p:sp>
      <p:graphicFrame>
        <p:nvGraphicFramePr>
          <p:cNvPr id="4" name="">
            <a:extLst xmlns:a="http://schemas.openxmlformats.org/drawingml/2006/main">
              <a:ext uri="{FF2B5EF4-FFF2-40B4-BE49-F238E27FC236}">
                <a16:creationId xmlns:a16="http://schemas.microsoft.com/office/drawing/2014/main" id="{AF0BF84C-3B24-4CF6-83B3-07B13ED46B5B}"/>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762250"/>
                <a:gridCol w="2000250"/>
                <a:gridCol w="6057900"/>
              </a:tblGrid>
              <a:tr h="448733">
                <a:tc>
                  <a:txBody>
                    <a:bodyPr/>
                    <a:lstStyle/>
                    <a:p>
                      <a:r>
                        <a:rPr sz="1650" b="1">
                          <a:solidFill>
                            <a:srgbClr val="F9F7F1"/>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Assignment role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Architecture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Token + position embeddings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Single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One bare causal head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Multi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Additional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Same bare arrangement, four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One full block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Depth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Pre-LN attention + FFN + residuals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C</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decoder blocks + final norm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blocks without FFN branch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All block/final norms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residual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Residual additions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137675096"/>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E6BBF6E8-E5EE-409E-A609-6E095EAD156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Measure the transformation</a:t>
            </a:r>
          </a:p>
        </p:txBody>
      </p:sp>
      <p:sp>
        <p:nvSpPr>
          <p:cNvPr id="2" name="subtitle">
            <a:extLst xmlns:a="http://schemas.openxmlformats.org/drawingml/2006/main">
              <a:ext uri="{FF2B5EF4-FFF2-40B4-BE49-F238E27FC236}">
                <a16:creationId xmlns:a16="http://schemas.microsoft.com/office/drawing/2014/main" id="{C2FC1C37-B963-4928-9442-B47A699F7DE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Token accuracy alone can miss leakage and clinical corruption</a:t>
            </a:r>
          </a:p>
        </p:txBody>
      </p:sp>
      <p:sp>
        <p:nvSpPr>
          <p:cNvPr id="3" name="page-number">
            <a:extLst xmlns:a="http://schemas.openxmlformats.org/drawingml/2006/main">
              <a:ext uri="{FF2B5EF4-FFF2-40B4-BE49-F238E27FC236}">
                <a16:creationId xmlns:a16="http://schemas.microsoft.com/office/drawing/2014/main" id="{5804215C-6DDC-4B40-88A3-3EC67BDC411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15</a:t>
            </a:r>
          </a:p>
        </p:txBody>
      </p:sp>
      <p:graphicFrame>
        <p:nvGraphicFramePr>
          <p:cNvPr id="4" name="">
            <a:extLst xmlns:a="http://schemas.openxmlformats.org/drawingml/2006/main">
              <a:ext uri="{FF2B5EF4-FFF2-40B4-BE49-F238E27FC236}">
                <a16:creationId xmlns:a16="http://schemas.microsoft.com/office/drawing/2014/main" id="{64E0EA0E-4200-489F-89E8-2A7D3B3ADF28}"/>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143250"/>
                <a:gridCol w="4286250"/>
                <a:gridCol w="3390900"/>
              </a:tblGrid>
              <a:tr h="650875">
                <a:tc>
                  <a:txBody>
                    <a:bodyPr/>
                    <a:lstStyle/>
                    <a:p>
                      <a:r>
                        <a:rPr sz="1650" b="1">
                          <a:solidFill>
                            <a:srgbClr val="F9F7F1"/>
                          </a:solidFill>
                          <a:latin typeface="Calibri"/>
                          <a:ea typeface="Calibri"/>
                          <a:cs typeface="Calibri"/>
                        </a:rPr>
                        <a:t>Measure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Question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must accompany it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Token loss / accuracy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How well is the next token predicted?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Teacher-forced scored-token count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Redaction precision / recall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placeholder at the correct field?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TP / FP / FN and category support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Exact note match</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Was the entire note reproduced correctly?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Number of complete generated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Clinical preservation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Did the original field/value relation survive?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fields / supported fields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Leakage / EOS / latency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What failed or cost time?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Raw text, stop reason and hardware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686136128"/>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AC9F6212-DBAF-43CD-BC9B-B661ED00FF2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 fixed-budget baseline results</a:t>
            </a:r>
          </a:p>
        </p:txBody>
      </p:sp>
      <p:sp>
        <p:nvSpPr>
          <p:cNvPr id="2" name="subtitle">
            <a:extLst xmlns:a="http://schemas.openxmlformats.org/drawingml/2006/main">
              <a:ext uri="{FF2B5EF4-FFF2-40B4-BE49-F238E27FC236}">
                <a16:creationId xmlns:a16="http://schemas.microsoft.com/office/drawing/2014/main" id="{9DD0ECE9-F41B-48A0-9823-8E8020797C25}"/>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Seed 42; 100 validation notes for loss; 12 generation diagnostics</a:t>
            </a:r>
          </a:p>
        </p:txBody>
      </p:sp>
      <p:sp>
        <p:nvSpPr>
          <p:cNvPr id="3" name="page-number">
            <a:extLst xmlns:a="http://schemas.openxmlformats.org/drawingml/2006/main">
              <a:ext uri="{FF2B5EF4-FFF2-40B4-BE49-F238E27FC236}">
                <a16:creationId xmlns:a16="http://schemas.microsoft.com/office/drawing/2014/main" id="{AD75D601-AA14-414F-AECB-2EC70A8B2DA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16</a:t>
            </a:r>
          </a:p>
        </p:txBody>
      </p:sp>
      <p:graphicFrame>
        <p:nvGraphicFramePr>
          <p:cNvPr id="4" name="">
            <a:extLst xmlns:a="http://schemas.openxmlformats.org/drawingml/2006/main">
              <a:ext uri="{FF2B5EF4-FFF2-40B4-BE49-F238E27FC236}">
                <a16:creationId xmlns:a16="http://schemas.microsoft.com/office/drawing/2014/main" id="{8FAEB9B7-A392-4EA6-A3E1-59A50E2FA602}"/>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524250"/>
                <a:gridCol w="1857375"/>
                <a:gridCol w="1619250"/>
                <a:gridCol w="1857375"/>
                <a:gridCol w="1962150"/>
              </a:tblGrid>
              <a:tr h="742950">
                <a:tc>
                  <a:txBody>
                    <a:bodyPr/>
                    <a:lstStyle/>
                    <a:p>
                      <a:r>
                        <a:rPr sz="1650" b="1">
                          <a:solidFill>
                            <a:srgbClr val="F9F7F1"/>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Redaction F1</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46,829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bare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63,469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bare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63,469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1.570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0.160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130,413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0.579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A693C8A8-61F6-4A6C-8CA0-B58C71B7173C}"/>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Same selected diagnostic IDs across models; no claim of reliable note transformation</a:t>
            </a:r>
          </a:p>
        </p:txBody>
      </p:sp>
    </p:spTree>
    <p:extLst>
      <p:ext uri="{BB962C8B-B14F-4D97-AF65-F5344CB8AC3E}">
        <p14:creationId xmlns:p14="http://schemas.microsoft.com/office/powerpoint/2010/main" val="794658717"/>
      </p:ext>
    </p:extLst>
  </p:cSld>
</p:sld>
</file>

<file path=ppt/slides/slide1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D2E615C2-B027-4913-9564-AE0C05A57DC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 component trade-offs</a:t>
            </a:r>
          </a:p>
        </p:txBody>
      </p:sp>
      <p:sp>
        <p:nvSpPr>
          <p:cNvPr id="2" name="subtitle">
            <a:extLst xmlns:a="http://schemas.openxmlformats.org/drawingml/2006/main">
              <a:ext uri="{FF2B5EF4-FFF2-40B4-BE49-F238E27FC236}">
                <a16:creationId xmlns:a16="http://schemas.microsoft.com/office/drawing/2014/main" id="{FBA9EBF7-A2C5-4680-9F3F-615AC37B5BB5}"/>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Separate trained variants; one initialization seed</a:t>
            </a:r>
          </a:p>
        </p:txBody>
      </p:sp>
      <p:sp>
        <p:nvSpPr>
          <p:cNvPr id="3" name="page-number">
            <a:extLst xmlns:a="http://schemas.openxmlformats.org/drawingml/2006/main">
              <a:ext uri="{FF2B5EF4-FFF2-40B4-BE49-F238E27FC236}">
                <a16:creationId xmlns:a16="http://schemas.microsoft.com/office/drawing/2014/main" id="{63BD022B-B0AF-40E1-AE92-A538915EA3F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17</a:t>
            </a:r>
          </a:p>
        </p:txBody>
      </p:sp>
      <p:graphicFrame>
        <p:nvGraphicFramePr>
          <p:cNvPr id="4" name="">
            <a:extLst xmlns:a="http://schemas.openxmlformats.org/drawingml/2006/main">
              <a:ext uri="{FF2B5EF4-FFF2-40B4-BE49-F238E27FC236}">
                <a16:creationId xmlns:a16="http://schemas.microsoft.com/office/drawing/2014/main" id="{CC05A921-7997-4A60-8349-58CF263C5536}"/>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90875"/>
                <a:gridCol w="1714500"/>
                <a:gridCol w="1809750"/>
                <a:gridCol w="1952625"/>
                <a:gridCol w="2152650"/>
              </a:tblGrid>
              <a:tr h="742950">
                <a:tc>
                  <a:txBody>
                    <a:bodyPr/>
                    <a:lstStyle/>
                    <a:p>
                      <a:r>
                        <a:rPr sz="1650" b="1">
                          <a:solidFill>
                            <a:srgbClr val="F9F7F1"/>
                          </a:solidFill>
                          <a:latin typeface="Calibri"/>
                          <a:ea typeface="Calibri"/>
                          <a:cs typeface="Calibri"/>
                        </a:rPr>
                        <a:t>Variant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Recall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fields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transformer_2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1.431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40.9%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no_residual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1.586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72.7%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247C09E8-3A6E-4DAE-81A8-6DBCE725D7C8}"/>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A theoretical benefit is a hypothesis; report the actual direction for each metric</a:t>
            </a:r>
          </a:p>
        </p:txBody>
      </p:sp>
    </p:spTree>
    <p:extLst>
      <p:ext uri="{BB962C8B-B14F-4D97-AF65-F5344CB8AC3E}">
        <p14:creationId xmlns:p14="http://schemas.microsoft.com/office/powerpoint/2010/main" val="841369874"/>
      </p:ext>
    </p:extLst>
  </p:cSld>
</p:sld>
</file>

<file path=ppt/slides/slide1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08CE0706-E7EF-40D4-A7EA-5306CB55537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Checkpoint selection changes the story</a:t>
            </a:r>
          </a:p>
        </p:txBody>
      </p:sp>
      <p:sp>
        <p:nvSpPr>
          <p:cNvPr id="2" name="subtitle">
            <a:extLst xmlns:a="http://schemas.openxmlformats.org/drawingml/2006/main">
              <a:ext uri="{FF2B5EF4-FFF2-40B4-BE49-F238E27FC236}">
                <a16:creationId xmlns:a16="http://schemas.microsoft.com/office/drawing/2014/main" id="{667A9A5E-ADC7-4C92-86B4-CF5ED851D10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full architecture and 12 validation diagnostics</a:t>
            </a:r>
          </a:p>
        </p:txBody>
      </p:sp>
      <p:sp>
        <p:nvSpPr>
          <p:cNvPr id="3" name="page-number">
            <a:extLst xmlns:a="http://schemas.openxmlformats.org/drawingml/2006/main">
              <a:ext uri="{FF2B5EF4-FFF2-40B4-BE49-F238E27FC236}">
                <a16:creationId xmlns:a16="http://schemas.microsoft.com/office/drawing/2014/main" id="{73B06A9A-38DB-4848-9272-1D38096A9DE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18</a:t>
            </a:r>
          </a:p>
        </p:txBody>
      </p:sp>
      <p:graphicFrame>
        <p:nvGraphicFramePr>
          <p:cNvPr id="4" name="">
            <a:extLst xmlns:a="http://schemas.openxmlformats.org/drawingml/2006/main">
              <a:ext uri="{FF2B5EF4-FFF2-40B4-BE49-F238E27FC236}">
                <a16:creationId xmlns:a16="http://schemas.microsoft.com/office/drawing/2014/main" id="{2893DD28-5722-48A5-9FF5-5C8819DA4770}"/>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90875"/>
                <a:gridCol w="1333500"/>
                <a:gridCol w="1619250"/>
                <a:gridCol w="2381250"/>
                <a:gridCol w="2295525"/>
              </a:tblGrid>
              <a:tr h="1238250">
                <a:tc>
                  <a:txBody>
                    <a:bodyPr/>
                    <a:lstStyle/>
                    <a:p>
                      <a:r>
                        <a:rPr sz="1650" b="1">
                          <a:solidFill>
                            <a:srgbClr val="F9F7F1"/>
                          </a:solidFill>
                          <a:latin typeface="Calibri"/>
                          <a:ea typeface="Calibri"/>
                          <a:cs typeface="Calibri"/>
                        </a:rPr>
                        <a:t>Selection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Update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redactions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fields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1238250">
                <a:tc>
                  <a:txBody>
                    <a:bodyPr/>
                    <a:lstStyle/>
                    <a:p>
                      <a:r>
                        <a:rPr sz="1725">
                          <a:solidFill>
                            <a:srgbClr val="142D3C"/>
                          </a:solidFill>
                          <a:latin typeface="Calibri"/>
                          <a:ea typeface="Calibri"/>
                          <a:cs typeface="Calibri"/>
                        </a:rPr>
                        <a:t>Minimum validation loss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1238250">
                <a:tc>
                  <a:txBody>
                    <a:bodyPr/>
                    <a:lstStyle/>
                    <a:p>
                      <a:r>
                        <a:rPr sz="1725">
                          <a:solidFill>
                            <a:srgbClr val="142D3C"/>
                          </a:solidFill>
                          <a:latin typeface="Calibri"/>
                          <a:ea typeface="Calibri"/>
                          <a:cs typeface="Calibri"/>
                        </a:rPr>
                        <a:t>Latest training state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319391A8-81A4-43A1-BC9B-C705BB0CFF48}"/>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Perfect redaction on 22 identifiers still coexists with nine wrong clinical fields</a:t>
            </a:r>
          </a:p>
        </p:txBody>
      </p:sp>
    </p:spTree>
    <p:extLst>
      <p:ext uri="{BB962C8B-B14F-4D97-AF65-F5344CB8AC3E}">
        <p14:creationId xmlns:p14="http://schemas.microsoft.com/office/powerpoint/2010/main" val="706702190"/>
      </p:ext>
    </p:extLst>
  </p:cSld>
</p:sld>
</file>

<file path=ppt/slides/slide1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D67A8D1F-563C-472E-AD28-0EB3013F424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Individual heads affect this checkpoint</a:t>
            </a:r>
          </a:p>
        </p:txBody>
      </p:sp>
      <p:sp>
        <p:nvSpPr>
          <p:cNvPr id="2" name="subtitle">
            <a:extLst xmlns:a="http://schemas.openxmlformats.org/drawingml/2006/main">
              <a:ext uri="{FF2B5EF4-FFF2-40B4-BE49-F238E27FC236}">
                <a16:creationId xmlns:a16="http://schemas.microsoft.com/office/drawing/2014/main" id="{E17C5D32-A647-449D-B372-B6884B664D1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at update 400; eight validation diagnostics</a:t>
            </a:r>
          </a:p>
        </p:txBody>
      </p:sp>
      <p:sp>
        <p:nvSpPr>
          <p:cNvPr id="3" name="page-number">
            <a:extLst xmlns:a="http://schemas.openxmlformats.org/drawingml/2006/main">
              <a:ext uri="{FF2B5EF4-FFF2-40B4-BE49-F238E27FC236}">
                <a16:creationId xmlns:a16="http://schemas.microsoft.com/office/drawing/2014/main" id="{58FFDE4C-394F-4E8B-99FA-0409FDEA5C2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19</a:t>
            </a:r>
          </a:p>
        </p:txBody>
      </p:sp>
      <p:graphicFrame>
        <p:nvGraphicFramePr>
          <p:cNvPr id="4" name="">
            <a:extLst xmlns:a="http://schemas.openxmlformats.org/drawingml/2006/main">
              <a:ext uri="{FF2B5EF4-FFF2-40B4-BE49-F238E27FC236}">
                <a16:creationId xmlns:a16="http://schemas.microsoft.com/office/drawing/2014/main" id="{4EDB7E8C-556C-4F57-AED8-077CF53BAF98}"/>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619375"/>
                <a:gridCol w="2809875"/>
                <a:gridCol w="2857500"/>
                <a:gridCol w="2533650"/>
              </a:tblGrid>
              <a:tr h="448733">
                <a:tc>
                  <a:txBody>
                    <a:bodyPr/>
                    <a:lstStyle/>
                    <a:p>
                      <a:r>
                        <a:rPr sz="1650" b="1">
                          <a:solidFill>
                            <a:srgbClr val="F9F7F1"/>
                          </a:solidFill>
                          <a:latin typeface="Calibri"/>
                          <a:ea typeface="Calibri"/>
                          <a:cs typeface="Calibri"/>
                        </a:rPr>
                        <a:t>Disabled head</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Recall after ablation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Change in recall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L0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-6.7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-13.3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-13.3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0FA4EF7E-D1D0-4005-A171-067390C84E51}"/>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Layer/head indices start at 0; dependence is not a semantic role</a:t>
            </a:r>
          </a:p>
        </p:txBody>
      </p:sp>
    </p:spTree>
    <p:extLst>
      <p:ext uri="{BB962C8B-B14F-4D97-AF65-F5344CB8AC3E}">
        <p14:creationId xmlns:p14="http://schemas.microsoft.com/office/powerpoint/2010/main" val="317019925"/>
      </p:ext>
    </p:extLst>
  </p:cSld>
</p:sld>
</file>

<file path=ppt/slides/slide2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4EA805B6-E0B3-410F-806B-4240B90314D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Controlled context: inspect the actual result</a:t>
            </a:r>
          </a:p>
        </p:txBody>
      </p:sp>
      <p:sp>
        <p:nvSpPr>
          <p:cNvPr id="2" name="subtitle">
            <a:extLst xmlns:a="http://schemas.openxmlformats.org/drawingml/2006/main">
              <a:ext uri="{FF2B5EF4-FFF2-40B4-BE49-F238E27FC236}">
                <a16:creationId xmlns:a16="http://schemas.microsoft.com/office/drawing/2014/main" id="{8004D8AF-66CC-4F4C-B723-36D311516DF1}"/>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source character changes; output prefix and query position stay fixed</a:t>
            </a:r>
          </a:p>
        </p:txBody>
      </p:sp>
      <p:sp>
        <p:nvSpPr>
          <p:cNvPr id="3" name="page-number">
            <a:extLst xmlns:a="http://schemas.openxmlformats.org/drawingml/2006/main">
              <a:ext uri="{FF2B5EF4-FFF2-40B4-BE49-F238E27FC236}">
                <a16:creationId xmlns:a16="http://schemas.microsoft.com/office/drawing/2014/main" id="{0B1FFB46-DBB3-4E5F-AFBB-480F18E789F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20</a:t>
            </a:r>
          </a:p>
        </p:txBody>
      </p:sp>
      <p:graphicFrame>
        <p:nvGraphicFramePr>
          <p:cNvPr id="4" name="">
            <a:extLst xmlns:a="http://schemas.openxmlformats.org/drawingml/2006/main">
              <a:ext uri="{FF2B5EF4-FFF2-40B4-BE49-F238E27FC236}">
                <a16:creationId xmlns:a16="http://schemas.microsoft.com/office/drawing/2014/main" id="{443B086E-5893-4935-82F8-6E4BFBDB6290}"/>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524250"/>
                <a:gridCol w="2095500"/>
                <a:gridCol w="2095500"/>
                <a:gridCol w="3105150"/>
              </a:tblGrid>
              <a:tr h="650875">
                <a:tc>
                  <a:txBody>
                    <a:bodyPr/>
                    <a:lstStyle/>
                    <a:p>
                      <a:r>
                        <a:rPr sz="1650" b="1">
                          <a:solidFill>
                            <a:srgbClr val="F9F7F1"/>
                          </a:solidFill>
                          <a:latin typeface="Calibri"/>
                          <a:ea typeface="Calibri"/>
                          <a:cs typeface="Calibri"/>
                        </a:rPr>
                        <a:t>Checkpoint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Source DrugA</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Source DrugB</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embedding_only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single_attention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multi_attention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transformer_2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Tiny four-note pilot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small grammar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EA175CED-9329-4B04-AB96-0A1C82D89661}"/>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Attention makes context use possible; these checkpoints must demonstrate it</a:t>
            </a:r>
          </a:p>
        </p:txBody>
      </p:sp>
    </p:spTree>
    <p:extLst>
      <p:ext uri="{BB962C8B-B14F-4D97-AF65-F5344CB8AC3E}">
        <p14:creationId xmlns:p14="http://schemas.microsoft.com/office/powerpoint/2010/main" val="95189114"/>
      </p:ext>
    </p:extLst>
  </p:cSld>
</p:sld>
</file>

<file path=ppt/slides/slide2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1A3CEA96-6EB3-4348-ADA0-B3129AB71B6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Sampling temperature affects reliability</a:t>
            </a:r>
          </a:p>
        </p:txBody>
      </p:sp>
      <p:sp>
        <p:nvSpPr>
          <p:cNvPr id="2" name="subtitle">
            <a:extLst xmlns:a="http://schemas.openxmlformats.org/drawingml/2006/main">
              <a:ext uri="{FF2B5EF4-FFF2-40B4-BE49-F238E27FC236}">
                <a16:creationId xmlns:a16="http://schemas.microsoft.com/office/drawing/2014/main" id="{0F71BE5E-BBC9-4E0C-B60B-DD7BB5B9CAF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update-400 model, eight notes and sampling seeds</a:t>
            </a:r>
          </a:p>
        </p:txBody>
      </p:sp>
      <p:sp>
        <p:nvSpPr>
          <p:cNvPr id="3" name="page-number">
            <a:extLst xmlns:a="http://schemas.openxmlformats.org/drawingml/2006/main">
              <a:ext uri="{FF2B5EF4-FFF2-40B4-BE49-F238E27FC236}">
                <a16:creationId xmlns:a16="http://schemas.microsoft.com/office/drawing/2014/main" id="{C5F860B3-B16A-491A-8057-2471CC56B51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21</a:t>
            </a:r>
          </a:p>
        </p:txBody>
      </p:sp>
      <p:graphicFrame>
        <p:nvGraphicFramePr>
          <p:cNvPr id="4" name="">
            <a:extLst xmlns:a="http://schemas.openxmlformats.org/drawingml/2006/main">
              <a:ext uri="{FF2B5EF4-FFF2-40B4-BE49-F238E27FC236}">
                <a16:creationId xmlns:a16="http://schemas.microsoft.com/office/drawing/2014/main" id="{0A9524D0-AFD0-4F44-89BF-A9EC7D67F106}"/>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476500"/>
                <a:gridCol w="3143250"/>
                <a:gridCol w="2476500"/>
                <a:gridCol w="2724150"/>
              </a:tblGrid>
              <a:tr h="928688">
                <a:tc>
                  <a:txBody>
                    <a:bodyPr/>
                    <a:lstStyle/>
                    <a:p>
                      <a:r>
                        <a:rPr sz="1650" b="1">
                          <a:solidFill>
                            <a:srgbClr val="F9F7F1"/>
                          </a:solidFill>
                          <a:latin typeface="Calibri"/>
                          <a:ea typeface="Calibri"/>
                          <a:cs typeface="Calibri"/>
                        </a:rPr>
                        <a:t>Temperature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redactions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Valid EOS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0.1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0.7</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1.2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84B0A981-3072-46D6-B6D4-E89883295161}"/>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No temperature can guarantee accurate redaction or content preservation</a:t>
            </a:r>
          </a:p>
        </p:txBody>
      </p:sp>
    </p:spTree>
    <p:extLst>
      <p:ext uri="{BB962C8B-B14F-4D97-AF65-F5344CB8AC3E}">
        <p14:creationId xmlns:p14="http://schemas.microsoft.com/office/powerpoint/2010/main" val="737613945"/>
      </p:ext>
    </p:extLst>
  </p:cSld>
</p:sld>
</file>

<file path=ppt/slides/slide2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4296EE9A-8CF7-4CDB-B220-78469526AEE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Week 5: a modest measured improvement</a:t>
            </a:r>
          </a:p>
        </p:txBody>
      </p:sp>
      <p:sp>
        <p:nvSpPr>
          <p:cNvPr id="2" name="subtitle">
            <a:extLst xmlns:a="http://schemas.openxmlformats.org/drawingml/2006/main">
              <a:ext uri="{FF2B5EF4-FFF2-40B4-BE49-F238E27FC236}">
                <a16:creationId xmlns:a16="http://schemas.microsoft.com/office/drawing/2014/main" id="{C0541323-8917-4CB4-B881-BFBC0CE140A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Saved next-token evaluation on synthetic workflow sequences</a:t>
            </a:r>
          </a:p>
        </p:txBody>
      </p:sp>
      <p:sp>
        <p:nvSpPr>
          <p:cNvPr id="3" name="page-number">
            <a:extLst xmlns:a="http://schemas.openxmlformats.org/drawingml/2006/main">
              <a:ext uri="{FF2B5EF4-FFF2-40B4-BE49-F238E27FC236}">
                <a16:creationId xmlns:a16="http://schemas.microsoft.com/office/drawing/2014/main" id="{476EDD33-62DB-45A2-A868-029CE4234AA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22</a:t>
            </a:r>
          </a:p>
        </p:txBody>
      </p:sp>
      <p:graphicFrame>
        <p:nvGraphicFramePr>
          <p:cNvPr id="4" name="">
            <a:extLst xmlns:a="http://schemas.openxmlformats.org/drawingml/2006/main">
              <a:ext uri="{FF2B5EF4-FFF2-40B4-BE49-F238E27FC236}">
                <a16:creationId xmlns:a16="http://schemas.microsoft.com/office/drawing/2014/main" id="{B30DF8C4-0357-479C-A9C6-40A38FE681B7}"/>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714500"/>
                <a:gridCol w="2190750"/>
                <a:gridCol w="1905000"/>
                <a:gridCol w="1866900"/>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Accuracy: mean ± SD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Macro F1</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 linear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69.69% ± 0.77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1.547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0.407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64.06% ± 3.56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2.073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0.355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62.81% ± 3.62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2.234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0.326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D: 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 ± 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3999819B-9615-4CE8-B987-7604AC8E929A}"/>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5 initialization seeds, one split, 64 scored test tokens per run. These are Week 5 results</a:t>
            </a:r>
          </a:p>
        </p:txBody>
      </p:sp>
    </p:spTree>
    <p:extLst>
      <p:ext uri="{BB962C8B-B14F-4D97-AF65-F5344CB8AC3E}">
        <p14:creationId xmlns:p14="http://schemas.microsoft.com/office/powerpoint/2010/main" val="1286003141"/>
      </p:ext>
    </p:extLst>
  </p:cSld>
</p:sld>
</file>

<file path=ppt/slides/slide2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B4DDE2D-36D3-44FB-9E6C-44AFDD127AD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Demonstrate three kinds of evidence</a:t>
            </a:r>
          </a:p>
        </p:txBody>
      </p:sp>
      <p:sp>
        <p:nvSpPr>
          <p:cNvPr id="2" name="subtitle">
            <a:extLst xmlns:a="http://schemas.openxmlformats.org/drawingml/2006/main">
              <a:ext uri="{FF2B5EF4-FFF2-40B4-BE49-F238E27FC236}">
                <a16:creationId xmlns:a16="http://schemas.microsoft.com/office/drawing/2014/main" id="{3340B35B-8C92-4744-A5F8-DA6CCC95154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Live continuations and saved measurements are labeled separately</a:t>
            </a:r>
          </a:p>
        </p:txBody>
      </p:sp>
      <p:sp>
        <p:nvSpPr>
          <p:cNvPr id="3" name="page-number">
            <a:extLst xmlns:a="http://schemas.openxmlformats.org/drawingml/2006/main">
              <a:ext uri="{FF2B5EF4-FFF2-40B4-BE49-F238E27FC236}">
                <a16:creationId xmlns:a16="http://schemas.microsoft.com/office/drawing/2014/main" id="{58DF1DF1-7D82-4CAF-9559-D7917228696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23</a:t>
            </a:r>
          </a:p>
        </p:txBody>
      </p:sp>
      <p:graphicFrame>
        <p:nvGraphicFramePr>
          <p:cNvPr id="4" name="">
            <a:extLst xmlns:a="http://schemas.openxmlformats.org/drawingml/2006/main">
              <a:ext uri="{FF2B5EF4-FFF2-40B4-BE49-F238E27FC236}">
                <a16:creationId xmlns:a16="http://schemas.microsoft.com/office/drawing/2014/main" id="{5466DE99-F84A-47FA-BB09-7D9EEFE1EE2D}"/>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667000"/>
                <a:gridCol w="4191000"/>
                <a:gridCol w="3962400"/>
              </a:tblGrid>
              <a:tr h="928688">
                <a:tc>
                  <a:txBody>
                    <a:bodyPr/>
                    <a:lstStyle/>
                    <a:p>
                      <a:r>
                        <a:rPr sz="1650" b="1">
                          <a:solidFill>
                            <a:srgbClr val="F9F7F1"/>
                          </a:solidFill>
                          <a:latin typeface="Calibri"/>
                          <a:ea typeface="Calibri"/>
                          <a:cs typeface="Calibri"/>
                        </a:rPr>
                        <a:t>Gradio view</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Explanation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Compare models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Same synthetic note; select A/B/C or latest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Show actual continuation, checkpoint and stop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Inspect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One exact query; then disable one head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Routing pattern versus intervention effect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Compare components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Load saved curves, reports and partitions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retrained variants and sample sizes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992606904"/>
      </p:ext>
    </p:extLst>
  </p:cSld>
</p:sld>
</file>

<file path=ppt/slides/slide24.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E8DC41BD-EEF4-452C-B0BF-542E755BBC4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9F7F1"/>
                </a:solidFill>
                <a:latin typeface="Calibri"/>
                <a:ea typeface="Calibri"/>
                <a:cs typeface="Calibri"/>
              </a:defRPr>
            </a:defPPr>
            <a:lvl1pPr>
              <a:defRPr sz="3225" b="1">
                <a:solidFill>
                  <a:srgbClr val="F9F7F1"/>
                </a:solidFill>
                <a:latin typeface="Calibri"/>
                <a:ea typeface="Calibri"/>
                <a:cs typeface="Calibri"/>
              </a:defRPr>
            </a:lvl1pPr>
            <a:lvl2pPr>
              <a:defRPr sz="3225" b="1">
                <a:solidFill>
                  <a:srgbClr val="F9F7F1"/>
                </a:solidFill>
                <a:latin typeface="Calibri"/>
                <a:ea typeface="Calibri"/>
                <a:cs typeface="Calibri"/>
              </a:defRPr>
            </a:lvl2pPr>
            <a:lvl3pPr>
              <a:defRPr sz="3225" b="1">
                <a:solidFill>
                  <a:srgbClr val="F9F7F1"/>
                </a:solidFill>
                <a:latin typeface="Calibri"/>
                <a:ea typeface="Calibri"/>
                <a:cs typeface="Calibri"/>
              </a:defRPr>
            </a:lvl3pPr>
            <a:lvl4pPr>
              <a:defRPr sz="3225" b="1">
                <a:solidFill>
                  <a:srgbClr val="F9F7F1"/>
                </a:solidFill>
                <a:latin typeface="Calibri"/>
                <a:ea typeface="Calibri"/>
                <a:cs typeface="Calibri"/>
              </a:defRPr>
            </a:lvl4pPr>
            <a:lvl5pPr>
              <a:defRPr sz="3225" b="1">
                <a:solidFill>
                  <a:srgbClr val="F9F7F1"/>
                </a:solidFill>
                <a:latin typeface="Calibri"/>
                <a:ea typeface="Calibri"/>
                <a:cs typeface="Calibri"/>
              </a:defRPr>
            </a:lvl5pPr>
            <a:lvl6pPr>
              <a:defRPr sz="3225" b="1">
                <a:solidFill>
                  <a:srgbClr val="F9F7F1"/>
                </a:solidFill>
                <a:latin typeface="Calibri"/>
                <a:ea typeface="Calibri"/>
                <a:cs typeface="Calibri"/>
              </a:defRPr>
            </a:lvl6pPr>
            <a:lvl7pPr>
              <a:defRPr sz="3225" b="1">
                <a:solidFill>
                  <a:srgbClr val="F9F7F1"/>
                </a:solidFill>
                <a:latin typeface="Calibri"/>
                <a:ea typeface="Calibri"/>
                <a:cs typeface="Calibri"/>
              </a:defRPr>
            </a:lvl7pPr>
            <a:lvl8pPr>
              <a:defRPr sz="3225" b="1">
                <a:solidFill>
                  <a:srgbClr val="F9F7F1"/>
                </a:solidFill>
                <a:latin typeface="Calibri"/>
                <a:ea typeface="Calibri"/>
                <a:cs typeface="Calibri"/>
              </a:defRPr>
            </a:lvl8pPr>
            <a:lvl9pPr>
              <a:defRPr sz="3225" b="1">
                <a:solidFill>
                  <a:srgbClr val="F9F7F1"/>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F9F7F1"/>
                </a:solidFill>
                <a:latin typeface="Calibri"/>
                <a:ea typeface="Calibri"/>
                <a:cs typeface="Calibri"/>
              </a:rPr>
              <a:t>What this work teaches us</a:t>
            </a:r>
          </a:p>
        </p:txBody>
      </p:sp>
      <p:sp>
        <p:nvSpPr>
          <p:cNvPr id="2" name="subtitle">
            <a:extLst xmlns:a="http://schemas.openxmlformats.org/drawingml/2006/main">
              <a:ext uri="{FF2B5EF4-FFF2-40B4-BE49-F238E27FC236}">
                <a16:creationId xmlns:a16="http://schemas.microsoft.com/office/drawing/2014/main" id="{DAFD573A-2B70-44C4-8483-650FDEFCB58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CAD7D8"/>
                </a:solidFill>
                <a:latin typeface="Calibri"/>
                <a:ea typeface="Calibri"/>
                <a:cs typeface="Calibri"/>
              </a:defRPr>
            </a:defPPr>
            <a:lvl1pPr>
              <a:defRPr sz="1800" b="0">
                <a:solidFill>
                  <a:srgbClr val="CAD7D8"/>
                </a:solidFill>
                <a:latin typeface="Calibri"/>
                <a:ea typeface="Calibri"/>
                <a:cs typeface="Calibri"/>
              </a:defRPr>
            </a:lvl1pPr>
            <a:lvl2pPr>
              <a:defRPr sz="1800" b="0">
                <a:solidFill>
                  <a:srgbClr val="CAD7D8"/>
                </a:solidFill>
                <a:latin typeface="Calibri"/>
                <a:ea typeface="Calibri"/>
                <a:cs typeface="Calibri"/>
              </a:defRPr>
            </a:lvl2pPr>
            <a:lvl3pPr>
              <a:defRPr sz="1800" b="0">
                <a:solidFill>
                  <a:srgbClr val="CAD7D8"/>
                </a:solidFill>
                <a:latin typeface="Calibri"/>
                <a:ea typeface="Calibri"/>
                <a:cs typeface="Calibri"/>
              </a:defRPr>
            </a:lvl3pPr>
            <a:lvl4pPr>
              <a:defRPr sz="1800" b="0">
                <a:solidFill>
                  <a:srgbClr val="CAD7D8"/>
                </a:solidFill>
                <a:latin typeface="Calibri"/>
                <a:ea typeface="Calibri"/>
                <a:cs typeface="Calibri"/>
              </a:defRPr>
            </a:lvl4pPr>
            <a:lvl5pPr>
              <a:defRPr sz="1800" b="0">
                <a:solidFill>
                  <a:srgbClr val="CAD7D8"/>
                </a:solidFill>
                <a:latin typeface="Calibri"/>
                <a:ea typeface="Calibri"/>
                <a:cs typeface="Calibri"/>
              </a:defRPr>
            </a:lvl5pPr>
            <a:lvl6pPr>
              <a:defRPr sz="1800" b="0">
                <a:solidFill>
                  <a:srgbClr val="CAD7D8"/>
                </a:solidFill>
                <a:latin typeface="Calibri"/>
                <a:ea typeface="Calibri"/>
                <a:cs typeface="Calibri"/>
              </a:defRPr>
            </a:lvl6pPr>
            <a:lvl7pPr>
              <a:defRPr sz="1800" b="0">
                <a:solidFill>
                  <a:srgbClr val="CAD7D8"/>
                </a:solidFill>
                <a:latin typeface="Calibri"/>
                <a:ea typeface="Calibri"/>
                <a:cs typeface="Calibri"/>
              </a:defRPr>
            </a:lvl7pPr>
            <a:lvl8pPr>
              <a:defRPr sz="1800" b="0">
                <a:solidFill>
                  <a:srgbClr val="CAD7D8"/>
                </a:solidFill>
                <a:latin typeface="Calibri"/>
                <a:ea typeface="Calibri"/>
                <a:cs typeface="Calibri"/>
              </a:defRPr>
            </a:lvl8pPr>
            <a:lvl9pPr>
              <a:defRPr sz="1800" b="0">
                <a:solidFill>
                  <a:srgbClr val="CAD7D8"/>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CAD7D8"/>
                </a:solidFill>
                <a:latin typeface="Calibri"/>
                <a:ea typeface="Calibri"/>
                <a:cs typeface="Calibri"/>
              </a:rPr>
              <a:t>A GPT learns parameters that turn a prefix into the next-token distribution</a:t>
            </a:r>
          </a:p>
        </p:txBody>
      </p:sp>
      <p:sp>
        <p:nvSpPr>
          <p:cNvPr id="3" name="page-number">
            <a:extLst xmlns:a="http://schemas.openxmlformats.org/drawingml/2006/main">
              <a:ext uri="{FF2B5EF4-FFF2-40B4-BE49-F238E27FC236}">
                <a16:creationId xmlns:a16="http://schemas.microsoft.com/office/drawing/2014/main" id="{2360947E-2403-4661-B2AB-9697D7CBA2C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CAD7D8"/>
                </a:solidFill>
                <a:latin typeface="Calibri"/>
                <a:ea typeface="Calibri"/>
                <a:cs typeface="Calibri"/>
              </a:defRPr>
            </a:defPPr>
            <a:lvl1pPr>
              <a:defRPr sz="1350" b="0">
                <a:solidFill>
                  <a:srgbClr val="CAD7D8"/>
                </a:solidFill>
                <a:latin typeface="Calibri"/>
                <a:ea typeface="Calibri"/>
                <a:cs typeface="Calibri"/>
              </a:defRPr>
            </a:lvl1pPr>
            <a:lvl2pPr>
              <a:defRPr sz="1350" b="0">
                <a:solidFill>
                  <a:srgbClr val="CAD7D8"/>
                </a:solidFill>
                <a:latin typeface="Calibri"/>
                <a:ea typeface="Calibri"/>
                <a:cs typeface="Calibri"/>
              </a:defRPr>
            </a:lvl2pPr>
            <a:lvl3pPr>
              <a:defRPr sz="1350" b="0">
                <a:solidFill>
                  <a:srgbClr val="CAD7D8"/>
                </a:solidFill>
                <a:latin typeface="Calibri"/>
                <a:ea typeface="Calibri"/>
                <a:cs typeface="Calibri"/>
              </a:defRPr>
            </a:lvl3pPr>
            <a:lvl4pPr>
              <a:defRPr sz="1350" b="0">
                <a:solidFill>
                  <a:srgbClr val="CAD7D8"/>
                </a:solidFill>
                <a:latin typeface="Calibri"/>
                <a:ea typeface="Calibri"/>
                <a:cs typeface="Calibri"/>
              </a:defRPr>
            </a:lvl4pPr>
            <a:lvl5pPr>
              <a:defRPr sz="1350" b="0">
                <a:solidFill>
                  <a:srgbClr val="CAD7D8"/>
                </a:solidFill>
                <a:latin typeface="Calibri"/>
                <a:ea typeface="Calibri"/>
                <a:cs typeface="Calibri"/>
              </a:defRPr>
            </a:lvl5pPr>
            <a:lvl6pPr>
              <a:defRPr sz="1350" b="0">
                <a:solidFill>
                  <a:srgbClr val="CAD7D8"/>
                </a:solidFill>
                <a:latin typeface="Calibri"/>
                <a:ea typeface="Calibri"/>
                <a:cs typeface="Calibri"/>
              </a:defRPr>
            </a:lvl6pPr>
            <a:lvl7pPr>
              <a:defRPr sz="1350" b="0">
                <a:solidFill>
                  <a:srgbClr val="CAD7D8"/>
                </a:solidFill>
                <a:latin typeface="Calibri"/>
                <a:ea typeface="Calibri"/>
                <a:cs typeface="Calibri"/>
              </a:defRPr>
            </a:lvl7pPr>
            <a:lvl8pPr>
              <a:defRPr sz="1350" b="0">
                <a:solidFill>
                  <a:srgbClr val="CAD7D8"/>
                </a:solidFill>
                <a:latin typeface="Calibri"/>
                <a:ea typeface="Calibri"/>
                <a:cs typeface="Calibri"/>
              </a:defRPr>
            </a:lvl8pPr>
            <a:lvl9pPr>
              <a:defRPr sz="1350" b="0">
                <a:solidFill>
                  <a:srgbClr val="CAD7D8"/>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CAD7D8"/>
                </a:solidFill>
                <a:latin typeface="Calibri"/>
                <a:ea typeface="Calibri"/>
                <a:cs typeface="Calibri"/>
              </a:rPr>
              <a:t>24</a:t>
            </a:r>
          </a:p>
        </p:txBody>
      </p:sp>
      <p:sp>
        <p:nvSpPr>
          <p:cNvPr id="4" name="body">
            <a:extLst xmlns:a="http://schemas.openxmlformats.org/drawingml/2006/main">
              <a:ext uri="{FF2B5EF4-FFF2-40B4-BE49-F238E27FC236}">
                <a16:creationId xmlns:a16="http://schemas.microsoft.com/office/drawing/2014/main" id="{392B483B-2E9F-40CE-B294-1EF99550F63E}"/>
              </a:ext>
            </a:extLst>
          </p:cNvPr>
          <p:cNvSpPr>
            <a:spLocks xmlns:a="http://schemas.openxmlformats.org/drawingml/2006/main" noGrp="1"/>
          </p:cNvSpPr>
          <p:nvPr/>
        </p:nvSpPr>
        <p:spPr>
          <a:xfrm xmlns:a="http://schemas.openxmlformats.org/drawingml/2006/main">
            <a:off x="685800" y="24288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Mechanism</a:t>
            </a:r>
          </a:p>
        </p:txBody>
      </p:sp>
      <p:sp>
        <p:nvSpPr>
          <p:cNvPr id="5" name="body">
            <a:extLst xmlns:a="http://schemas.openxmlformats.org/drawingml/2006/main">
              <a:ext uri="{FF2B5EF4-FFF2-40B4-BE49-F238E27FC236}">
                <a16:creationId xmlns:a16="http://schemas.microsoft.com/office/drawing/2014/main" id="{CC2A0E58-8217-45C7-961C-223DCBCDD7FC}"/>
              </a:ext>
            </a:extLst>
          </p:cNvPr>
          <p:cNvSpPr>
            <a:spLocks xmlns:a="http://schemas.openxmlformats.org/drawingml/2006/main" noGrp="1"/>
          </p:cNvSpPr>
          <p:nvPr/>
        </p:nvSpPr>
        <p:spPr>
          <a:xfrm xmlns:a="http://schemas.openxmlformats.org/drawingml/2006/main">
            <a:off x="3714750" y="24288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We can trace and verify the complete next-token path</a:t>
            </a:r>
          </a:p>
        </p:txBody>
      </p:sp>
      <p:sp>
        <p:nvSpPr>
          <p:cNvPr id="6" name="body">
            <a:extLst xmlns:a="http://schemas.openxmlformats.org/drawingml/2006/main">
              <a:ext uri="{FF2B5EF4-FFF2-40B4-BE49-F238E27FC236}">
                <a16:creationId xmlns:a16="http://schemas.microsoft.com/office/drawing/2014/main" id="{DEA3F5D9-E22B-4EEB-8564-890E15B0B774}"/>
              </a:ext>
            </a:extLst>
          </p:cNvPr>
          <p:cNvSpPr>
            <a:spLocks xmlns:a="http://schemas.openxmlformats.org/drawingml/2006/main" noGrp="1"/>
          </p:cNvSpPr>
          <p:nvPr/>
        </p:nvSpPr>
        <p:spPr>
          <a:xfrm xmlns:a="http://schemas.openxmlformats.org/drawingml/2006/main">
            <a:off x="685800" y="34766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Evidence</a:t>
            </a:r>
          </a:p>
        </p:txBody>
      </p:sp>
      <p:sp>
        <p:nvSpPr>
          <p:cNvPr id="7" name="body">
            <a:extLst xmlns:a="http://schemas.openxmlformats.org/drawingml/2006/main">
              <a:ext uri="{FF2B5EF4-FFF2-40B4-BE49-F238E27FC236}">
                <a16:creationId xmlns:a16="http://schemas.microsoft.com/office/drawing/2014/main" id="{19A671F0-E483-4F45-963E-DD80632B2F6E}"/>
              </a:ext>
            </a:extLst>
          </p:cNvPr>
          <p:cNvSpPr>
            <a:spLocks xmlns:a="http://schemas.openxmlformats.org/drawingml/2006/main" noGrp="1"/>
          </p:cNvSpPr>
          <p:nvPr/>
        </p:nvSpPr>
        <p:spPr>
          <a:xfrm xmlns:a="http://schemas.openxmlformats.org/drawingml/2006/main">
            <a:off x="3714750" y="347662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Low leakage can coexist with poor clinical preservation</a:t>
            </a:r>
          </a:p>
        </p:txBody>
      </p:sp>
      <p:sp>
        <p:nvSpPr>
          <p:cNvPr id="8" name="body">
            <a:extLst xmlns:a="http://schemas.openxmlformats.org/drawingml/2006/main">
              <a:ext uri="{FF2B5EF4-FFF2-40B4-BE49-F238E27FC236}">
                <a16:creationId xmlns:a16="http://schemas.microsoft.com/office/drawing/2014/main" id="{72252987-1536-43BF-966D-890180C4575D}"/>
              </a:ext>
            </a:extLst>
          </p:cNvPr>
          <p:cNvSpPr>
            <a:spLocks xmlns:a="http://schemas.openxmlformats.org/drawingml/2006/main" noGrp="1"/>
          </p:cNvSpPr>
          <p:nvPr/>
        </p:nvSpPr>
        <p:spPr>
          <a:xfrm xmlns:a="http://schemas.openxmlformats.org/drawingml/2006/main">
            <a:off x="685800" y="45243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Judgment</a:t>
            </a:r>
          </a:p>
        </p:txBody>
      </p:sp>
      <p:sp>
        <p:nvSpPr>
          <p:cNvPr id="9" name="body">
            <a:extLst xmlns:a="http://schemas.openxmlformats.org/drawingml/2006/main">
              <a:ext uri="{FF2B5EF4-FFF2-40B4-BE49-F238E27FC236}">
                <a16:creationId xmlns:a16="http://schemas.microsoft.com/office/drawing/2014/main" id="{9DE74A0F-1A1A-46C0-9796-AE64EBA179FA}"/>
              </a:ext>
            </a:extLst>
          </p:cNvPr>
          <p:cNvSpPr>
            <a:spLocks xmlns:a="http://schemas.openxmlformats.org/drawingml/2006/main" noGrp="1"/>
          </p:cNvSpPr>
          <p:nvPr/>
        </p:nvSpPr>
        <p:spPr>
          <a:xfrm xmlns:a="http://schemas.openxmlformats.org/drawingml/2006/main">
            <a:off x="3714750" y="45243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Loss, checkpoint selection and task quality can disagree</a:t>
            </a:r>
          </a:p>
        </p:txBody>
      </p:sp>
      <p:sp>
        <p:nvSpPr>
          <p:cNvPr id="10" name="body">
            <a:extLst xmlns:a="http://schemas.openxmlformats.org/drawingml/2006/main">
              <a:ext uri="{FF2B5EF4-FFF2-40B4-BE49-F238E27FC236}">
                <a16:creationId xmlns:a16="http://schemas.microsoft.com/office/drawing/2014/main" id="{D1AF829E-00A8-4776-B5C0-D85CEDF6DC9E}"/>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AD7D8"/>
                </a:solidFill>
                <a:latin typeface="Calibri"/>
                <a:ea typeface="Calibri"/>
                <a:cs typeface="Calibri"/>
              </a:defRPr>
            </a:defPPr>
            <a:lvl1pPr>
              <a:defRPr sz="1650" b="0">
                <a:solidFill>
                  <a:srgbClr val="CAD7D8"/>
                </a:solidFill>
                <a:latin typeface="Calibri"/>
                <a:ea typeface="Calibri"/>
                <a:cs typeface="Calibri"/>
              </a:defRPr>
            </a:lvl1pPr>
            <a:lvl2pPr>
              <a:defRPr sz="1650" b="0">
                <a:solidFill>
                  <a:srgbClr val="CAD7D8"/>
                </a:solidFill>
                <a:latin typeface="Calibri"/>
                <a:ea typeface="Calibri"/>
                <a:cs typeface="Calibri"/>
              </a:defRPr>
            </a:lvl2pPr>
            <a:lvl3pPr>
              <a:defRPr sz="1650" b="0">
                <a:solidFill>
                  <a:srgbClr val="CAD7D8"/>
                </a:solidFill>
                <a:latin typeface="Calibri"/>
                <a:ea typeface="Calibri"/>
                <a:cs typeface="Calibri"/>
              </a:defRPr>
            </a:lvl3pPr>
            <a:lvl4pPr>
              <a:defRPr sz="1650" b="0">
                <a:solidFill>
                  <a:srgbClr val="CAD7D8"/>
                </a:solidFill>
                <a:latin typeface="Calibri"/>
                <a:ea typeface="Calibri"/>
                <a:cs typeface="Calibri"/>
              </a:defRPr>
            </a:lvl4pPr>
            <a:lvl5pPr>
              <a:defRPr sz="1650" b="0">
                <a:solidFill>
                  <a:srgbClr val="CAD7D8"/>
                </a:solidFill>
                <a:latin typeface="Calibri"/>
                <a:ea typeface="Calibri"/>
                <a:cs typeface="Calibri"/>
              </a:defRPr>
            </a:lvl5pPr>
            <a:lvl6pPr>
              <a:defRPr sz="1650" b="0">
                <a:solidFill>
                  <a:srgbClr val="CAD7D8"/>
                </a:solidFill>
                <a:latin typeface="Calibri"/>
                <a:ea typeface="Calibri"/>
                <a:cs typeface="Calibri"/>
              </a:defRPr>
            </a:lvl6pPr>
            <a:lvl7pPr>
              <a:defRPr sz="1650" b="0">
                <a:solidFill>
                  <a:srgbClr val="CAD7D8"/>
                </a:solidFill>
                <a:latin typeface="Calibri"/>
                <a:ea typeface="Calibri"/>
                <a:cs typeface="Calibri"/>
              </a:defRPr>
            </a:lvl7pPr>
            <a:lvl8pPr>
              <a:defRPr sz="1650" b="0">
                <a:solidFill>
                  <a:srgbClr val="CAD7D8"/>
                </a:solidFill>
                <a:latin typeface="Calibri"/>
                <a:ea typeface="Calibri"/>
                <a:cs typeface="Calibri"/>
              </a:defRPr>
            </a:lvl8pPr>
            <a:lvl9pPr>
              <a:defRPr sz="1650" b="0">
                <a:solidFill>
                  <a:srgbClr val="CAD7D8"/>
                </a:solidFill>
                <a:latin typeface="Calibri"/>
                <a:ea typeface="Calibri"/>
                <a:cs typeface="Calibri"/>
              </a:defRPr>
            </a:lvl9pPr>
          </a:lstStyle>
          <a:p xmlns:a="http://schemas.openxmlformats.org/drawingml/2006/main">
            <a:pPr>
              <a:defRPr sz="1650" b="0">
                <a:solidFill>
                  <a:srgbClr val="CAD7D8"/>
                </a:solidFill>
                <a:latin typeface="Calibri"/>
                <a:ea typeface="Calibri"/>
                <a:cs typeface="Calibri"/>
              </a:defRPr>
            </a:pPr>
            <a:r>
              <a:rPr sz="1650" b="0">
                <a:solidFill>
                  <a:srgbClr val="CAD7D8"/>
                </a:solidFill>
                <a:latin typeface="Calibri"/>
                <a:ea typeface="Calibri"/>
                <a:cs typeface="Calibri"/>
              </a:rPr>
              <a:t>A useful finding includes the failure case and the limit of the experiment</a:t>
            </a:r>
          </a:p>
        </p:txBody>
      </p:sp>
    </p:spTree>
    <p:extLst>
      <p:ext uri="{BB962C8B-B14F-4D97-AF65-F5344CB8AC3E}">
        <p14:creationId xmlns:p14="http://schemas.microsoft.com/office/powerpoint/2010/main" val="552504494"/>
      </p:ext>
    </p:extLst>
  </p:cSld>
</p:sld>
</file>

<file path=ppt/slides/slide2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5E0FAD9-7B43-4683-8FF9-F12B12BADB8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attention with small numbers</a:t>
            </a:r>
          </a:p>
        </p:txBody>
      </p:sp>
      <p:sp>
        <p:nvSpPr>
          <p:cNvPr id="2" name="subtitle">
            <a:extLst xmlns:a="http://schemas.openxmlformats.org/drawingml/2006/main">
              <a:ext uri="{FF2B5EF4-FFF2-40B4-BE49-F238E27FC236}">
                <a16:creationId xmlns:a16="http://schemas.microsoft.com/office/drawing/2014/main" id="{122E0E50-C696-4640-811B-F21A5449C1E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arithmetic, not an observed attention head</a:t>
            </a:r>
          </a:p>
        </p:txBody>
      </p:sp>
      <p:sp>
        <p:nvSpPr>
          <p:cNvPr id="3" name="page-number">
            <a:extLst xmlns:a="http://schemas.openxmlformats.org/drawingml/2006/main">
              <a:ext uri="{FF2B5EF4-FFF2-40B4-BE49-F238E27FC236}">
                <a16:creationId xmlns:a16="http://schemas.microsoft.com/office/drawing/2014/main" id="{4B6FDDB4-4FC6-43EB-B9E3-0791DF892AD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25</a:t>
            </a:r>
          </a:p>
        </p:txBody>
      </p:sp>
      <p:graphicFrame>
        <p:nvGraphicFramePr>
          <p:cNvPr id="4" name="">
            <a:extLst xmlns:a="http://schemas.openxmlformats.org/drawingml/2006/main">
              <a:ext uri="{FF2B5EF4-FFF2-40B4-BE49-F238E27FC236}">
                <a16:creationId xmlns:a16="http://schemas.microsoft.com/office/drawing/2014/main" id="{25DBEEF9-D8FB-43B9-8867-6DF208CEA529}"/>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333625"/>
                <a:gridCol w="5676900"/>
                <a:gridCol w="2809875"/>
              </a:tblGrid>
              <a:tr h="650875">
                <a:tc>
                  <a:txBody>
                    <a:bodyPr/>
                    <a:lstStyle/>
                    <a:p>
                      <a:r>
                        <a:rPr sz="1650" b="1">
                          <a:solidFill>
                            <a:srgbClr val="F9F7F1"/>
                          </a:solidFill>
                          <a:latin typeface="Calibri"/>
                          <a:ea typeface="Calibri"/>
                          <a:cs typeface="Calibri"/>
                        </a:rPr>
                        <a:t>Step</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Result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Query and keys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 = [1, 0], k₁ = [1, 0], k₂ = [0, 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Head width dₕ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Scaled scores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[q·k₁, q·k₂]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[0.7071, 0.0000]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Softmax weights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[exp(0.7071), exp(0)] / sum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[0.6698, 0.3302]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Value vectors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v₁ = [2, 0], v₂ = [0, 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Two vectors of width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Weighted context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a₁ × v₁ + a₂ × v₂, using unrounded weights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[1.3395, 1.3210]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271499167"/>
      </p:ext>
    </p:extLst>
  </p:cSld>
</p:sld>
</file>

<file path=ppt/slides/slide2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BB4CCBE3-B020-4282-958D-73F06E11F2F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normalization and the FFN</a:t>
            </a:r>
          </a:p>
        </p:txBody>
      </p:sp>
      <p:sp>
        <p:nvSpPr>
          <p:cNvPr id="2" name="subtitle">
            <a:extLst xmlns:a="http://schemas.openxmlformats.org/drawingml/2006/main">
              <a:ext uri="{FF2B5EF4-FFF2-40B4-BE49-F238E27FC236}">
                <a16:creationId xmlns:a16="http://schemas.microsoft.com/office/drawing/2014/main" id="{F9C716A3-A8BF-4B2D-9346-E24809741AA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Operations within a token representation</a:t>
            </a:r>
          </a:p>
        </p:txBody>
      </p:sp>
      <p:sp>
        <p:nvSpPr>
          <p:cNvPr id="3" name="page-number">
            <a:extLst xmlns:a="http://schemas.openxmlformats.org/drawingml/2006/main">
              <a:ext uri="{FF2B5EF4-FFF2-40B4-BE49-F238E27FC236}">
                <a16:creationId xmlns:a16="http://schemas.microsoft.com/office/drawing/2014/main" id="{B8EB150A-D154-450A-8CF6-404ACDB9939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26</a:t>
            </a:r>
          </a:p>
        </p:txBody>
      </p:sp>
      <p:sp>
        <p:nvSpPr>
          <p:cNvPr id="4" name="body">
            <a:extLst xmlns:a="http://schemas.openxmlformats.org/drawingml/2006/main">
              <a:ext uri="{FF2B5EF4-FFF2-40B4-BE49-F238E27FC236}">
                <a16:creationId xmlns:a16="http://schemas.microsoft.com/office/drawing/2014/main" id="{11230A4B-0852-4845-8556-767B81681152}"/>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LN(x) = γ ⊙ (x − μ) / √(σ² + ε) + β</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FFN(x) = GELU(xW₁ + b₁)W₂ + b₂</a:t>
            </a:r>
          </a:p>
        </p:txBody>
      </p:sp>
      <p:sp>
        <p:nvSpPr>
          <p:cNvPr id="5" name="body">
            <a:extLst xmlns:a="http://schemas.openxmlformats.org/drawingml/2006/main">
              <a:ext uri="{FF2B5EF4-FFF2-40B4-BE49-F238E27FC236}">
                <a16:creationId xmlns:a16="http://schemas.microsoft.com/office/drawing/2014/main" id="{E7278FDA-2087-4BAD-B2B5-AC25BB670667}"/>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μ, σ²</a:t>
            </a:r>
          </a:p>
        </p:txBody>
      </p:sp>
      <p:sp>
        <p:nvSpPr>
          <p:cNvPr id="6" name="body">
            <a:extLst xmlns:a="http://schemas.openxmlformats.org/drawingml/2006/main">
              <a:ext uri="{FF2B5EF4-FFF2-40B4-BE49-F238E27FC236}">
                <a16:creationId xmlns:a16="http://schemas.microsoft.com/office/drawing/2014/main" id="{54DB3285-9347-4080-9F66-41C18272F226}"/>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Mean and variance across the features of one token</a:t>
            </a:r>
          </a:p>
        </p:txBody>
      </p:sp>
      <p:sp>
        <p:nvSpPr>
          <p:cNvPr id="7" name="body">
            <a:extLst xmlns:a="http://schemas.openxmlformats.org/drawingml/2006/main">
              <a:ext uri="{FF2B5EF4-FFF2-40B4-BE49-F238E27FC236}">
                <a16:creationId xmlns:a16="http://schemas.microsoft.com/office/drawing/2014/main" id="{77D8E12A-3BC0-4472-A05F-B270866B9891}"/>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γ, β, ε</a:t>
            </a:r>
          </a:p>
        </p:txBody>
      </p:sp>
      <p:sp>
        <p:nvSpPr>
          <p:cNvPr id="8" name="body">
            <a:extLst xmlns:a="http://schemas.openxmlformats.org/drawingml/2006/main">
              <a:ext uri="{FF2B5EF4-FFF2-40B4-BE49-F238E27FC236}">
                <a16:creationId xmlns:a16="http://schemas.microsoft.com/office/drawing/2014/main" id="{D4EB49FB-F09C-4D93-B1F3-CEDE99CA513E}"/>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scale, learned offset, small denominator constant</a:t>
            </a:r>
          </a:p>
        </p:txBody>
      </p:sp>
      <p:sp>
        <p:nvSpPr>
          <p:cNvPr id="9" name="body">
            <a:extLst xmlns:a="http://schemas.openxmlformats.org/drawingml/2006/main">
              <a:ext uri="{FF2B5EF4-FFF2-40B4-BE49-F238E27FC236}">
                <a16:creationId xmlns:a16="http://schemas.microsoft.com/office/drawing/2014/main" id="{C875A000-6E4F-43A4-9F19-91DAE0EE8E10}"/>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W₁, W₂</a:t>
            </a:r>
          </a:p>
        </p:txBody>
      </p:sp>
      <p:sp>
        <p:nvSpPr>
          <p:cNvPr id="10" name="body">
            <a:extLst xmlns:a="http://schemas.openxmlformats.org/drawingml/2006/main">
              <a:ext uri="{FF2B5EF4-FFF2-40B4-BE49-F238E27FC236}">
                <a16:creationId xmlns:a16="http://schemas.microsoft.com/office/drawing/2014/main" id="{5AEDD89E-49EA-4C37-A07A-7A946DFBEB6E}"/>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Project 64 features to 192, then back to 64</a:t>
            </a:r>
          </a:p>
        </p:txBody>
      </p:sp>
      <p:sp>
        <p:nvSpPr>
          <p:cNvPr id="11" name="body">
            <a:extLst xmlns:a="http://schemas.openxmlformats.org/drawingml/2006/main">
              <a:ext uri="{FF2B5EF4-FFF2-40B4-BE49-F238E27FC236}">
                <a16:creationId xmlns:a16="http://schemas.microsoft.com/office/drawing/2014/main" id="{DCEF15D4-0BF9-4AA6-AC4F-9C90B89668AB}"/>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GELU, ⊙</a:t>
            </a:r>
          </a:p>
        </p:txBody>
      </p:sp>
      <p:sp>
        <p:nvSpPr>
          <p:cNvPr id="12" name="body">
            <a:extLst xmlns:a="http://schemas.openxmlformats.org/drawingml/2006/main">
              <a:ext uri="{FF2B5EF4-FFF2-40B4-BE49-F238E27FC236}">
                <a16:creationId xmlns:a16="http://schemas.microsoft.com/office/drawing/2014/main" id="{8AEE55CC-65E8-4325-AC3E-7216C5096744}"/>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Nonlinear activation, and element-wise multiplication</a:t>
            </a:r>
          </a:p>
        </p:txBody>
      </p:sp>
      <p:sp>
        <p:nvSpPr>
          <p:cNvPr id="13" name="body">
            <a:extLst xmlns:a="http://schemas.openxmlformats.org/drawingml/2006/main">
              <a:ext uri="{FF2B5EF4-FFF2-40B4-BE49-F238E27FC236}">
                <a16:creationId xmlns:a16="http://schemas.microsoft.com/office/drawing/2014/main" id="{007579E5-C6E7-4517-B679-3DD705732BBD}"/>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same FFN parameters apply to every position within a block</a:t>
            </a:r>
          </a:p>
        </p:txBody>
      </p:sp>
    </p:spTree>
    <p:extLst>
      <p:ext uri="{BB962C8B-B14F-4D97-AF65-F5344CB8AC3E}">
        <p14:creationId xmlns:p14="http://schemas.microsoft.com/office/powerpoint/2010/main" val="1676854288"/>
      </p:ext>
    </p:extLst>
  </p:cSld>
</p:sld>
</file>

<file path=ppt/slides/slide2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916753AB-BCFB-49C4-B077-0BD9AC16824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loss-mask boundary</a:t>
            </a:r>
          </a:p>
        </p:txBody>
      </p:sp>
      <p:sp>
        <p:nvSpPr>
          <p:cNvPr id="2" name="subtitle">
            <a:extLst xmlns:a="http://schemas.openxmlformats.org/drawingml/2006/main">
              <a:ext uri="{FF2B5EF4-FFF2-40B4-BE49-F238E27FC236}">
                <a16:creationId xmlns:a16="http://schemas.microsoft.com/office/drawing/2014/main" id="{94C32FDE-FEBB-4EA3-83D8-6EE715E4026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Excerpt under the actual character tokenizer</a:t>
            </a:r>
          </a:p>
        </p:txBody>
      </p:sp>
      <p:sp>
        <p:nvSpPr>
          <p:cNvPr id="3" name="page-number">
            <a:extLst xmlns:a="http://schemas.openxmlformats.org/drawingml/2006/main">
              <a:ext uri="{FF2B5EF4-FFF2-40B4-BE49-F238E27FC236}">
                <a16:creationId xmlns:a16="http://schemas.microsoft.com/office/drawing/2014/main" id="{BFA2B82A-AC80-4859-A31B-4D1E02610B0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27</a:t>
            </a:r>
          </a:p>
        </p:txBody>
      </p:sp>
      <p:graphicFrame>
        <p:nvGraphicFramePr>
          <p:cNvPr id="4" name="">
            <a:extLst xmlns:a="http://schemas.openxmlformats.org/drawingml/2006/main">
              <a:ext uri="{FF2B5EF4-FFF2-40B4-BE49-F238E27FC236}">
                <a16:creationId xmlns:a16="http://schemas.microsoft.com/office/drawing/2014/main" id="{5AA7BA41-050D-43D6-9EC1-289AC060A7C3}"/>
              </a:ext>
            </a:extLst>
          </p:cNvPr>
          <p:cNvGraphicFramePr/>
          <p:nvPr/>
        </p:nvGraphicFramePr>
        <p:xfrm>
          <a:off xmlns:a="http://schemas.openxmlformats.org/drawingml/2006/main" x="685800" y="2076450"/>
          <a:ext xmlns:a="http://schemas.openxmlformats.org/drawingml/2006/main" cx="10820400" cy="4000500"/>
        </p:xfrm>
        <a:graphic xmlns:a="http://schemas.openxmlformats.org/drawingml/2006/main">
          <a:graphicData uri="http://schemas.openxmlformats.org/drawingml/2006/table">
            <a:tbl>
              <a:tblPr firstRow="0" bandRow="0"/>
              <a:tblGrid>
                <a:gridCol w="2857500"/>
                <a:gridCol w="2476500"/>
                <a:gridCol w="1476375"/>
                <a:gridCol w="4010025"/>
              </a:tblGrid>
              <a:tr h="571500">
                <a:tc>
                  <a:txBody>
                    <a:bodyPr/>
                    <a:lstStyle/>
                    <a:p>
                      <a:r>
                        <a:rPr sz="1650" b="1">
                          <a:solidFill>
                            <a:srgbClr val="F9F7F1"/>
                          </a:solidFill>
                          <a:latin typeface="Calibri"/>
                          <a:ea typeface="Calibri"/>
                          <a:cs typeface="Calibri"/>
                        </a:rPr>
                        <a:t>Input token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target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Reason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71500">
                <a:tc>
                  <a:txBody>
                    <a:bodyPr/>
                    <a:lstStyle/>
                    <a:p>
                      <a:r>
                        <a:rPr sz="1725">
                          <a:solidFill>
                            <a:srgbClr val="142D3C"/>
                          </a:solidFill>
                          <a:latin typeface="Calibri"/>
                          <a:ea typeface="Calibri"/>
                          <a:cs typeface="Calibri"/>
                        </a:rPr>
                        <a:t>&lt;INPUT&gt;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prediction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source character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&lt;OUTPUT&gt;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Protocol boundary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First output character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Next output character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output character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&lt;EOS&gt;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Learn termination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 (ignore)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Batch filler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313196748"/>
      </p:ext>
    </p:extLst>
  </p:cSld>
</p:sld>
</file>

<file path=ppt/slides/slide2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A541216A-5D47-4AE0-A852-5210CA67198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measured parameter count</a:t>
            </a:r>
          </a:p>
        </p:txBody>
      </p:sp>
      <p:sp>
        <p:nvSpPr>
          <p:cNvPr id="2" name="subtitle">
            <a:extLst xmlns:a="http://schemas.openxmlformats.org/drawingml/2006/main">
              <a:ext uri="{FF2B5EF4-FFF2-40B4-BE49-F238E27FC236}">
                <a16:creationId xmlns:a16="http://schemas.microsoft.com/office/drawing/2014/main" id="{039D6A20-A0E3-4303-99EA-61F7FDFC6F9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V=109, width=64, FFN=192, context=512</a:t>
            </a:r>
          </a:p>
        </p:txBody>
      </p:sp>
      <p:sp>
        <p:nvSpPr>
          <p:cNvPr id="3" name="page-number">
            <a:extLst xmlns:a="http://schemas.openxmlformats.org/drawingml/2006/main">
              <a:ext uri="{FF2B5EF4-FFF2-40B4-BE49-F238E27FC236}">
                <a16:creationId xmlns:a16="http://schemas.microsoft.com/office/drawing/2014/main" id="{FB414BB0-80BA-4F33-89F6-205A58A2D87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28</a:t>
            </a:r>
          </a:p>
        </p:txBody>
      </p:sp>
      <p:graphicFrame>
        <p:nvGraphicFramePr>
          <p:cNvPr id="4" name="">
            <a:extLst xmlns:a="http://schemas.openxmlformats.org/drawingml/2006/main">
              <a:ext uri="{FF2B5EF4-FFF2-40B4-BE49-F238E27FC236}">
                <a16:creationId xmlns:a16="http://schemas.microsoft.com/office/drawing/2014/main" id="{C2B97BC3-649C-425F-A973-FA1DDB5EA4D9}"/>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3286125"/>
                <a:gridCol w="5524500"/>
                <a:gridCol w="2009775"/>
              </a:tblGrid>
              <a:tr h="504825">
                <a:tc>
                  <a:txBody>
                    <a:bodyPr/>
                    <a:lstStyle/>
                    <a:p>
                      <a:r>
                        <a:rPr sz="1650" b="1">
                          <a:solidFill>
                            <a:srgbClr val="F9F7F1"/>
                          </a:solidFill>
                          <a:latin typeface="Calibri"/>
                          <a:ea typeface="Calibri"/>
                          <a:cs typeface="Calibri"/>
                        </a:rPr>
                        <a:t>Component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04825">
                <a:tc>
                  <a:txBody>
                    <a:bodyPr/>
                    <a:lstStyle/>
                    <a:p>
                      <a:r>
                        <a:rPr sz="1650">
                          <a:solidFill>
                            <a:srgbClr val="142D3C"/>
                          </a:solidFill>
                          <a:latin typeface="Calibri"/>
                          <a:ea typeface="Calibri"/>
                          <a:cs typeface="Calibri"/>
                        </a:rPr>
                        <a:t>Token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109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6,976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Position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512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32,768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Attention, 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 4 × (64²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33,280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FFNs, 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 (2 × 64 × 192 + 192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49,664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All norms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 × (64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Vocabulary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 × 109 + 109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7,085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Total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Sum of the six components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130,413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370080247"/>
      </p:ext>
    </p:extLst>
  </p:cSld>
</p:sld>
</file>

<file path=ppt/slides/slide2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24D386DC-28B7-485F-BB23-4E757F43FBE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autoregressive loop</a:t>
            </a:r>
          </a:p>
        </p:txBody>
      </p:sp>
      <p:sp>
        <p:nvSpPr>
          <p:cNvPr id="2" name="subtitle">
            <a:extLst xmlns:a="http://schemas.openxmlformats.org/drawingml/2006/main">
              <a:ext uri="{FF2B5EF4-FFF2-40B4-BE49-F238E27FC236}">
                <a16:creationId xmlns:a16="http://schemas.microsoft.com/office/drawing/2014/main" id="{445C279F-D760-43C1-A332-E2652014672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Conceptual pseudocode, not a recorded run</a:t>
            </a:r>
          </a:p>
        </p:txBody>
      </p:sp>
      <p:sp>
        <p:nvSpPr>
          <p:cNvPr id="3" name="page-number">
            <a:extLst xmlns:a="http://schemas.openxmlformats.org/drawingml/2006/main">
              <a:ext uri="{FF2B5EF4-FFF2-40B4-BE49-F238E27FC236}">
                <a16:creationId xmlns:a16="http://schemas.microsoft.com/office/drawing/2014/main" id="{90B86670-ED19-44E3-8E4A-61D27F7DD44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29</a:t>
            </a:r>
          </a:p>
        </p:txBody>
      </p:sp>
      <p:sp>
        <p:nvSpPr>
          <p:cNvPr id="4" name="body">
            <a:extLst xmlns:a="http://schemas.openxmlformats.org/drawingml/2006/main">
              <a:ext uri="{FF2B5EF4-FFF2-40B4-BE49-F238E27FC236}">
                <a16:creationId xmlns:a16="http://schemas.microsoft.com/office/drawing/2014/main" id="{731A1593-1048-4F93-A9FC-E04F8AF3BFFC}"/>
              </a:ext>
            </a:extLst>
          </p:cNvPr>
          <p:cNvSpPr>
            <a:spLocks xmlns:a="http://schemas.openxmlformats.org/drawingml/2006/main" noGrp="1"/>
          </p:cNvSpPr>
          <p:nvPr/>
        </p:nvSpPr>
        <p:spPr>
          <a:xfrm xmlns:a="http://schemas.openxmlformats.org/drawingml/2006/main">
            <a:off x="685800" y="2143125"/>
            <a:ext cx="108204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D3C"/>
                </a:solidFill>
                <a:latin typeface="Calibri"/>
                <a:ea typeface="Calibri"/>
                <a:cs typeface="Calibri"/>
              </a:defRPr>
            </a:defPPr>
            <a:lvl1pPr>
              <a:defRPr sz="2325" b="0">
                <a:solidFill>
                  <a:srgbClr val="142D3C"/>
                </a:solidFill>
                <a:latin typeface="Calibri"/>
                <a:ea typeface="Calibri"/>
                <a:cs typeface="Calibri"/>
              </a:defRPr>
            </a:lvl1pPr>
            <a:lvl2pPr>
              <a:defRPr sz="2325" b="0">
                <a:solidFill>
                  <a:srgbClr val="142D3C"/>
                </a:solidFill>
                <a:latin typeface="Calibri"/>
                <a:ea typeface="Calibri"/>
                <a:cs typeface="Calibri"/>
              </a:defRPr>
            </a:lvl2pPr>
            <a:lvl3pPr>
              <a:defRPr sz="2325" b="0">
                <a:solidFill>
                  <a:srgbClr val="142D3C"/>
                </a:solidFill>
                <a:latin typeface="Calibri"/>
                <a:ea typeface="Calibri"/>
                <a:cs typeface="Calibri"/>
              </a:defRPr>
            </a:lvl3pPr>
            <a:lvl4pPr>
              <a:defRPr sz="2325" b="0">
                <a:solidFill>
                  <a:srgbClr val="142D3C"/>
                </a:solidFill>
                <a:latin typeface="Calibri"/>
                <a:ea typeface="Calibri"/>
                <a:cs typeface="Calibri"/>
              </a:defRPr>
            </a:lvl4pPr>
            <a:lvl5pPr>
              <a:defRPr sz="2325" b="0">
                <a:solidFill>
                  <a:srgbClr val="142D3C"/>
                </a:solidFill>
                <a:latin typeface="Calibri"/>
                <a:ea typeface="Calibri"/>
                <a:cs typeface="Calibri"/>
              </a:defRPr>
            </a:lvl5pPr>
            <a:lvl6pPr>
              <a:defRPr sz="2325" b="0">
                <a:solidFill>
                  <a:srgbClr val="142D3C"/>
                </a:solidFill>
                <a:latin typeface="Calibri"/>
                <a:ea typeface="Calibri"/>
                <a:cs typeface="Calibri"/>
              </a:defRPr>
            </a:lvl6pPr>
            <a:lvl7pPr>
              <a:defRPr sz="2325" b="0">
                <a:solidFill>
                  <a:srgbClr val="142D3C"/>
                </a:solidFill>
                <a:latin typeface="Calibri"/>
                <a:ea typeface="Calibri"/>
                <a:cs typeface="Calibri"/>
              </a:defRPr>
            </a:lvl7pPr>
            <a:lvl8pPr>
              <a:defRPr sz="2325" b="0">
                <a:solidFill>
                  <a:srgbClr val="142D3C"/>
                </a:solidFill>
                <a:latin typeface="Calibri"/>
                <a:ea typeface="Calibri"/>
                <a:cs typeface="Calibri"/>
              </a:defRPr>
            </a:lvl8pPr>
            <a:lvl9pPr>
              <a:defRPr sz="2325" b="0">
                <a:solidFill>
                  <a:srgbClr val="142D3C"/>
                </a:solidFill>
                <a:latin typeface="Calibri"/>
                <a:ea typeface="Calibri"/>
                <a:cs typeface="Calibri"/>
              </a:defRPr>
            </a:lvl9pPr>
          </a:lstStyle>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ids = encode(source_prompt_through_OUTPUT)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while generated_count &lt; limit: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logits = model(ids)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next_logits = logits[:, -1, :]</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next_id = argmax(next_logits)       # explicit greedy mode</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ids = append(ids, next_id)</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if next_id == EOS: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break</a:t>
            </a:r>
          </a:p>
        </p:txBody>
      </p:sp>
      <p:sp>
        <p:nvSpPr>
          <p:cNvPr id="5" name="body">
            <a:extLst xmlns:a="http://schemas.openxmlformats.org/drawingml/2006/main">
              <a:ext uri="{FF2B5EF4-FFF2-40B4-BE49-F238E27FC236}">
                <a16:creationId xmlns:a16="http://schemas.microsoft.com/office/drawing/2014/main" id="{BE9FA8BD-28E4-4059-A51F-22A1012F9D9D}"/>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separate sampling mode applies softmax(logits / temperature) and samples from it</a:t>
            </a:r>
          </a:p>
        </p:txBody>
      </p:sp>
    </p:spTree>
    <p:extLst>
      <p:ext uri="{BB962C8B-B14F-4D97-AF65-F5344CB8AC3E}">
        <p14:creationId xmlns:p14="http://schemas.microsoft.com/office/powerpoint/2010/main" val="1421665173"/>
      </p:ext>
    </p:extLst>
  </p:cSld>
</p:sld>
</file>

<file path=ppt/slides/slide3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6341E25-356B-4DE3-805E-9826D407A33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generalization conditions</a:t>
            </a:r>
          </a:p>
        </p:txBody>
      </p:sp>
      <p:sp>
        <p:nvSpPr>
          <p:cNvPr id="2" name="subtitle">
            <a:extLst xmlns:a="http://schemas.openxmlformats.org/drawingml/2006/main">
              <a:ext uri="{FF2B5EF4-FFF2-40B4-BE49-F238E27FC236}">
                <a16:creationId xmlns:a16="http://schemas.microsoft.com/office/drawing/2014/main" id="{8B4B0E80-39D5-4BC3-80E5-2595CFF9F37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Final partitions are separate from validation-only diagnostics</a:t>
            </a:r>
          </a:p>
        </p:txBody>
      </p:sp>
      <p:sp>
        <p:nvSpPr>
          <p:cNvPr id="3" name="page-number">
            <a:extLst xmlns:a="http://schemas.openxmlformats.org/drawingml/2006/main">
              <a:ext uri="{FF2B5EF4-FFF2-40B4-BE49-F238E27FC236}">
                <a16:creationId xmlns:a16="http://schemas.microsoft.com/office/drawing/2014/main" id="{8BA76D5D-26A4-4CE9-BAB1-5D56342E529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30</a:t>
            </a:r>
          </a:p>
        </p:txBody>
      </p:sp>
      <p:graphicFrame>
        <p:nvGraphicFramePr>
          <p:cNvPr id="4" name="">
            <a:extLst xmlns:a="http://schemas.openxmlformats.org/drawingml/2006/main">
              <a:ext uri="{FF2B5EF4-FFF2-40B4-BE49-F238E27FC236}">
                <a16:creationId xmlns:a16="http://schemas.microsoft.com/office/drawing/2014/main" id="{3F8A5B2B-78C5-4FC7-831F-B03361445C3F}"/>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905250"/>
                <a:gridCol w="1714500"/>
                <a:gridCol w="5200650"/>
              </a:tblGrid>
              <a:tr h="650875">
                <a:tc>
                  <a:txBody>
                    <a:bodyPr/>
                    <a:lstStyle/>
                    <a:p>
                      <a:r>
                        <a:rPr sz="1650" b="1">
                          <a:solidFill>
                            <a:srgbClr val="F9F7F1"/>
                          </a:solidFill>
                          <a:latin typeface="Calibri"/>
                          <a:ea typeface="Calibri"/>
                          <a:cs typeface="Calibri"/>
                        </a:rPr>
                        <a:t>Partition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Condition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Known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New combinations; familiar pools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final-name pool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Known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Final-only structural templates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Joint entity/layout transfer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Training / validation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700 / 100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Validation includes its own novel conditions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907459685"/>
      </p:ext>
    </p:extLst>
  </p:cSld>
</p:sld>
</file>

<file path=ppt/slides/slide3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DFE1D2EA-0F49-45E0-A427-FBB77BDFE2B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questions for the technical discussion</a:t>
            </a:r>
          </a:p>
        </p:txBody>
      </p:sp>
      <p:sp>
        <p:nvSpPr>
          <p:cNvPr id="2" name="page-number">
            <a:extLst xmlns:a="http://schemas.openxmlformats.org/drawingml/2006/main">
              <a:ext uri="{FF2B5EF4-FFF2-40B4-BE49-F238E27FC236}">
                <a16:creationId xmlns:a16="http://schemas.microsoft.com/office/drawing/2014/main" id="{E4A53E94-5E56-4F7B-8B8D-96E4CC88CAD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31</a:t>
            </a:r>
          </a:p>
        </p:txBody>
      </p:sp>
      <p:sp>
        <p:nvSpPr>
          <p:cNvPr id="3" name="body">
            <a:extLst xmlns:a="http://schemas.openxmlformats.org/drawingml/2006/main">
              <a:ext uri="{FF2B5EF4-FFF2-40B4-BE49-F238E27FC236}">
                <a16:creationId xmlns:a16="http://schemas.microsoft.com/office/drawing/2014/main" id="{39CA045E-BDA2-4BA1-9A8E-0743648EDE6D}"/>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Mechanism and learning</a:t>
            </a:r>
          </a:p>
        </p:txBody>
      </p:sp>
      <p:sp>
        <p:nvSpPr>
          <p:cNvPr id="4" name="body">
            <a:extLst xmlns:a="http://schemas.openxmlformats.org/drawingml/2006/main">
              <a:ext uri="{FF2B5EF4-FFF2-40B4-BE49-F238E27FC236}">
                <a16:creationId xmlns:a16="http://schemas.microsoft.com/office/drawing/2014/main" id="{59424D4F-E6C0-4E1C-A132-DA632BF14359}"/>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Evidence and engineering</a:t>
            </a:r>
          </a:p>
        </p:txBody>
      </p:sp>
      <p:sp>
        <p:nvSpPr>
          <p:cNvPr id="5" name="body">
            <a:extLst xmlns:a="http://schemas.openxmlformats.org/drawingml/2006/main">
              <a:ext uri="{FF2B5EF4-FFF2-40B4-BE49-F238E27FC236}">
                <a16:creationId xmlns:a16="http://schemas.microsoft.com/office/drawing/2014/main" id="{A4B63C10-4F07-4EF6-8F08-3349F4697956}"/>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does the loss mask train source representations?</a:t>
            </a:r>
          </a:p>
        </p:txBody>
      </p:sp>
      <p:sp>
        <p:nvSpPr>
          <p:cNvPr id="6" name="body">
            <a:extLst xmlns:a="http://schemas.openxmlformats.org/drawingml/2006/main">
              <a:ext uri="{FF2B5EF4-FFF2-40B4-BE49-F238E27FC236}">
                <a16:creationId xmlns:a16="http://schemas.microsoft.com/office/drawing/2014/main" id="{93B21B60-1E8A-4CE4-BB20-517608E20950}"/>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Model A score well but fail the context pair?</a:t>
            </a:r>
          </a:p>
        </p:txBody>
      </p:sp>
      <p:sp>
        <p:nvSpPr>
          <p:cNvPr id="7" name="body">
            <a:extLst xmlns:a="http://schemas.openxmlformats.org/drawingml/2006/main">
              <a:ext uri="{FF2B5EF4-FFF2-40B4-BE49-F238E27FC236}">
                <a16:creationId xmlns:a16="http://schemas.microsoft.com/office/drawing/2014/main" id="{206C71A3-44F0-414A-BAE8-7DC6CD76BCAF}"/>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additional heads not guarantee better results?</a:t>
            </a:r>
          </a:p>
        </p:txBody>
      </p:sp>
      <p:sp>
        <p:nvSpPr>
          <p:cNvPr id="8" name="body">
            <a:extLst xmlns:a="http://schemas.openxmlformats.org/drawingml/2006/main">
              <a:ext uri="{FF2B5EF4-FFF2-40B4-BE49-F238E27FC236}">
                <a16:creationId xmlns:a16="http://schemas.microsoft.com/office/drawing/2014/main" id="{2EF11773-12F9-4C73-A30B-FA3AC81FD93C}"/>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the latest checkpoint beat best loss on these notes?</a:t>
            </a:r>
          </a:p>
        </p:txBody>
      </p:sp>
      <p:sp>
        <p:nvSpPr>
          <p:cNvPr id="9" name="body">
            <a:extLst xmlns:a="http://schemas.openxmlformats.org/drawingml/2006/main">
              <a:ext uri="{FF2B5EF4-FFF2-40B4-BE49-F238E27FC236}">
                <a16:creationId xmlns:a16="http://schemas.microsoft.com/office/drawing/2014/main" id="{14C43CC1-2253-4445-9761-5FD4988A90A6}"/>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What do the untouched template partitions show?</a:t>
            </a:r>
          </a:p>
        </p:txBody>
      </p:sp>
      <p:sp>
        <p:nvSpPr>
          <p:cNvPr id="10" name="body">
            <a:extLst xmlns:a="http://schemas.openxmlformats.org/drawingml/2006/main">
              <a:ext uri="{FF2B5EF4-FFF2-40B4-BE49-F238E27FC236}">
                <a16:creationId xmlns:a16="http://schemas.microsoft.com/office/drawing/2014/main" id="{9966971C-0973-4DF3-943F-7EA035222244}"/>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What do the failures say about the training objective?</a:t>
            </a:r>
          </a:p>
        </p:txBody>
      </p:sp>
      <p:sp>
        <p:nvSpPr>
          <p:cNvPr id="11" name="body">
            <a:extLst xmlns:a="http://schemas.openxmlformats.org/drawingml/2006/main">
              <a:ext uri="{FF2B5EF4-FFF2-40B4-BE49-F238E27FC236}">
                <a16:creationId xmlns:a16="http://schemas.microsoft.com/office/drawing/2014/main" id="{984C612D-9704-469A-8D54-AF14DA18A493}"/>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Answers should refer to code, controlled tests and actual generated examples</a:t>
            </a:r>
          </a:p>
        </p:txBody>
      </p:sp>
    </p:spTree>
    <p:extLst>
      <p:ext uri="{BB962C8B-B14F-4D97-AF65-F5344CB8AC3E}">
        <p14:creationId xmlns:p14="http://schemas.microsoft.com/office/powerpoint/2010/main" val="433531126"/>
      </p:ext>
    </p:extLst>
  </p:cSld>
</p:sld>
</file>

<file path=ppt/slides/slide3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6" name="heading">
            <a:extLst xmlns:a="http://schemas.openxmlformats.org/drawingml/2006/main">
              <a:ext uri="{FF2B5EF4-FFF2-40B4-BE49-F238E27FC236}">
                <a16:creationId xmlns:a16="http://schemas.microsoft.com/office/drawing/2014/main" id="{06406AE3-8BCF-4865-969C-46078F59F88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evidence and references</a:t>
            </a:r>
          </a:p>
        </p:txBody>
      </p:sp>
      <p:sp>
        <p:nvSpPr>
          <p:cNvPr id="2" name="page-number">
            <a:extLst xmlns:a="http://schemas.openxmlformats.org/drawingml/2006/main">
              <a:ext uri="{FF2B5EF4-FFF2-40B4-BE49-F238E27FC236}">
                <a16:creationId xmlns:a16="http://schemas.microsoft.com/office/drawing/2014/main" id="{DB2DBF80-3049-412C-B0B1-238E2626F90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32</a:t>
            </a:r>
          </a:p>
        </p:txBody>
      </p:sp>
      <p:sp>
        <p:nvSpPr>
          <p:cNvPr id="3" name="body">
            <a:extLst xmlns:a="http://schemas.openxmlformats.org/drawingml/2006/main">
              <a:ext uri="{FF2B5EF4-FFF2-40B4-BE49-F238E27FC236}">
                <a16:creationId xmlns:a16="http://schemas.microsoft.com/office/drawing/2014/main" id="{06129670-2069-4EBF-8AF5-BF43E9452026}"/>
              </a:ext>
            </a:extLst>
          </p:cNvPr>
          <p:cNvSpPr>
            <a:spLocks xmlns:a="http://schemas.openxmlformats.org/drawingml/2006/main" noGrp="1"/>
          </p:cNvSpPr>
          <p:nvPr/>
        </p:nvSpPr>
        <p:spPr>
          <a:xfrm xmlns:a="http://schemas.openxmlformats.org/drawingml/2006/main">
            <a:off x="685800" y="19812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Assignment</a:t>
            </a:r>
          </a:p>
        </p:txBody>
      </p:sp>
      <p:sp>
        <p:nvSpPr>
          <p:cNvPr id="4" name="body">
            <a:extLst xmlns:a="http://schemas.openxmlformats.org/drawingml/2006/main">
              <a:ext uri="{FF2B5EF4-FFF2-40B4-BE49-F238E27FC236}">
                <a16:creationId xmlns:a16="http://schemas.microsoft.com/office/drawing/2014/main" id="{E89182D6-4AAD-4853-B803-9F2F89215700}"/>
              </a:ext>
            </a:extLst>
          </p:cNvPr>
          <p:cNvSpPr>
            <a:spLocks xmlns:a="http://schemas.openxmlformats.org/drawingml/2006/main" noGrp="1"/>
          </p:cNvSpPr>
          <p:nvPr/>
        </p:nvSpPr>
        <p:spPr>
          <a:xfrm xmlns:a="http://schemas.openxmlformats.org/drawingml/2006/main">
            <a:off x="3714750" y="19812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6 Tiny-GPT and synthetic Mitra task</a:t>
            </a:r>
          </a:p>
        </p:txBody>
      </p:sp>
      <p:sp>
        <p:nvSpPr>
          <p:cNvPr id="5" name="body">
            <a:extLst xmlns:a="http://schemas.openxmlformats.org/drawingml/2006/main">
              <a:ext uri="{FF2B5EF4-FFF2-40B4-BE49-F238E27FC236}">
                <a16:creationId xmlns:a16="http://schemas.microsoft.com/office/drawing/2014/main" id="{8E60B8A7-C24F-4190-954B-B175DA915314}"/>
              </a:ext>
            </a:extLst>
          </p:cNvPr>
          <p:cNvSpPr>
            <a:spLocks xmlns:a="http://schemas.openxmlformats.org/drawingml/2006/main" noGrp="1"/>
          </p:cNvSpPr>
          <p:nvPr/>
        </p:nvSpPr>
        <p:spPr>
          <a:xfrm xmlns:a="http://schemas.openxmlformats.org/drawingml/2006/main">
            <a:off x="685800" y="26003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Project implementation</a:t>
            </a:r>
          </a:p>
        </p:txBody>
      </p:sp>
      <p:sp>
        <p:nvSpPr>
          <p:cNvPr id="6" name="body">
            <a:extLst xmlns:a="http://schemas.openxmlformats.org/drawingml/2006/main">
              <a:ext uri="{FF2B5EF4-FFF2-40B4-BE49-F238E27FC236}">
                <a16:creationId xmlns:a16="http://schemas.microsoft.com/office/drawing/2014/main" id="{446A76DC-098C-4267-8927-55BB55E2FE39}"/>
              </a:ext>
            </a:extLst>
          </p:cNvPr>
          <p:cNvSpPr>
            <a:spLocks xmlns:a="http://schemas.openxmlformats.org/drawingml/2006/main" noGrp="1"/>
          </p:cNvSpPr>
          <p:nvPr/>
        </p:nvSpPr>
        <p:spPr>
          <a:xfrm xmlns:a="http://schemas.openxmlformats.org/drawingml/2006/main">
            <a:off x="3714750" y="26003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Manual model, training, tokenizer and evaluation code</a:t>
            </a:r>
          </a:p>
        </p:txBody>
      </p:sp>
      <p:sp>
        <p:nvSpPr>
          <p:cNvPr id="7" name="body">
            <a:extLst xmlns:a="http://schemas.openxmlformats.org/drawingml/2006/main">
              <a:ext uri="{FF2B5EF4-FFF2-40B4-BE49-F238E27FC236}">
                <a16:creationId xmlns:a16="http://schemas.microsoft.com/office/drawing/2014/main" id="{6366D1D6-88E5-4EFD-A751-A35A6CE53B7C}"/>
              </a:ext>
            </a:extLst>
          </p:cNvPr>
          <p:cNvSpPr>
            <a:spLocks xmlns:a="http://schemas.openxmlformats.org/drawingml/2006/main" noGrp="1"/>
          </p:cNvSpPr>
          <p:nvPr/>
        </p:nvSpPr>
        <p:spPr>
          <a:xfrm xmlns:a="http://schemas.openxmlformats.org/drawingml/2006/main">
            <a:off x="685800" y="32194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Measured evidence</a:t>
            </a:r>
          </a:p>
        </p:txBody>
      </p:sp>
      <p:sp>
        <p:nvSpPr>
          <p:cNvPr id="8" name="body">
            <a:extLst xmlns:a="http://schemas.openxmlformats.org/drawingml/2006/main">
              <a:ext uri="{FF2B5EF4-FFF2-40B4-BE49-F238E27FC236}">
                <a16:creationId xmlns:a16="http://schemas.microsoft.com/office/drawing/2014/main" id="{7646E676-D6DF-44A2-A10C-52D9899C93D3}"/>
              </a:ext>
            </a:extLst>
          </p:cNvPr>
          <p:cNvSpPr>
            <a:spLocks xmlns:a="http://schemas.openxmlformats.org/drawingml/2006/main" noGrp="1"/>
          </p:cNvSpPr>
          <p:nvPr/>
        </p:nvSpPr>
        <p:spPr>
          <a:xfrm xmlns:a="http://schemas.openxmlformats.org/drawingml/2006/main">
            <a:off x="3714750" y="321945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Checkpoints, raw outputs, masks/resume tests and protocols</a:t>
            </a:r>
          </a:p>
        </p:txBody>
      </p:sp>
      <p:sp>
        <p:nvSpPr>
          <p:cNvPr id="9" name="body">
            <a:extLst xmlns:a="http://schemas.openxmlformats.org/drawingml/2006/main">
              <a:ext uri="{FF2B5EF4-FFF2-40B4-BE49-F238E27FC236}">
                <a16:creationId xmlns:a16="http://schemas.microsoft.com/office/drawing/2014/main" id="{82E79082-3898-43BF-B141-A92EC563D3F6}"/>
              </a:ext>
            </a:extLst>
          </p:cNvPr>
          <p:cNvSpPr>
            <a:spLocks xmlns:a="http://schemas.openxmlformats.org/drawingml/2006/main" noGrp="1"/>
          </p:cNvSpPr>
          <p:nvPr/>
        </p:nvSpPr>
        <p:spPr>
          <a:xfrm xmlns:a="http://schemas.openxmlformats.org/drawingml/2006/main">
            <a:off x="685800" y="38385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Prior experiment</a:t>
            </a:r>
          </a:p>
        </p:txBody>
      </p:sp>
      <p:sp>
        <p:nvSpPr>
          <p:cNvPr id="10" name="body">
            <a:extLst xmlns:a="http://schemas.openxmlformats.org/drawingml/2006/main">
              <a:ext uri="{FF2B5EF4-FFF2-40B4-BE49-F238E27FC236}">
                <a16:creationId xmlns:a16="http://schemas.microsoft.com/office/drawing/2014/main" id="{D6A17B12-9E86-4A24-9ED0-2E81A0FCB4B3}"/>
              </a:ext>
            </a:extLst>
          </p:cNvPr>
          <p:cNvSpPr>
            <a:spLocks xmlns:a="http://schemas.openxmlformats.org/drawingml/2006/main" noGrp="1"/>
          </p:cNvSpPr>
          <p:nvPr/>
        </p:nvSpPr>
        <p:spPr>
          <a:xfrm xmlns:a="http://schemas.openxmlformats.org/drawingml/2006/main">
            <a:off x="3714750" y="383857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5 NumPy results; a separate task</a:t>
            </a:r>
          </a:p>
        </p:txBody>
      </p:sp>
      <p:sp>
        <p:nvSpPr>
          <p:cNvPr id="11" name="body">
            <a:extLst xmlns:a="http://schemas.openxmlformats.org/drawingml/2006/main">
              <a:ext uri="{FF2B5EF4-FFF2-40B4-BE49-F238E27FC236}">
                <a16:creationId xmlns:a16="http://schemas.microsoft.com/office/drawing/2014/main" id="{26F1AEF2-15D7-49FA-A43B-D179CE535C31}"/>
              </a:ext>
            </a:extLst>
          </p:cNvPr>
          <p:cNvSpPr>
            <a:spLocks xmlns:a="http://schemas.openxmlformats.org/drawingml/2006/main" noGrp="1"/>
          </p:cNvSpPr>
          <p:nvPr/>
        </p:nvSpPr>
        <p:spPr>
          <a:xfrm xmlns:a="http://schemas.openxmlformats.org/drawingml/2006/main">
            <a:off x="685800" y="44577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Architecture</a:t>
            </a:r>
          </a:p>
        </p:txBody>
      </p:sp>
      <p:sp>
        <p:nvSpPr>
          <p:cNvPr id="12" name="body">
            <a:extLst xmlns:a="http://schemas.openxmlformats.org/drawingml/2006/main">
              <a:ext uri="{FF2B5EF4-FFF2-40B4-BE49-F238E27FC236}">
                <a16:creationId xmlns:a16="http://schemas.microsoft.com/office/drawing/2014/main" id="{775475A7-A05F-4AD4-B085-3D9355091A82}"/>
              </a:ext>
            </a:extLst>
          </p:cNvPr>
          <p:cNvSpPr>
            <a:spLocks xmlns:a="http://schemas.openxmlformats.org/drawingml/2006/main" noGrp="1"/>
          </p:cNvSpPr>
          <p:nvPr/>
        </p:nvSpPr>
        <p:spPr>
          <a:xfrm xmlns:a="http://schemas.openxmlformats.org/drawingml/2006/main">
            <a:off x="3714750" y="44577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Vaswani et al.; Ba, Kiros and Hinton</a:t>
            </a:r>
          </a:p>
        </p:txBody>
      </p:sp>
      <p:sp>
        <p:nvSpPr>
          <p:cNvPr id="13" name="body">
            <a:extLst xmlns:a="http://schemas.openxmlformats.org/drawingml/2006/main">
              <a:ext uri="{FF2B5EF4-FFF2-40B4-BE49-F238E27FC236}">
                <a16:creationId xmlns:a16="http://schemas.microsoft.com/office/drawing/2014/main" id="{6678D9AA-397B-49A8-BB5B-50FF16FAB184}"/>
              </a:ext>
            </a:extLst>
          </p:cNvPr>
          <p:cNvSpPr>
            <a:spLocks xmlns:a="http://schemas.openxmlformats.org/drawingml/2006/main" noGrp="1"/>
          </p:cNvSpPr>
          <p:nvPr/>
        </p:nvSpPr>
        <p:spPr>
          <a:xfrm xmlns:a="http://schemas.openxmlformats.org/drawingml/2006/main">
            <a:off x="685800" y="50768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Interpretation</a:t>
            </a:r>
          </a:p>
        </p:txBody>
      </p:sp>
      <p:sp>
        <p:nvSpPr>
          <p:cNvPr id="14" name="body">
            <a:extLst xmlns:a="http://schemas.openxmlformats.org/drawingml/2006/main">
              <a:ext uri="{FF2B5EF4-FFF2-40B4-BE49-F238E27FC236}">
                <a16:creationId xmlns:a16="http://schemas.microsoft.com/office/drawing/2014/main" id="{D26E8286-E7E1-44C7-BC5D-1028B1B65CDC}"/>
              </a:ext>
            </a:extLst>
          </p:cNvPr>
          <p:cNvSpPr>
            <a:spLocks xmlns:a="http://schemas.openxmlformats.org/drawingml/2006/main" noGrp="1"/>
          </p:cNvSpPr>
          <p:nvPr/>
        </p:nvSpPr>
        <p:spPr>
          <a:xfrm xmlns:a="http://schemas.openxmlformats.org/drawingml/2006/main">
            <a:off x="3714750" y="50768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Attention routing, interventions and bounded claims</a:t>
            </a:r>
          </a:p>
        </p:txBody>
      </p:sp>
      <p:sp>
        <p:nvSpPr>
          <p:cNvPr id="15" name="body">
            <a:extLst xmlns:a="http://schemas.openxmlformats.org/drawingml/2006/main">
              <a:ext uri="{FF2B5EF4-FFF2-40B4-BE49-F238E27FC236}">
                <a16:creationId xmlns:a16="http://schemas.microsoft.com/office/drawing/2014/main" id="{5199BB07-90FB-4221-844B-3747498532AE}"/>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Relevant local paths and source links appear in each slide’s speaker notes</a:t>
            </a:r>
          </a:p>
        </p:txBody>
      </p:sp>
    </p:spTree>
    <p:extLst>
      <p:ext uri="{BB962C8B-B14F-4D97-AF65-F5344CB8AC3E}">
        <p14:creationId xmlns:p14="http://schemas.microsoft.com/office/powerpoint/2010/main" val="9116721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2026-10-17T20:22:43.6170000Z</dcterms:created>
  <dcterms:modified xsi:type="dcterms:W3CDTF">2026-10-17T20:22:43.6170000Z</dcterms:modified>
</coreProperties>
</file>