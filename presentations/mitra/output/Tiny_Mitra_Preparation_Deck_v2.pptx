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221931a3be4a5c" /><Relationship Type="http://schemas.openxmlformats.org/officeDocument/2006/relationships/extended-properties" Target="/docProps/app.xml" Id="Rab951cf367b04662" /><Relationship Type="http://schemas.openxmlformats.org/officeDocument/2006/relationships/officeDocument" Target="/ppt/presentation.xml" Id="Rc05b2eb4a2ef48f9" /></Relationships>
</file>

<file path=ppt/presentation.xml><?xml version="1.0" encoding="utf-8"?>
<p:presentation xmlns:p="http://schemas.openxmlformats.org/presentationml/2006/main">
  <p:sldMasterIdLst>
    <p:sldMasterId xmlns:r="http://schemas.openxmlformats.org/officeDocument/2006/relationships" id="2147483648" r:id="Rc730fbfa94b24491"/>
  </p:sldMasterIdLst>
  <p:notesMasterIdLst>
    <p:notesMasterId xmlns:r="http://schemas.openxmlformats.org/officeDocument/2006/relationships" r:id="Ra0be7e0376b64478"/>
  </p:notesMasterIdLst>
  <p:sldIdLst>
    <p:sldId xmlns:r="http://schemas.openxmlformats.org/officeDocument/2006/relationships" id="256" r:id="R32504ec3fedd4939"/>
    <p:sldId xmlns:r="http://schemas.openxmlformats.org/officeDocument/2006/relationships" id="257" r:id="Rbc580149ff8c4352"/>
    <p:sldId xmlns:r="http://schemas.openxmlformats.org/officeDocument/2006/relationships" id="258" r:id="R339e25facbbe4cf4"/>
    <p:sldId xmlns:r="http://schemas.openxmlformats.org/officeDocument/2006/relationships" id="259" r:id="R50c174fad1bb42b1"/>
    <p:sldId xmlns:r="http://schemas.openxmlformats.org/officeDocument/2006/relationships" id="260" r:id="Rb838c24b32344d8f"/>
    <p:sldId xmlns:r="http://schemas.openxmlformats.org/officeDocument/2006/relationships" id="261" r:id="Rd9ee9cbb8ea94351"/>
    <p:sldId xmlns:r="http://schemas.openxmlformats.org/officeDocument/2006/relationships" id="262" r:id="R81941f9293ee43b9"/>
    <p:sldId xmlns:r="http://schemas.openxmlformats.org/officeDocument/2006/relationships" id="263" r:id="Rb5bd30b774d647b8"/>
    <p:sldId xmlns:r="http://schemas.openxmlformats.org/officeDocument/2006/relationships" id="264" r:id="R8433815672b44fa0"/>
    <p:sldId xmlns:r="http://schemas.openxmlformats.org/officeDocument/2006/relationships" id="265" r:id="R9b4aca443f254f83"/>
    <p:sldId xmlns:r="http://schemas.openxmlformats.org/officeDocument/2006/relationships" id="266" r:id="Ra6c84bdf171e4905"/>
    <p:sldId xmlns:r="http://schemas.openxmlformats.org/officeDocument/2006/relationships" id="267" r:id="Rd605dd32ce3d4e13"/>
    <p:sldId xmlns:r="http://schemas.openxmlformats.org/officeDocument/2006/relationships" id="268" r:id="R4f75c72f386d4403"/>
    <p:sldId xmlns:r="http://schemas.openxmlformats.org/officeDocument/2006/relationships" id="269" r:id="R44b1d9a6627d4276"/>
    <p:sldId xmlns:r="http://schemas.openxmlformats.org/officeDocument/2006/relationships" id="270" r:id="Rb057ead12bd34165"/>
    <p:sldId xmlns:r="http://schemas.openxmlformats.org/officeDocument/2006/relationships" id="271" r:id="Rf820edab12e84a51"/>
    <p:sldId xmlns:r="http://schemas.openxmlformats.org/officeDocument/2006/relationships" id="272" r:id="Rcf340167bd5b49d8"/>
    <p:sldId xmlns:r="http://schemas.openxmlformats.org/officeDocument/2006/relationships" id="273" r:id="R47a4933492804603"/>
    <p:sldId xmlns:r="http://schemas.openxmlformats.org/officeDocument/2006/relationships" id="274" r:id="R5ced725c535a4c7d"/>
    <p:sldId xmlns:r="http://schemas.openxmlformats.org/officeDocument/2006/relationships" id="275" r:id="R3873563337e24cef"/>
    <p:sldId xmlns:r="http://schemas.openxmlformats.org/officeDocument/2006/relationships" id="276" r:id="Rb32de6479a5f4d77"/>
    <p:sldId xmlns:r="http://schemas.openxmlformats.org/officeDocument/2006/relationships" id="277" r:id="Rd383b46295d94ef4"/>
    <p:sldId xmlns:r="http://schemas.openxmlformats.org/officeDocument/2006/relationships" id="278" r:id="R340ce2bd0ad54d0e"/>
    <p:sldId xmlns:r="http://schemas.openxmlformats.org/officeDocument/2006/relationships" id="279" r:id="R71f701b9d33241f5"/>
    <p:sldId xmlns:r="http://schemas.openxmlformats.org/officeDocument/2006/relationships" id="280" r:id="Rc791a0bc3ada4c7e"/>
    <p:sldId xmlns:r="http://schemas.openxmlformats.org/officeDocument/2006/relationships" id="281" r:id="R824decd20c024185"/>
    <p:sldId xmlns:r="http://schemas.openxmlformats.org/officeDocument/2006/relationships" id="282" r:id="Rb7712290421c4514"/>
    <p:sldId xmlns:r="http://schemas.openxmlformats.org/officeDocument/2006/relationships" id="283" r:id="R2f8825c9f8af465a"/>
    <p:sldId xmlns:r="http://schemas.openxmlformats.org/officeDocument/2006/relationships" id="284" r:id="Rf5392a5161a0404c"/>
    <p:sldId xmlns:r="http://schemas.openxmlformats.org/officeDocument/2006/relationships" id="285" r:id="R50bb7077ace44bd1"/>
    <p:sldId xmlns:r="http://schemas.openxmlformats.org/officeDocument/2006/relationships" id="286" r:id="Rb67853a805514436"/>
    <p:sldId xmlns:r="http://schemas.openxmlformats.org/officeDocument/2006/relationships" id="287" r:id="R268a83593b6842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e7e4563de74425" /><Relationship Type="http://schemas.openxmlformats.org/officeDocument/2006/relationships/slideMaster" Target="/ppt/slideMasters/slideMaster1.xml" Id="Rc730fbfa94b24491" /><Relationship Type="http://schemas.openxmlformats.org/officeDocument/2006/relationships/notesMaster" Target="/ppt/notesMasters/notesMaster1.xml" Id="Ra0be7e0376b64478" /><Relationship Type="http://schemas.openxmlformats.org/officeDocument/2006/relationships/presProps" Target="/ppt/presProps.xml" Id="Re72c1b267a8f42e0" /><Relationship Type="http://schemas.openxmlformats.org/officeDocument/2006/relationships/tableStyles" Target="/ppt/tableStyles.xml" Id="Rac69748acaba4e4b" /><Relationship Type="http://schemas.openxmlformats.org/officeDocument/2006/relationships/slide" Target="/ppt/slides/slide1.xml" Id="R32504ec3fedd4939" /><Relationship Type="http://schemas.openxmlformats.org/officeDocument/2006/relationships/slide" Target="/ppt/slides/slide2.xml" Id="Rbc580149ff8c4352" /><Relationship Type="http://schemas.openxmlformats.org/officeDocument/2006/relationships/slide" Target="/ppt/slides/slide3.xml" Id="R339e25facbbe4cf4" /><Relationship Type="http://schemas.openxmlformats.org/officeDocument/2006/relationships/slide" Target="/ppt/slides/slide4.xml" Id="R50c174fad1bb42b1" /><Relationship Type="http://schemas.openxmlformats.org/officeDocument/2006/relationships/slide" Target="/ppt/slides/slide5.xml" Id="Rb838c24b32344d8f" /><Relationship Type="http://schemas.openxmlformats.org/officeDocument/2006/relationships/slide" Target="/ppt/slides/slide6.xml" Id="Rd9ee9cbb8ea94351" /><Relationship Type="http://schemas.openxmlformats.org/officeDocument/2006/relationships/slide" Target="/ppt/slides/slide7.xml" Id="R81941f9293ee43b9" /><Relationship Type="http://schemas.openxmlformats.org/officeDocument/2006/relationships/slide" Target="/ppt/slides/slide8.xml" Id="Rb5bd30b774d647b8" /><Relationship Type="http://schemas.openxmlformats.org/officeDocument/2006/relationships/slide" Target="/ppt/slides/slide9.xml" Id="R8433815672b44fa0" /><Relationship Type="http://schemas.openxmlformats.org/officeDocument/2006/relationships/slide" Target="/ppt/slides/slide10.xml" Id="R9b4aca443f254f83" /><Relationship Type="http://schemas.openxmlformats.org/officeDocument/2006/relationships/slide" Target="/ppt/slides/slide11.xml" Id="Ra6c84bdf171e4905" /><Relationship Type="http://schemas.openxmlformats.org/officeDocument/2006/relationships/slide" Target="/ppt/slides/slide12.xml" Id="Rd605dd32ce3d4e13" /><Relationship Type="http://schemas.openxmlformats.org/officeDocument/2006/relationships/slide" Target="/ppt/slides/slide13.xml" Id="R4f75c72f386d4403" /><Relationship Type="http://schemas.openxmlformats.org/officeDocument/2006/relationships/slide" Target="/ppt/slides/slide14.xml" Id="R44b1d9a6627d4276" /><Relationship Type="http://schemas.openxmlformats.org/officeDocument/2006/relationships/slide" Target="/ppt/slides/slide15.xml" Id="Rb057ead12bd34165" /><Relationship Type="http://schemas.openxmlformats.org/officeDocument/2006/relationships/slide" Target="/ppt/slides/slide16.xml" Id="Rf820edab12e84a51" /><Relationship Type="http://schemas.openxmlformats.org/officeDocument/2006/relationships/slide" Target="/ppt/slides/slide17.xml" Id="Rcf340167bd5b49d8" /><Relationship Type="http://schemas.openxmlformats.org/officeDocument/2006/relationships/slide" Target="/ppt/slides/slide18.xml" Id="R47a4933492804603" /><Relationship Type="http://schemas.openxmlformats.org/officeDocument/2006/relationships/slide" Target="/ppt/slides/slide19.xml" Id="R5ced725c535a4c7d" /><Relationship Type="http://schemas.openxmlformats.org/officeDocument/2006/relationships/slide" Target="/ppt/slides/slide20.xml" Id="R3873563337e24cef" /><Relationship Type="http://schemas.openxmlformats.org/officeDocument/2006/relationships/slide" Target="/ppt/slides/slide21.xml" Id="Rb32de6479a5f4d77" /><Relationship Type="http://schemas.openxmlformats.org/officeDocument/2006/relationships/slide" Target="/ppt/slides/slide22.xml" Id="Rd383b46295d94ef4" /><Relationship Type="http://schemas.openxmlformats.org/officeDocument/2006/relationships/slide" Target="/ppt/slides/slide23.xml" Id="R340ce2bd0ad54d0e" /><Relationship Type="http://schemas.openxmlformats.org/officeDocument/2006/relationships/slide" Target="/ppt/slides/slide24.xml" Id="R71f701b9d33241f5" /><Relationship Type="http://schemas.openxmlformats.org/officeDocument/2006/relationships/slide" Target="/ppt/slides/slide25.xml" Id="Rc791a0bc3ada4c7e" /><Relationship Type="http://schemas.openxmlformats.org/officeDocument/2006/relationships/slide" Target="/ppt/slides/slide26.xml" Id="R824decd20c024185" /><Relationship Type="http://schemas.openxmlformats.org/officeDocument/2006/relationships/slide" Target="/ppt/slides/slide27.xml" Id="Rb7712290421c4514" /><Relationship Type="http://schemas.openxmlformats.org/officeDocument/2006/relationships/slide" Target="/ppt/slides/slide28.xml" Id="R2f8825c9f8af465a" /><Relationship Type="http://schemas.openxmlformats.org/officeDocument/2006/relationships/slide" Target="/ppt/slides/slide29.xml" Id="Rf5392a5161a0404c" /><Relationship Type="http://schemas.openxmlformats.org/officeDocument/2006/relationships/slide" Target="/ppt/slides/slide30.xml" Id="R50bb7077ace44bd1" /><Relationship Type="http://schemas.openxmlformats.org/officeDocument/2006/relationships/slide" Target="/ppt/slides/slide31.xml" Id="Rb67853a805514436" /><Relationship Type="http://schemas.openxmlformats.org/officeDocument/2006/relationships/slide" Target="/ppt/slides/slide32.xml" Id="R268a83593b6842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3ad5a80f9545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695b0232c64b37" /><Relationship Type="http://schemas.openxmlformats.org/officeDocument/2006/relationships/notesMaster" Target="/ppt/notesMasters/notesMaster1.xml" Id="R9d07bfb0311949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c84ab4400e43ea" /><Relationship Type="http://schemas.openxmlformats.org/officeDocument/2006/relationships/notesMaster" Target="/ppt/notesMasters/notesMaster1.xml" Id="R24d8358a5c6a4e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1e384b4899494e" /><Relationship Type="http://schemas.openxmlformats.org/officeDocument/2006/relationships/notesMaster" Target="/ppt/notesMasters/notesMaster1.xml" Id="R8ec753bbd7ac4c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784ec4f2c94fe5" /><Relationship Type="http://schemas.openxmlformats.org/officeDocument/2006/relationships/notesMaster" Target="/ppt/notesMasters/notesMaster1.xml" Id="Rf3327cc8b4e344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a9998a44bd4be0" /><Relationship Type="http://schemas.openxmlformats.org/officeDocument/2006/relationships/notesMaster" Target="/ppt/notesMasters/notesMaster1.xml" Id="Re843c3b642e042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a670fb743449d9" /><Relationship Type="http://schemas.openxmlformats.org/officeDocument/2006/relationships/notesMaster" Target="/ppt/notesMasters/notesMaster1.xml" Id="R6a5c7def19494b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11edf236024a14" /><Relationship Type="http://schemas.openxmlformats.org/officeDocument/2006/relationships/notesMaster" Target="/ppt/notesMasters/notesMaster1.xml" Id="R4111f04333c944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870178c5234937" /><Relationship Type="http://schemas.openxmlformats.org/officeDocument/2006/relationships/notesMaster" Target="/ppt/notesMasters/notesMaster1.xml" Id="R24f1f792b3ff45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645891a31846b6" /><Relationship Type="http://schemas.openxmlformats.org/officeDocument/2006/relationships/notesMaster" Target="/ppt/notesMasters/notesMaster1.xml" Id="R2b9f699e7a5047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493a8b344749f6" /><Relationship Type="http://schemas.openxmlformats.org/officeDocument/2006/relationships/notesMaster" Target="/ppt/notesMasters/notesMaster1.xml" Id="R7c28a2f0a44643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4b4fbe9cf094828" /><Relationship Type="http://schemas.openxmlformats.org/officeDocument/2006/relationships/notesMaster" Target="/ppt/notesMasters/notesMaster1.xml" Id="Rff05ec9026e64ce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f341213e30468b" /><Relationship Type="http://schemas.openxmlformats.org/officeDocument/2006/relationships/notesMaster" Target="/ppt/notesMasters/notesMaster1.xml" Id="Rb37dfded0089401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c3ec25c64854b9f" /><Relationship Type="http://schemas.openxmlformats.org/officeDocument/2006/relationships/notesMaster" Target="/ppt/notesMasters/notesMaster1.xml" Id="R5158d75b6d484b1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ba51e2f5f6a47b9" /><Relationship Type="http://schemas.openxmlformats.org/officeDocument/2006/relationships/notesMaster" Target="/ppt/notesMasters/notesMaster1.xml" Id="R17faaaad56f8463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e10095b7d934412" /><Relationship Type="http://schemas.openxmlformats.org/officeDocument/2006/relationships/notesMaster" Target="/ppt/notesMasters/notesMaster1.xml" Id="Rec1f08a0d52045d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e8203561bfb4e1c" /><Relationship Type="http://schemas.openxmlformats.org/officeDocument/2006/relationships/notesMaster" Target="/ppt/notesMasters/notesMaster1.xml" Id="Rc277903a01a247d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20b45baee1a4c30" /><Relationship Type="http://schemas.openxmlformats.org/officeDocument/2006/relationships/notesMaster" Target="/ppt/notesMasters/notesMaster1.xml" Id="Rb6a2a602c69e4e0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99d112a82034995" /><Relationship Type="http://schemas.openxmlformats.org/officeDocument/2006/relationships/notesMaster" Target="/ppt/notesMasters/notesMaster1.xml" Id="R7cdbe480517c4a0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aeea156aa724fff" /><Relationship Type="http://schemas.openxmlformats.org/officeDocument/2006/relationships/notesMaster" Target="/ppt/notesMasters/notesMaster1.xml" Id="Raa9cb22c9087444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a962424a8034b6a" /><Relationship Type="http://schemas.openxmlformats.org/officeDocument/2006/relationships/notesMaster" Target="/ppt/notesMasters/notesMaster1.xml" Id="R02e225ecf89740f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3dd9148a1c64a8d" /><Relationship Type="http://schemas.openxmlformats.org/officeDocument/2006/relationships/notesMaster" Target="/ppt/notesMasters/notesMaster1.xml" Id="Re64f06bc2e174de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06985d3935f446a" /><Relationship Type="http://schemas.openxmlformats.org/officeDocument/2006/relationships/notesMaster" Target="/ppt/notesMasters/notesMaster1.xml" Id="R61ffe1c38c7a41c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c12f02599784261" /><Relationship Type="http://schemas.openxmlformats.org/officeDocument/2006/relationships/notesMaster" Target="/ppt/notesMasters/notesMaster1.xml" Id="R002ecf42dc3c46c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63592f265b94930" /><Relationship Type="http://schemas.openxmlformats.org/officeDocument/2006/relationships/notesMaster" Target="/ppt/notesMasters/notesMaster1.xml" Id="Rf535d5255803405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59b2153af264178" /><Relationship Type="http://schemas.openxmlformats.org/officeDocument/2006/relationships/notesMaster" Target="/ppt/notesMasters/notesMaster1.xml" Id="Rf2ef489a007040e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84e2cfdb7844760" /><Relationship Type="http://schemas.openxmlformats.org/officeDocument/2006/relationships/notesMaster" Target="/ppt/notesMasters/notesMaster1.xml" Id="R5e9ae601a76548f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9fd95d03b41403f" /><Relationship Type="http://schemas.openxmlformats.org/officeDocument/2006/relationships/notesMaster" Target="/ppt/notesMasters/notesMaster1.xml" Id="R69fbac5eaf86410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ee2bfb5f16c4447" /><Relationship Type="http://schemas.openxmlformats.org/officeDocument/2006/relationships/notesMaster" Target="/ppt/notesMasters/notesMaster1.xml" Id="R867bec5dc3d145c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f037460e0f54a25" /><Relationship Type="http://schemas.openxmlformats.org/officeDocument/2006/relationships/notesMaster" Target="/ppt/notesMasters/notesMaster1.xml" Id="Rf66ead4397ba441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e97883245424d70" /><Relationship Type="http://schemas.openxmlformats.org/officeDocument/2006/relationships/notesMaster" Target="/ppt/notesMasters/notesMaster1.xml" Id="R1292ecf5210d449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ed04c7da8cb4f1a" /><Relationship Type="http://schemas.openxmlformats.org/officeDocument/2006/relationships/notesMaster" Target="/ppt/notesMasters/notesMaster1.xml" Id="R13d90c62e589442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28c3c532ee245ca" /><Relationship Type="http://schemas.openxmlformats.org/officeDocument/2006/relationships/notesMaster" Target="/ppt/notesMasters/notesMaster1.xml" Id="R48477da6fe6145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connects our first-principles learning to a specific engineering question: can a small causal language model transform synthetic identifying text while preserving the intended clinical markers? Explain the learning objective before discussing architecture. The current edition documents completed Week 5 evidence and the Mitra design. Mitra training, evaluation and a verified demonstration remain pending. This is a preparation edition, not a report of completed Mitra experiments.</a:t>
            </a:r>
          </a:p>
          <a:p xmlns:a="http://schemas.openxmlformats.org/drawingml/2006/main">
            <a:r>
              <a:t/>
            </a:r>
          </a:p>
          <a:p xmlns:a="http://schemas.openxmlformats.org/drawingml/2006/main">
            <a:r>
              <a:t>Sources:</a:t>
            </a:r>
          </a:p>
          <a:p xmlns:a="http://schemas.openxmlformats.org/drawingml/2006/main">
            <a:r>
              <a:t>C:/Users/Nagar/source/repos/ai-learning-lab/topics/Mitra Topics/Week 6 — Build Your Own Tiny-GPT_Excercise.md</a:t>
            </a:r>
          </a:p>
          <a:p xmlns:a="http://schemas.openxmlformats.org/drawingml/2006/main">
            <a:r>
              <a:t>C:/Users/Nagar/source/repos/ai-learning-lab/projects/week 5/visualizations/arch_results.json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a narrative, not as a list of technologies. A forward pass computes scores, but loss and backpropagation make those scores learnable. Embeddings replace sparse token identities with learned vectors. Attention lets each position gather information from earlier positions. Multiple heads provide separate learned projections. A complete block combines attention with feature transformation, normalization and residual paths. The tracker marks Weeks 1 to 4 complete and Week 5 in progress. That is a record of learning progress, not a fresh assessment of personal mastery. The Week 5 repository contains executable NumPy components and saved experiment results.</a:t>
            </a:r>
          </a:p>
          <a:p xmlns:a="http://schemas.openxmlformats.org/drawingml/2006/main">
            <a:r>
              <a:t/>
            </a:r>
          </a:p>
          <a:p xmlns:a="http://schemas.openxmlformats.org/drawingml/2006/main">
            <a:r>
              <a:t>Sources:</a:t>
            </a:r>
          </a:p>
          <a:p xmlns:a="http://schemas.openxmlformats.org/drawingml/2006/main">
            <a:r>
              <a:t>C:/Users/Nagar/source/repos/ai-learning-lab/PROGRESS.md</a:t>
            </a:r>
          </a:p>
          <a:p xmlns:a="http://schemas.openxmlformats.org/drawingml/2006/main">
            <a:r>
              <a:t>C:/Users/Nagar/source/repos/ai-learning-lab/projects/week 5/numpy_transformer_suite.py</a:t>
            </a:r>
          </a:p>
          <a:p xmlns:a="http://schemas.openxmlformats.org/drawingml/2006/main">
            <a:r>
              <a:t>C:/Users/Nagar/source/repos/ai-learning-lab/projects/week 5/visualizations/arch_results.json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source and target aloud. The target removes the synthetic patient name and record number while retaining the diagnosis and biomarker. These are task rules for a controlled educational dataset. We are not making a legal compliance claim or validating a clinical product. State clearly that the displayed target is authored ground truth, not an observed model generation. A deterministic rule system could solve tightly structured examples. We build a decoder-only model because the assignment asks us to understand conditional generation. An eventual application comparison should include rules and a token-classification pipeline.</a:t>
            </a:r>
          </a:p>
          <a:p xmlns:a="http://schemas.openxmlformats.org/drawingml/2006/main">
            <a:r>
              <a:t/>
            </a:r>
          </a:p>
          <a:p xmlns:a="http://schemas.openxmlformats.org/drawingml/2006/main">
            <a:r>
              <a:t>Sources:</a:t>
            </a:r>
          </a:p>
          <a:p xmlns:a="http://schemas.openxmlformats.org/drawingml/2006/main">
            <a:r>
              <a:t>C:/Users/Nagar/source/repos/ai-learning-lab/topics/Mitra Topics/Week 6 — Build Your Own Tiny-GPT_Excercise.md</a:t>
            </a:r>
          </a:p>
          <a:p xmlns:a="http://schemas.openxmlformats.org/drawingml/2006/main">
            <a:r>
              <a:t>C:/Users/Nagar/source/repos/tiny-mitra-week6-project-v2/tiny-mitra/tiny_mitra/data.py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important credibility slide for a technical audience. We found a separate starter package, but the learner confirmed Mitra has not yet been implemented as completed project work. Treat that package as unvalidated starter material. No checkpoint or result artifact was found in the inspected starter tree. Do not call its expected outputs successful generations. Before presenting this as a completed experiment, replace the status with the evidence actually produced. There are eight variants in the saved Week 5 JSON even though the progress tracker still refers to a seven-model benchmark.</a:t>
            </a:r>
          </a:p>
          <a:p xmlns:a="http://schemas.openxmlformats.org/drawingml/2006/main">
            <a:r>
              <a:t/>
            </a:r>
          </a:p>
          <a:p xmlns:a="http://schemas.openxmlformats.org/drawingml/2006/main">
            <a:r>
              <a:t>Sources:</a:t>
            </a:r>
          </a:p>
          <a:p xmlns:a="http://schemas.openxmlformats.org/drawingml/2006/main">
            <a:r>
              <a:t>C:/Users/Nagar/source/repos/ai-learning-lab/projects/week 5/visualizations/arch_results.json</a:t>
            </a:r>
          </a:p>
          <a:p xmlns:a="http://schemas.openxmlformats.org/drawingml/2006/main">
            <a:r>
              <a:t>C:/Users/Nagar/source/repos/ai-learning-lab/PROGRESS.md</a:t>
            </a:r>
          </a:p>
          <a:p xmlns:a="http://schemas.openxmlformats.org/drawingml/2006/main">
            <a:r>
              <a:t>C:/Users/Nagar/source/repos/tiny-mitra-week6-project-v2/tiny-mitra/tiny_mitra/model.py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predicts a next-token distribution at every input position. We serialize each example as source text followed by a boundary token and the desired output. During training, the position occupied by &lt;OUTPUT&gt; predicts PATIENT. The next position, occupied by PATIENT, predicts [NAME]. Later, DIAGNOSIS predicts the appropriate clinical value using the earlier source. &lt;BOS&gt;, &lt;INPUT&gt;, &lt;OUTPUT&gt; and &lt;EOS&gt; are vocabulary entries with learned embeddings. Their names are conventions, not hard-coded reasoning. A model must learn how those boundaries relate to the training task. The loss mask scores the output continuation and EOS while retaining the source as context.</a:t>
            </a:r>
          </a:p>
          <a:p xmlns:a="http://schemas.openxmlformats.org/drawingml/2006/main">
            <a:r>
              <a:t/>
            </a:r>
          </a:p>
          <a:p xmlns:a="http://schemas.openxmlformats.org/drawingml/2006/main">
            <a:r>
              <a:t>Sources:</a:t>
            </a:r>
          </a:p>
          <a:p xmlns:a="http://schemas.openxmlformats.org/drawingml/2006/main">
            <a:r>
              <a:t>C:/Users/Nagar/source/repos/tiny-mitra-week6-project-v2/tiny-mitra/tiny_mitra/data.py</a:t>
            </a:r>
          </a:p>
          <a:p xmlns:a="http://schemas.openxmlformats.org/drawingml/2006/main">
            <a:r>
              <a:t>C:/Users/Nagar/source/repos/tiny-mitra-week6-project-v2/tiny-mitra/tiny_mitra/model.py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forcing means the training input contains the correct previous output token. A causal mask prevents a position from reading a later target, so these position-wise predictions can be computed together. Autoregressive generation has no gold output. We take logits from the last supplied token position, choose one next token, append it, and repeat. The distinction explains why a low teacher-forced loss can coexist with poor full-sequence generation: generation conditions on its own mistakes. The causal attention mask, padding mask and loss mask solve different problems. We must test all of them rather than relying on a plausible diagram.</a:t>
            </a:r>
          </a:p>
          <a:p xmlns:a="http://schemas.openxmlformats.org/drawingml/2006/main">
            <a:r>
              <a:t/>
            </a:r>
          </a:p>
          <a:p xmlns:a="http://schemas.openxmlformats.org/drawingml/2006/main">
            <a:r>
              <a:t>Sources:</a:t>
            </a:r>
          </a:p>
          <a:p xmlns:a="http://schemas.openxmlformats.org/drawingml/2006/main">
            <a:r>
              <a:t>C:/Users/Nagar/source/repos/tiny-mitra-week6-project-v2/tiny-mitra/tiny_mitra/data.py</a:t>
            </a:r>
          </a:p>
          <a:p xmlns:a="http://schemas.openxmlformats.org/drawingml/2006/main">
            <a:r>
              <a:t>C:/Users/Nagar/source/repos/tiny-mitra-week6-project-v2/tiny-mitra/tiny_mitra/generation.py</a:t>
            </a:r>
          </a:p>
          <a:p xmlns:a="http://schemas.openxmlformats.org/drawingml/2006/main">
            <a:r>
              <a:t>C:/Users/Nagar/source/repos/tiny-mitra-week6-project-v2/tiny-mitra/tiny_mitra/model.py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starter uses a regex word tokenizer and fits it on training sequences only. This avoids building the vocabulary from test examples, but it creates an important limitation. Olivia and Noah can both become the same &lt;UNK&gt; token. Adding different position vectors does not recover their lost spelling. Redacting a name after PATIENT may still work from context, but that result would not prove character-level understanding of names. An unseen diagnosis might also become &lt;UNK&gt;, and a fixed output vocabulary cannot generate the original unseen word. Worse, the decoder cannot emit a test-only name absent from its vocabulary, so zero literal leakage on such names can be structurally guaranteed. Test known identifiers too and distinguish tokenizer coverage from model behavior.</a:t>
            </a:r>
          </a:p>
          <a:p xmlns:a="http://schemas.openxmlformats.org/drawingml/2006/main">
            <a:r>
              <a:t/>
            </a:r>
          </a:p>
          <a:p xmlns:a="http://schemas.openxmlformats.org/drawingml/2006/main">
            <a:r>
              <a:t>Sources:</a:t>
            </a:r>
          </a:p>
          <a:p xmlns:a="http://schemas.openxmlformats.org/drawingml/2006/main">
            <a:r>
              <a:t>C:/Users/Nagar/source/repos/tiny-mitra-week6-project-v2/tiny-mitra/tiny_mitra/tokenizer.py</a:t>
            </a:r>
          </a:p>
          <a:p xmlns:a="http://schemas.openxmlformats.org/drawingml/2006/main">
            <a:r>
              <a:t>C:/Users/Nagar/source/repos/ai-learning-lab/resources/references/Hands-on- Large Language Models.md</a:t>
            </a:r>
          </a:p>
          <a:p xmlns:a="http://schemas.openxmlformats.org/drawingml/2006/main">
            <a:r>
              <a:t>C:/Users/Nagar/source/repos/tiny-mitra-week6-project-v2/tiny-mitra/tiny_mitra/data.py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ID is an address, not a meaningful numerical quantity. A token with ID 40 is not twice the meaning of ID 20. The embedding table has one row per vocabulary entry and one column per feature dimension. Lookup retrieves that row. The position table adds another vector of the same width so order is available to the network. These dimensions are learned features and should not be assigned fixed human meanings. The tiny two-dimensional arithmetic on the slide only illustrates addition. It is not a vector measured from the project. Where used in AI: every subsequent Q/K/V projection transforms these combined input representations.</a:t>
            </a:r>
          </a:p>
          <a:p xmlns:a="http://schemas.openxmlformats.org/drawingml/2006/main">
            <a:r>
              <a:t/>
            </a:r>
          </a:p>
          <a:p xmlns:a="http://schemas.openxmlformats.org/drawingml/2006/main">
            <a:r>
              <a:t>Sources:</a:t>
            </a:r>
          </a:p>
          <a:p xmlns:a="http://schemas.openxmlformats.org/drawingml/2006/main">
            <a:r>
              <a:t>C:/Users/Nagar/source/repos/tiny-mitra-week6-project-v2/tiny-mitra/tiny_mitra/model.py</a:t>
            </a:r>
          </a:p>
          <a:p xmlns:a="http://schemas.openxmlformats.org/drawingml/2006/main">
            <a:r>
              <a:t>C:/Users/Nagar/source/repos/tiny-mitra-week6-project-v2/tiny-mitra/tiny_mitra/config.py</a:t>
            </a:r>
          </a:p>
          <a:p xmlns:a="http://schemas.openxmlformats.org/drawingml/2006/main">
            <a:r>
              <a:t>C:/Users/Nagar/source/repos/ai-learning-lab/resources/references/Hands-on- Large Language Models.md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pair avoids a weak context demonstration in which a changed immediately preceding output label already determines the answer. At the decision point shown here, the latest output token is DIAGNOSIS in both prompts, and the sequence lengths match. Only the earlier source diagnosis changes. Model A sees only the current token and position, so its logits at this point cannot distinguish the two sources. An attention model can use the earlier source. That gives a concrete capability difference, but success still requires an executed test. Include these cases inside the supported task distribution and reserve separate unseen-template tests. Show both next-token probabilities and complete generations.</a:t>
            </a:r>
          </a:p>
          <a:p xmlns:a="http://schemas.openxmlformats.org/drawingml/2006/main">
            <a:r>
              <a:t/>
            </a:r>
          </a:p>
          <a:p xmlns:a="http://schemas.openxmlformats.org/drawingml/2006/main">
            <a:r>
              <a:t>Sources:</a:t>
            </a:r>
          </a:p>
          <a:p xmlns:a="http://schemas.openxmlformats.org/drawingml/2006/main">
            <a:r>
              <a:t>C:/Users/Nagar/source/repos/ai-learning-lab/topics/Mitra Topics/Week 6 — Build Your Own Tiny-GPT_Excercise.md</a:t>
            </a:r>
          </a:p>
          <a:p xmlns:a="http://schemas.openxmlformats.org/drawingml/2006/main">
            <a:r>
              <a:t>C:/Users/Nagar/source/repos/tiny-mitra-week6-project-v2/tiny-mitra/tiny_mitra/model.py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 K and V are different projections of the current hidden representations. A query at one position has a dot product with every eligible key. Transposing K aligns its feature dimension for those comparisons. Dividing by the square root of head width limits score scale under the standard variance intuition. Softmax exponentiates each eligible score and divides by the row sum, yielding nonnegative weights that sum to one. Multiplying by V gives a weighted mixture, not a discrete database lookup. In a causal layer, later keys are ineligible. The query at a generation step belongs to the final prefix position, which predicts the next token. Calling a head a name-detector requires measured evidence.</a:t>
            </a:r>
          </a:p>
          <a:p xmlns:a="http://schemas.openxmlformats.org/drawingml/2006/main">
            <a:r>
              <a:t/>
            </a:r>
          </a:p>
          <a:p xmlns:a="http://schemas.openxmlformats.org/drawingml/2006/main">
            <a:r>
              <a:t>Sources:</a:t>
            </a:r>
          </a:p>
          <a:p xmlns:a="http://schemas.openxmlformats.org/drawingml/2006/main">
            <a:r>
              <a:t>C:/Users/Nagar/source/repos/tiny-mitra-week6-project-v2/tiny-mitra/tiny_mitra/model.py</a:t>
            </a:r>
          </a:p>
          <a:p xmlns:a="http://schemas.openxmlformats.org/drawingml/2006/main">
            <a:r>
              <a:t>https://arxiv.org/abs/1706.03762</a:t>
            </a:r>
          </a:p>
          <a:p xmlns:a="http://schemas.openxmlformats.org/drawingml/2006/main">
            <a:r>
              <a:t>https://aclanthology.org/N19-1357/</a:t>
            </a:r>
          </a:p>
          <a:p xmlns:a="http://schemas.openxmlformats.org/drawingml/2006/main">
            <a:r>
              <a:t>https://aclanthology.org/D19-1002/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shows an excerpt of the causal pattern over output positions. Every output query can also read eligible earlier source positions, which are omitted from this small matrix. Blocked attention scores become negative infinity before softmax, so their attention probabilities become zero. The diagonal remains visible because a token representation predicts the next token. Padding keys are masked separately. The output-only loss mask decides which predictions contribute to the objective and does not control attention visibility. A useful causal test changes a future token and verifies that earlier logits stay unchanged in evaluation mode. A separate test changes padded input values and checks that nonpadded predictions do not change.</a:t>
            </a:r>
          </a:p>
          <a:p xmlns:a="http://schemas.openxmlformats.org/drawingml/2006/main">
            <a:r>
              <a:t/>
            </a:r>
          </a:p>
          <a:p xmlns:a="http://schemas.openxmlformats.org/drawingml/2006/main">
            <a:r>
              <a:t>Sources:</a:t>
            </a:r>
          </a:p>
          <a:p xmlns:a="http://schemas.openxmlformats.org/drawingml/2006/main">
            <a:r>
              <a:t>C:/Users/Nagar/source/repos/tiny-mitra-week6-project-v2/tiny-mitra/tiny_mitra/model.py</a:t>
            </a:r>
          </a:p>
          <a:p xmlns:a="http://schemas.openxmlformats.org/drawingml/2006/main">
            <a:r>
              <a:t>C:/Users/Nagar/source/repos/tiny-mitra-week6-project-v2/tiny-mitra/tiny_mitra/data.py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starter default has d_model 64 and four heads, so d_head is 16. The head split reorganizes projected features. It does not divide the sequence into four sections, and head one is not automatically assigned names while head two handles record numbers. Each head gets every eligible token position. Concatenation joins feature channels. The learned output projection can combine these channels. Holding d_model fixed keeps the standard attention projection parameter count approximately constant as the number of heads changes. More heads do not automatically mean more parameters or better results. We must measure whether distinct useful behavior develops.</a:t>
            </a:r>
          </a:p>
          <a:p xmlns:a="http://schemas.openxmlformats.org/drawingml/2006/main">
            <a:r>
              <a:t/>
            </a:r>
          </a:p>
          <a:p xmlns:a="http://schemas.openxmlformats.org/drawingml/2006/main">
            <a:r>
              <a:t>Sources:</a:t>
            </a:r>
          </a:p>
          <a:p xmlns:a="http://schemas.openxmlformats.org/drawingml/2006/main">
            <a:r>
              <a:t>C:/Users/Nagar/source/repos/tiny-mitra-week6-project-v2/tiny-mitra/tiny_mitra/model.py</a:t>
            </a:r>
          </a:p>
          <a:p xmlns:a="http://schemas.openxmlformats.org/drawingml/2006/main">
            <a:r>
              <a:t>C:/Users/Nagar/source/repos/tiny-mitra-week6-project-v2/tiny-mitra/tiny_mitra/config.py</a:t>
            </a:r>
          </a:p>
          <a:p xmlns:a="http://schemas.openxmlformats.org/drawingml/2006/main">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pre-LayerNorm block, matching both the inspected Week 5 NumPy class and the Mitra starter. The older Week 5 submission prose displays a different ordering, so use the code when explaining the implementation. LN1 transforms X before attention, then the residual adds the attention update to X. LN2 transforms U before the feed-forward network, followed by another residual addition. LN computes feature mean and variance for each position, then applies learned scale and offset. The FFN expands from 64 to 192 features, applies GELU in this starter, and projects back to 64. Neither component alone guarantees generalization or training stability under arbitrary settings.</a:t>
            </a:r>
          </a:p>
          <a:p xmlns:a="http://schemas.openxmlformats.org/drawingml/2006/main">
            <a:r>
              <a:t/>
            </a:r>
          </a:p>
          <a:p xmlns:a="http://schemas.openxmlformats.org/drawingml/2006/main">
            <a:r>
              <a:t>Sources:</a:t>
            </a:r>
          </a:p>
          <a:p xmlns:a="http://schemas.openxmlformats.org/drawingml/2006/main">
            <a:r>
              <a:t>C:/Users/Nagar/source/repos/tiny-mitra-week6-project-v2/tiny-mitra/tiny_mitra/model.py</a:t>
            </a:r>
          </a:p>
          <a:p xmlns:a="http://schemas.openxmlformats.org/drawingml/2006/main">
            <a:r>
              <a:t>C:/Users/Nagar/source/repos/ai-learning-lab/projects/week 5/numpy_transformer_suite.py</a:t>
            </a:r>
          </a:p>
          <a:p xmlns:a="http://schemas.openxmlformats.org/drawingml/2006/main">
            <a:r>
              <a:t>https://arxiv.org/abs/1607.06450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eight-token prefix &lt;BOS&gt; &lt;INPUT&gt; PATIENT John Smith DIAGNOSIS NSCLC &lt;OUTPUT&gt;. The prefix length is eight, but vocabulary size V depends on the tokenizer fitted to the training set. The table uses the starter default model width and head count, not measured activations. At &lt;OUTPUT&gt;, the first desired generated token is PATIENT. The model does not immediately emit [NAME]. After PATIENT is appended, the next forward pass predicts the placeholder. Both blocks preserve the outer batch, time and model-width shape. The final linear layer changes only the feature dimension from 64 to V. The generation loop selects the last time position because it predicts the continuation after the supplied prefix.</a:t>
            </a:r>
          </a:p>
          <a:p xmlns:a="http://schemas.openxmlformats.org/drawingml/2006/main">
            <a:r>
              <a:t/>
            </a:r>
          </a:p>
          <a:p xmlns:a="http://schemas.openxmlformats.org/drawingml/2006/main">
            <a:r>
              <a:t>Sources:</a:t>
            </a:r>
          </a:p>
          <a:p xmlns:a="http://schemas.openxmlformats.org/drawingml/2006/main">
            <a:r>
              <a:t>C:/Users/Nagar/source/repos/tiny-mitra-week6-project-v2/tiny-mitra/tiny_mitra/model.py</a:t>
            </a:r>
          </a:p>
          <a:p xmlns:a="http://schemas.openxmlformats.org/drawingml/2006/main">
            <a:r>
              <a:t>C:/Users/Nagar/source/repos/tiny-mitra-week6-project-v2/tiny-mitra/tiny_mitra/generation.py</a:t>
            </a:r>
          </a:p>
          <a:p xmlns:a="http://schemas.openxmlformats.org/drawingml/2006/main">
            <a:r>
              <a:t>C:/Users/Nagar/source/repos/tiny-mitra-week6-project-v2/tiny-mitra/tiny_mitra/config.py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minus sign makes negative log probabilities into positive penalties. A larger correct-token probability reduces the penalty. We divide by the number of scored targets so padding and prompt length do not dilute the task loss. During backpropagation, gradients still flow through source representations because the output predictions depend on them through attention. The mask removes direct source-token prediction loss, not source learning. The optimizer uses gradients to update parameters. For a simple SGD intuition, a parameter becomes its old value minus learning rate times its loss gradient. The starter can use autograd for differentiation while manually expressing attention. Include EOS in the scored continuation and verify off-by-one alignment with a short example.</a:t>
            </a:r>
          </a:p>
          <a:p xmlns:a="http://schemas.openxmlformats.org/drawingml/2006/main">
            <a:r>
              <a:t/>
            </a:r>
          </a:p>
          <a:p xmlns:a="http://schemas.openxmlformats.org/drawingml/2006/main">
            <a:r>
              <a:t>Sources:</a:t>
            </a:r>
          </a:p>
          <a:p xmlns:a="http://schemas.openxmlformats.org/drawingml/2006/main">
            <a:r>
              <a:t>C:/Users/Nagar/source/repos/tiny-mitra-week6-project-v2/tiny-mitra/tiny_mitra/data.py</a:t>
            </a:r>
          </a:p>
          <a:p xmlns:a="http://schemas.openxmlformats.org/drawingml/2006/main">
            <a:r>
              <a:t>C:/Users/Nagar/source/repos/tiny-mitra-week6-project-v2/tiny-mitra/tiny_mitra/model.py</a:t>
            </a:r>
          </a:p>
          <a:p xmlns:a="http://schemas.openxmlformats.org/drawingml/2006/main">
            <a:r>
              <a:t>C:/Users/Nagar/source/repos/ai-learning-lab/resources/references/Deep Learning.md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Temperature T must be positive in this formula. Greedy decoding explicitly selects the largest logit. Dividing logits by any positive temperature preserves their ordering, so greedy token choice does not change. Sampling draws from the temperature-adjusted probabilities, which can change the selected token. A low temperature can still sample a lower-ranked token and is not a correctness guarantee. The starter currently uses greedy decoding at temperatures up to 0.15 and sampling above that threshold. Comparing its settings 0.1, 0.7 and 1.2 therefore confounds temperature with decoding method. Separate those controls before the experiment. Log EOS termination and context overflow, and avoid silently dropping the source.</a:t>
            </a:r>
          </a:p>
          <a:p xmlns:a="http://schemas.openxmlformats.org/drawingml/2006/main">
            <a:r>
              <a:t/>
            </a:r>
          </a:p>
          <a:p xmlns:a="http://schemas.openxmlformats.org/drawingml/2006/main">
            <a:r>
              <a:t>Sources:</a:t>
            </a:r>
          </a:p>
          <a:p xmlns:a="http://schemas.openxmlformats.org/drawingml/2006/main">
            <a:r>
              <a:t>C:/Users/Nagar/source/repos/tiny-mitra-week6-project-v2/tiny-mitra/tiny_mitra/generation.py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 and C satisfy the required architecture ladder. Model B in the starter adds a residual around the attention layer, which should be disclosed. This is not a perfectly isolated component experiment because depth, parameter count, normalization and FFN capacity differ. Use the same tokenizer, split, continuation loss, evaluation prompts and decoding settings. State whether training budgets match epochs, update steps, tokens or elapsed time. Select checkpoints using validation data and evaluate the frozen test once for the final report. A deterministic baseline is an application comparator, not a replacement for the required GPT. Prioritize A/B/C before optional one-block or four-block experiments given the deadline.</a:t>
            </a:r>
          </a:p>
          <a:p xmlns:a="http://schemas.openxmlformats.org/drawingml/2006/main">
            <a:r>
              <a:t/>
            </a:r>
          </a:p>
          <a:p xmlns:a="http://schemas.openxmlformats.org/drawingml/2006/main">
            <a:r>
              <a:t>Sources:</a:t>
            </a:r>
          </a:p>
          <a:p xmlns:a="http://schemas.openxmlformats.org/drawingml/2006/main">
            <a:r>
              <a:t>C:/Users/Nagar/source/repos/ai-learning-lab/topics/Mitra Topics/Week 6 — Build Your Own Tiny-GPT_Excercise.md</a:t>
            </a:r>
          </a:p>
          <a:p xmlns:a="http://schemas.openxmlformats.org/drawingml/2006/main">
            <a:r>
              <a:t>C:/Users/Nagar/source/repos/tiny-mitra-week6-project-v2/tiny-mitra/tiny_mitra/model.py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these as small-sample evidence from the saved Week 5 experiment, not Mitra performance. Across five initialization seeds, the full two-block model D improves mean accuracy by 1.25 percentage points over A. The test set in each saved run contains 64 target tokens across four cases. The evaluated scenario labels include both held-out families and familiar families. The saved JSON does not include a full dataset manifest or histories, so it does not establish a broad reproducibility claim. Mean test loss falls from about 1.547 to 1.478 and macro F1 rises from about 0.407 to 0.442. The standard deviations are across seeds, not confidence intervals. No statistical significance claim follows from these aggregates.</a:t>
            </a:r>
          </a:p>
          <a:p xmlns:a="http://schemas.openxmlformats.org/drawingml/2006/main">
            <a:r>
              <a:t/>
            </a:r>
          </a:p>
          <a:p xmlns:a="http://schemas.openxmlformats.org/drawingml/2006/main">
            <a:r>
              <a:t>Sources:</a:t>
            </a:r>
          </a:p>
          <a:p xmlns:a="http://schemas.openxmlformats.org/drawingml/2006/main">
            <a:r>
              <a:t>C:/Users/Nagar/source/repos/ai-learning-lab/projects/week 5/visualizations/arch_results.json</a:t>
            </a:r>
          </a:p>
          <a:p xmlns:a="http://schemas.openxmlformats.org/drawingml/2006/main">
            <a:r>
              <a:t>C:/Users/Nagar/source/repos/ai-learning-lab/projects/week 5/experiment_runner.py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no-FFN variant matches the full model accuracy at 70.94 percent while its mean test loss is worse. That illustrates why accuracy alone can hide changes in predicted probabilities. The no-residual variant has slightly lower mean test loss than the full model but lower accuracy. Do not claim the full model wins every metric. The no-LayerNorm variant performs worse on these saved metrics, but this does not establish that every Transformer without normalization diverges. These are architecture changes within one experimental setup. In the implementation, removing FFN also omits its associated normalization, so this ablation cannot isolate FFN perfectly. Report the observed differences and limits together.</a:t>
            </a:r>
          </a:p>
          <a:p xmlns:a="http://schemas.openxmlformats.org/drawingml/2006/main">
            <a:r>
              <a:t/>
            </a:r>
          </a:p>
          <a:p xmlns:a="http://schemas.openxmlformats.org/drawingml/2006/main">
            <a:r>
              <a:t>Sources:</a:t>
            </a:r>
          </a:p>
          <a:p xmlns:a="http://schemas.openxmlformats.org/drawingml/2006/main">
            <a:r>
              <a:t>C:/Users/Nagar/source/repos/ai-learning-lab/projects/week 5/visualizations/arch_results.json</a:t>
            </a:r>
          </a:p>
          <a:p xmlns:a="http://schemas.openxmlformats.org/drawingml/2006/main">
            <a:r>
              <a:t>C:/Users/Nagar/source/repos/ai-learning-lab/projects/week 5/numpy_transformer_suite.py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starter holds out patient and doctor names for test, but shares its four templates across all splits. Validation uses the training name pool. Random record-number and phone generation does not formally guarantee disjoint IDs. A new sentence generated from a familiar template is not unseen-template evaluation. Partition identifiers and template families explicitly, detect duplicate source-target pairs, and save the data manifest. Use validation conditions resembling the intended tests for model selection without repeatedly tuning on final test examples. For a word tokenizer, report unknown-token rates separately for identifiers and preserved clinical tokens. These distinctions prevent a vocabulary artifact from being described as semantic generalization.</a:t>
            </a:r>
          </a:p>
          <a:p xmlns:a="http://schemas.openxmlformats.org/drawingml/2006/main">
            <a:r>
              <a:t/>
            </a:r>
          </a:p>
          <a:p xmlns:a="http://schemas.openxmlformats.org/drawingml/2006/main">
            <a:r>
              <a:t>Sources:</a:t>
            </a:r>
          </a:p>
          <a:p xmlns:a="http://schemas.openxmlformats.org/drawingml/2006/main">
            <a:r>
              <a:t>C:/Users/Nagar/source/repos/tiny-mitra-week6-project-v2/tiny-mitra/tiny_mitra/data.py</a:t>
            </a:r>
          </a:p>
          <a:p xmlns:a="http://schemas.openxmlformats.org/drawingml/2006/main">
            <a:r>
              <a:t>C:/Users/Nagar/source/repos/tiny-mitra-week6-project-v2/tiny-mitra/tiny_mitra/tokenizer.py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unit of analysis before reporting a number: token, identifier span, field or complete note. Placeholder precision and recall need alignment to the intended field or source span. Counting [NAME] tokens anywhere can credit a misplaced replacement. A direct leakage check scans for annotated source identifiers, using clear normalization and boundary rules. Clinical marker presence is a useful diagnostic, but preserving an unordered set of terms does not prove that relationships or negation survive. Score generated continuations, not the prompt echoed by the UI, and exclude only protocol control tokens according to a published rule. A zero-leakage result on a finite synthetic test is an observed rate, not proof of safety.</a:t>
            </a:r>
          </a:p>
          <a:p xmlns:a="http://schemas.openxmlformats.org/drawingml/2006/main">
            <a:r>
              <a:t/>
            </a:r>
          </a:p>
          <a:p xmlns:a="http://schemas.openxmlformats.org/drawingml/2006/main">
            <a:r>
              <a:t>Sources:</a:t>
            </a:r>
          </a:p>
          <a:p xmlns:a="http://schemas.openxmlformats.org/drawingml/2006/main">
            <a:r>
              <a:t>C:/Users/Nagar/source/repos/tiny-mitra-week6-project-v2/tiny-mitra/tiny_mitra/metrics.py</a:t>
            </a:r>
          </a:p>
          <a:p xmlns:a="http://schemas.openxmlformats.org/drawingml/2006/main">
            <a:r>
              <a:t>C:/Users/Nagar/source/repos/tiny-mitra-week6-project-v2/tiny-mitra/tiny_mitra/data.py</a:t>
            </a:r>
          </a:p>
          <a:p xmlns:a="http://schemas.openxmlformats.org/drawingml/2006/main">
            <a:r>
              <a:t>C:/Users/Nagar/source/repos/ai-learning-lab/topics/Mitra Topics/Week 6 — Build Your Own Tiny-GPT_Excercise.md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Allocate around five minutes to the demo in the standard talk. First show a saved real output from the checkpoint, then run one live example. Explain the displayed source and expected target before generation. If the live model fails, interpret the failure rather than secretly switching to an authored target. Context tests should hold the output prefix and position constant. For attention inspection, capture the attention row corresponding to the prediction being explained, not simply the last model invocation before EOS. Label the selected layer, head, query token and key tokens. Treat an attention pattern as an interpretation and test it by changing an earlier source fact or ablating a head. Pre-record a short actual run for reliability.</a:t>
            </a:r>
          </a:p>
          <a:p xmlns:a="http://schemas.openxmlformats.org/drawingml/2006/main">
            <a:r>
              <a:t/>
            </a:r>
          </a:p>
          <a:p xmlns:a="http://schemas.openxmlformats.org/drawingml/2006/main">
            <a:r>
              <a:t>Sources:</a:t>
            </a:r>
          </a:p>
          <a:p xmlns:a="http://schemas.openxmlformats.org/drawingml/2006/main">
            <a:r>
              <a:t>C:/Users/Nagar/source/repos/ai-learning-lab/topics/Mitra Topics/Week 6 — Build Your Own Tiny-GPT_Excercise.md</a:t>
            </a:r>
          </a:p>
          <a:p xmlns:a="http://schemas.openxmlformats.org/drawingml/2006/main">
            <a:r>
              <a:t>C:/Users/Nagar/source/repos/tiny-mitra-week6-project-v2/tiny-mitra/tiny_mitra/generation.py</a:t>
            </a:r>
          </a:p>
          <a:p xmlns:a="http://schemas.openxmlformats.org/drawingml/2006/main">
            <a:r>
              <a:t>C:/Users/Nagar/source/repos/tiny-mitra-week6-project-v2/tiny-mitra/tiny_mitra/model.py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preparation-state closeout checklist. It should evolve into an evidence summary when the experiments are complete. Preserve the current honest status if the implementation is still unfinished. The required scope is a small educational comparison, not a new production system. Optional depth and tokenizer comparisons come after the required A/B/C runs. Freeze the evidence and presentation on Thursday rather than making risky model changes on Friday. The speaker must be able to trace a full prompt, explain every mask and distinguish teacher-forced scores from generated outputs. Completion of an artifact should not automatically mark learning mastery complete.</a:t>
            </a:r>
          </a:p>
          <a:p xmlns:a="http://schemas.openxmlformats.org/drawingml/2006/main">
            <a:r>
              <a:t/>
            </a:r>
          </a:p>
          <a:p xmlns:a="http://schemas.openxmlformats.org/drawingml/2006/main">
            <a:r>
              <a:t>Sources:</a:t>
            </a:r>
          </a:p>
          <a:p xmlns:a="http://schemas.openxmlformats.org/drawingml/2006/main">
            <a:r>
              <a:t>C:/Users/Nagar/source/repos/ai-learning-lab/topics/Mitra Topics/Week 6 — Build Your Own Tiny-GPT_Excercise.md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core talk with the distinction between mechanism and empirical capability. We can explain how a decoder works from code and arithmetic. We establish what it learned by observing controlled comparisons. The Week 5 evidence already teaches restraint: a larger architecture did not dominate every metric, and a very small test limits conclusions. Mitra adds the challenge of generating an exact transformation while preserving intended content. At the final presentation, answer the assignment question with actual examples of generalization, memorization and failure. Until experiments exist, say those questions remain open. An honest limited result with a clear explanation is stronger than a success story without evidence.</a:t>
            </a:r>
          </a:p>
          <a:p xmlns:a="http://schemas.openxmlformats.org/drawingml/2006/main">
            <a:r>
              <a:t/>
            </a:r>
          </a:p>
          <a:p xmlns:a="http://schemas.openxmlformats.org/drawingml/2006/main">
            <a:r>
              <a:t>Sources:</a:t>
            </a:r>
          </a:p>
          <a:p xmlns:a="http://schemas.openxmlformats.org/drawingml/2006/main">
            <a:r>
              <a:t>C:/Users/Nagar/source/repos/ai-learning-lab/topics/Mitra Topics/Week 6 — Build Your Own Tiny-GPT_Excercise.md</a:t>
            </a:r>
          </a:p>
          <a:p xmlns:a="http://schemas.openxmlformats.org/drawingml/2006/main">
            <a:r>
              <a:t>C:/Users/Nagar/source/repos/ai-learning-lab/projects/week 5/visualizations/arch_results.json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dot product multiplies matching components and adds them. With q=[1,0], the first key scores 1 and the second scores 0. Dividing by square root 2 gives about 0.7071 and 0. Exponentiation gives positive values, and division by their sum yields probabilities 0.66976155 and 0.33023845. Multiplying those weights by the two value vectors produces [1.33952310,1.32095380]. The output is a mixture and need not equal any original value vector. These are invented inputs used for a verified arithmetic explanation. They are not evidence that a trained Mitra head attends to a name.</a:t>
            </a:r>
          </a:p>
          <a:p xmlns:a="http://schemas.openxmlformats.org/drawingml/2006/main">
            <a:r>
              <a:t/>
            </a:r>
          </a:p>
          <a:p xmlns:a="http://schemas.openxmlformats.org/drawingml/2006/main">
            <a:r>
              <a:t>Sources:</a:t>
            </a:r>
          </a:p>
          <a:p xmlns:a="http://schemas.openxmlformats.org/drawingml/2006/main">
            <a:r>
              <a:t>C:/Users/Nagar/source/repos/tiny-mitra-week6-project-v2/tiny-mitra/tiny_mitra/model.py</a:t>
            </a:r>
          </a:p>
          <a:p xmlns:a="http://schemas.openxmlformats.org/drawingml/2006/main">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LayerNorm uses features within one position, not statistics across all examples in a batch. With x=[1,3], mean is 2 and population variance is 1. Ignoring epsilon for this arithmetic and using gamma=[1,1], beta=[0,0], normalized output is [-1,1]. Learned gamma and beta can rescale and shift it. For the FFN, W1 has shape (64,192), b1 has shape (192), W2 has shape (192,64), and b2 has shape (64). The nonlinearity is essential: two linear maps with no nonlinear activation collapse into a single linear map. The starter uses GELU while the earlier NumPy study uses ReLU. Avoid claiming expansion itself guarantees richer measured behavior.</a:t>
            </a:r>
          </a:p>
          <a:p xmlns:a="http://schemas.openxmlformats.org/drawingml/2006/main">
            <a:r>
              <a:t/>
            </a:r>
          </a:p>
          <a:p xmlns:a="http://schemas.openxmlformats.org/drawingml/2006/main">
            <a:r>
              <a:t>Sources:</a:t>
            </a:r>
          </a:p>
          <a:p xmlns:a="http://schemas.openxmlformats.org/drawingml/2006/main">
            <a:r>
              <a:t>C:/Users/Nagar/source/repos/tiny-mitra-week6-project-v2/tiny-mitra/tiny_mitra/model.py</a:t>
            </a:r>
          </a:p>
          <a:p xmlns:a="http://schemas.openxmlformats.org/drawingml/2006/main">
            <a:r>
              <a:t>C:/Users/Nagar/source/repos/ai-learning-lab/projects/week 5/numpy_transformer_suite.py</a:t>
            </a:r>
          </a:p>
          <a:p xmlns:a="http://schemas.openxmlformats.org/drawingml/2006/main">
            <a:r>
              <a:t>https://arxiv.org/abs/1607.06450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is an excerpt, not one contiguous six-token input. The causal language-model input is the serialized sequence without its final token, and the target is that same sequence without its first token. At prediction index t, the target is original token t+1. If the index of &lt;OUTPUT&gt; in the original sequence is k, the target immediately after it is original index k+1 and must be scored. The starter expresses this using target_original_index &gt; output_position. Check a hand-labeled example and ensure at least one scored target exists per training item. Do not silently truncate away the output continuation or EOS, and do not confuse a zero loss mask with a hidden attention key.</a:t>
            </a:r>
          </a:p>
          <a:p xmlns:a="http://schemas.openxmlformats.org/drawingml/2006/main">
            <a:r>
              <a:t/>
            </a:r>
          </a:p>
          <a:p xmlns:a="http://schemas.openxmlformats.org/drawingml/2006/main">
            <a:r>
              <a:t>Sources:</a:t>
            </a:r>
          </a:p>
          <a:p xmlns:a="http://schemas.openxmlformats.org/drawingml/2006/main">
            <a:r>
              <a:t>C:/Users/Nagar/source/repos/tiny-mitra-week6-project-v2/tiny-mitra/tiny_mitra/data.py</a:t>
            </a:r>
          </a:p>
          <a:p xmlns:a="http://schemas.openxmlformats.org/drawingml/2006/main">
            <a:r>
              <a:t>C:/Users/Nagar/source/repos/tiny-mitra-week6-project-v2/tiny-mitra/tiny_mitra/model.py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calculation for the inspected starter architecture, not the measured parameter count of a trained project. V=128 is a teaching assumption. Each attention block contains four bias-free 64 by 64 projections: Q, K, V and output. Each FFN has two weight matrices and both biases. Each block has two LayerNorms, with gamma and beta of width 64, and the full model adds one final LayerNorm. The vocabulary head is bias-free and does not tie its weights to the token embedding table. Actual V depends on the fitted training tokenizer, so use model.count_parameters for the final report. A fixed model width means changing the number of heads alone does not change these projection counts.</a:t>
            </a:r>
          </a:p>
          <a:p xmlns:a="http://schemas.openxmlformats.org/drawingml/2006/main">
            <a:r>
              <a:t/>
            </a:r>
          </a:p>
          <a:p xmlns:a="http://schemas.openxmlformats.org/drawingml/2006/main">
            <a:r>
              <a:t>Sources:</a:t>
            </a:r>
          </a:p>
          <a:p xmlns:a="http://schemas.openxmlformats.org/drawingml/2006/main">
            <a:r>
              <a:t>C:/Users/Nagar/source/repos/tiny-mitra-week6-project-v2/tiny-mitra/tiny_mitra/model.py</a:t>
            </a:r>
          </a:p>
          <a:p xmlns:a="http://schemas.openxmlformats.org/drawingml/2006/main">
            <a:r>
              <a:t>C:/Users/Nagar/source/repos/tiny-mitra-week6-project-v2/tiny-mitra/tiny_mitra/config.py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every line in order. Encode the entire source prompt including &lt;OUTPUT&gt;. The model returns vocabulary logits for all supplied positions. Slice the last position and select a single next token. Append it to the supplied context before the next forward pass. EOS is a learned token, and a maximum output length prevents an unbounded loop. The conceptual example deliberately separates greedy selection from temperature-based sampling. Without KV caching, each iteration recomputes prior representations. Attention score work per layer is quadratic in current context length, and total recomputation across many new tokens grows faster than the cost of one step. Detect context overflow explicitly rather than silently discarding the source.</a:t>
            </a:r>
          </a:p>
          <a:p xmlns:a="http://schemas.openxmlformats.org/drawingml/2006/main">
            <a:r>
              <a:t/>
            </a:r>
          </a:p>
          <a:p xmlns:a="http://schemas.openxmlformats.org/drawingml/2006/main">
            <a:r>
              <a:t>Sources:</a:t>
            </a:r>
          </a:p>
          <a:p xmlns:a="http://schemas.openxmlformats.org/drawingml/2006/main">
            <a:r>
              <a:t>C:/Users/Nagar/source/repos/tiny-mitra-week6-project-v2/tiny-mitra/tiny_mitra/generation.py</a:t>
            </a:r>
          </a:p>
          <a:p xmlns:a="http://schemas.openxmlformats.org/drawingml/2006/main">
            <a:r>
              <a:t>C:/Users/Nagar/source/repos/tiny-mitra-week6-project-v2/tiny-mitra/tiny_mitra/model.py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inspected properties of the local starter package. They are not claims that a trained model has failed or succeeded. Do not quietly claim a pure temperature experiment when the decoding method changes. Do not claim template generalization when the templates are shared. The placeholder metric can score a replacement in the wrong field because it intersects counts, so strengthen the metric before relying on it. Random IDs need an explicit disjointness check, and repeated synthetic examples need deduplication. The dataset slices to max_seq_len+1 and generation keeps only the most recent context window, which can remove required source or target information. The plan should resolve or clearly disclose these constraints.</a:t>
            </a:r>
          </a:p>
          <a:p xmlns:a="http://schemas.openxmlformats.org/drawingml/2006/main">
            <a:r>
              <a:t/>
            </a:r>
          </a:p>
          <a:p xmlns:a="http://schemas.openxmlformats.org/drawingml/2006/main">
            <a:r>
              <a:t>Sources:</a:t>
            </a:r>
          </a:p>
          <a:p xmlns:a="http://schemas.openxmlformats.org/drawingml/2006/main">
            <a:r>
              <a:t>C:/Users/Nagar/source/repos/tiny-mitra-week6-project-v2/tiny-mitra/tiny_mitra/data.py</a:t>
            </a:r>
          </a:p>
          <a:p xmlns:a="http://schemas.openxmlformats.org/drawingml/2006/main">
            <a:r>
              <a:t>C:/Users/Nagar/source/repos/tiny-mitra-week6-project-v2/tiny-mitra/tiny_mitra/metrics.py</a:t>
            </a:r>
          </a:p>
          <a:p xmlns:a="http://schemas.openxmlformats.org/drawingml/2006/main">
            <a:r>
              <a:t>C:/Users/Nagar/source/repos/tiny-mitra-week6-project-v2/tiny-mitra/tiny_mitra/generation.py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Loss gradients reach source representations through attention dependencies even without direct source-target loss. Model A can learn local output grammar from the previous output token and absolute position, but cannot use a changed earlier source under a matched output prefix. Additional heads provide representational options, not guaranteed specialization or accuracy. A fixed vocabulary may exclude unseen names and therefore prevent literal emission; this requires known-name leakage tests and a coverage-aware tokenizer comparison. An unseen-template partition must hold out the structural pattern, not just names or random examples. On a constrained synthetic task, rules may be excellent. The learning contribution is understanding conditional generation and empirically testing its limits, not declaring a production advantage.</a:t>
            </a:r>
          </a:p>
          <a:p xmlns:a="http://schemas.openxmlformats.org/drawingml/2006/main">
            <a:r>
              <a:t/>
            </a:r>
          </a:p>
          <a:p xmlns:a="http://schemas.openxmlformats.org/drawingml/2006/main">
            <a:r>
              <a:t>Sources:</a:t>
            </a:r>
          </a:p>
          <a:p xmlns:a="http://schemas.openxmlformats.org/drawingml/2006/main">
            <a:r>
              <a:t>C:/Users/Nagar/source/repos/tiny-mitra-week6-project-v2/tiny-mitra/tiny_mitra/model.py</a:t>
            </a:r>
          </a:p>
          <a:p xmlns:a="http://schemas.openxmlformats.org/drawingml/2006/main">
            <a:r>
              <a:t>C:/Users/Nagar/source/repos/tiny-mitra-week6-project-v2/tiny-mitra/tiny_mitra/tokenizer.py</a:t>
            </a:r>
          </a:p>
          <a:p xmlns:a="http://schemas.openxmlformats.org/drawingml/2006/main">
            <a:r>
              <a:t>C:/Users/Nagar/source/repos/tiny-mitra-week6-project-v2/tiny-mitra/tiny_mitra/data.py</a:t>
            </a:r>
          </a:p>
          <a:p xmlns:a="http://schemas.openxmlformats.org/drawingml/2006/main">
            <a:r>
              <a:t>C:/Users/Nagar/source/repos/ai-learning-lab/projects/week 5/visualizations/arch_results.json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architecture source: https://arxiv.org/abs/1706.03762 . Normalization: https://arxiv.org/abs/1607.06450 . Interpretation boundaries: https://aclanthology.org/N19-1357/ and https://aclanthology.org/D19-1002/ . Local reference selection followed resources/references/REFERENCE_MAP.md. Targeted tokenizer intuition came from Hands-On Large Language Models, Chapter 2. Learning-objective intuition came from Deep Learning, Chapter 5 maximum likelihood discussion. The local file labeled Build a Large Language Model (From Scratch) is excluded because the library inventory identifies mismatched contents. Numerical project results come from the saved Week 5 JSON. All toy attention values and parameter budgets are clearly labeled illustrative.</a:t>
            </a:r>
          </a:p>
          <a:p xmlns:a="http://schemas.openxmlformats.org/drawingml/2006/main">
            <a:r>
              <a:t/>
            </a:r>
          </a:p>
          <a:p xmlns:a="http://schemas.openxmlformats.org/drawingml/2006/main">
            <a:r>
              <a:t>Sources:</a:t>
            </a:r>
          </a:p>
          <a:p xmlns:a="http://schemas.openxmlformats.org/drawingml/2006/main">
            <a:r>
              <a:t>C:/Users/Nagar/source/repos/ai-learning-lab/topics/Mitra Topics/Week 6 — Build Your Own Tiny-GPT_Excercise.md</a:t>
            </a:r>
          </a:p>
          <a:p xmlns:a="http://schemas.openxmlformats.org/drawingml/2006/main">
            <a:r>
              <a:t>C:/Users/Nagar/source/repos/ai-learning-lab/projects/week 5/visualizations/arch_results.json</a:t>
            </a:r>
          </a:p>
          <a:p xmlns:a="http://schemas.openxmlformats.org/drawingml/2006/main">
            <a:r>
              <a:t>C:/Users/Nagar/source/repos/tiny-mitra-week6-project-v2/tiny-mitra/tiny_mitra/model.py</a:t>
            </a:r>
          </a:p>
          <a:p xmlns:a="http://schemas.openxmlformats.org/drawingml/2006/main">
            <a:r>
              <a:t>C:/Users/Nagar/source/repos/tiny-mitra-week6-project-v2/tiny-mitra/tiny_mitra/data.py</a:t>
            </a:r>
          </a:p>
          <a:p xmlns:a="http://schemas.openxmlformats.org/drawingml/2006/main">
            <a:r>
              <a:t>C:/Users/Nagar/source/repos/tiny-mitra-week6-project-v2/tiny-mitra/tiny_mitra/metrics.py</a:t>
            </a:r>
          </a:p>
          <a:p xmlns:a="http://schemas.openxmlformats.org/drawingml/2006/main">
            <a:r>
              <a:t>https://arxiv.org/abs/1706.03762</a:t>
            </a:r>
          </a:p>
          <a:p xmlns:a="http://schemas.openxmlformats.org/drawingml/2006/main">
            <a:r>
              <a:t>https://arxiv.org/abs/1607.06450</a:t>
            </a:r>
          </a:p>
          <a:p xmlns:a="http://schemas.openxmlformats.org/drawingml/2006/main">
            <a:r>
              <a:t>https://aclanthology.org/N19-1357/</a:t>
            </a:r>
          </a:p>
          <a:p xmlns:a="http://schemas.openxmlformats.org/drawingml/2006/main">
            <a:r>
              <a:t>https://aclanthology.org/D19-1002/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f98129ea3846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da3c35b043b43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401c5ec89d64b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5efb2aaa6b6452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3a4bc6fb62446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a2080801ab740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C1C8C7-C84F-4AF4-ACD1-96168D1822F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68DC9AD-A8A3-4DAA-B723-517D7A014E6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822DF3C-5496-4B58-A493-05F680F269E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667C8F-4EAE-429B-8891-6B21A52110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B68FF8-AE0A-4300-B1D1-C9680470321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435C754-EF44-4CCA-A92A-025B69E547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AFD164-E6CD-4B0C-B0F7-EAE4C9AB3D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E6813D1-9D29-4567-9D48-9E2F05BAFC1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44977B-F452-419C-B43A-E278BAC6A2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917693-D3B1-4B70-B87A-394A801B84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bcc56e0f9f4518" /><Relationship Type="http://schemas.openxmlformats.org/officeDocument/2006/relationships/slideLayout" Target="/ppt/slideLayouts/slideLayout1.xml" Id="Raa1948a572124661" /><Relationship Type="http://schemas.openxmlformats.org/officeDocument/2006/relationships/slideLayout" Target="/ppt/slideLayouts/slideLayout2.xml" Id="R7f9beeb794e14421" /><Relationship Type="http://schemas.openxmlformats.org/officeDocument/2006/relationships/slideLayout" Target="/ppt/slideLayouts/slideLayout3.xml" Id="R41d9066615f24fb5" /><Relationship Type="http://schemas.openxmlformats.org/officeDocument/2006/relationships/slideLayout" Target="/ppt/slideLayouts/slideLayout4.xml" Id="R3a9c1f3b2f9544a8" /><Relationship Type="http://schemas.openxmlformats.org/officeDocument/2006/relationships/slideLayout" Target="/ppt/slideLayouts/slideLayout5.xml" Id="R8d0579157e464e70" /><Relationship Type="http://schemas.openxmlformats.org/officeDocument/2006/relationships/slideLayout" Target="/ppt/slideLayouts/slideLayout6.xml" Id="R6a7da4651fe54f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1948a572124661"/>
    <p:sldLayoutId xmlns:r="http://schemas.openxmlformats.org/officeDocument/2006/relationships" id="2147483650" r:id="R7f9beeb794e14421"/>
    <p:sldLayoutId xmlns:r="http://schemas.openxmlformats.org/officeDocument/2006/relationships" id="2147483651" r:id="R41d9066615f24fb5"/>
    <p:sldLayoutId xmlns:r="http://schemas.openxmlformats.org/officeDocument/2006/relationships" id="2147483652" r:id="R3a9c1f3b2f9544a8"/>
    <p:sldLayoutId xmlns:r="http://schemas.openxmlformats.org/officeDocument/2006/relationships" id="2147483653" r:id="R8d0579157e464e70"/>
    <p:sldLayoutId xmlns:r="http://schemas.openxmlformats.org/officeDocument/2006/relationships" id="2147483654" r:id="R6a7da4651fe54f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6d0395f76ce40e8" /><Relationship Type="http://schemas.openxmlformats.org/officeDocument/2006/relationships/notesSlide" Target="/ppt/notesSlides/notesSlide1.xml" Id="R4d49a69e319e48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b1f34a40b8b46b4" /><Relationship Type="http://schemas.openxmlformats.org/officeDocument/2006/relationships/notesSlide" Target="/ppt/notesSlides/notesSlide2.xml" Id="R79acb0e0fe264f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ada613a72f24b74" /><Relationship Type="http://schemas.openxmlformats.org/officeDocument/2006/relationships/notesSlide" Target="/ppt/notesSlides/notesSlide3.xml" Id="R5a45b24922be4a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5a95e18cf4f4f5c" /><Relationship Type="http://schemas.openxmlformats.org/officeDocument/2006/relationships/notesSlide" Target="/ppt/notesSlides/notesSlide4.xml" Id="R87124d5ee1a44e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e28d9081b4a4387" /><Relationship Type="http://schemas.openxmlformats.org/officeDocument/2006/relationships/notesSlide" Target="/ppt/notesSlides/notesSlide5.xml" Id="Rbfca432d83b949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f1a281c408b47e5" /><Relationship Type="http://schemas.openxmlformats.org/officeDocument/2006/relationships/notesSlide" Target="/ppt/notesSlides/notesSlide6.xml" Id="R3c49e2ff071342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525634b83144e50" /><Relationship Type="http://schemas.openxmlformats.org/officeDocument/2006/relationships/notesSlide" Target="/ppt/notesSlides/notesSlide7.xml" Id="R001012a8bd0e4d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474a6afe9ea42ae" /><Relationship Type="http://schemas.openxmlformats.org/officeDocument/2006/relationships/notesSlide" Target="/ppt/notesSlides/notesSlide8.xml" Id="R9a2e4d2c324848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a3188f007544400" /><Relationship Type="http://schemas.openxmlformats.org/officeDocument/2006/relationships/notesSlide" Target="/ppt/notesSlides/notesSlide9.xml" Id="R85acd88452c544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7fff8b94a144cff" /><Relationship Type="http://schemas.openxmlformats.org/officeDocument/2006/relationships/notesSlide" Target="/ppt/notesSlides/notesSlide10.xml" Id="R45808b2d177a4c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069850cd2a74f43" /><Relationship Type="http://schemas.openxmlformats.org/officeDocument/2006/relationships/notesSlide" Target="/ppt/notesSlides/notesSlide11.xml" Id="R822ec0b5529f4c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35ad10b2cac4cf1" /><Relationship Type="http://schemas.openxmlformats.org/officeDocument/2006/relationships/notesSlide" Target="/ppt/notesSlides/notesSlide12.xml" Id="R2a71b9fe2d9740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e4a29cb77ef4737" /><Relationship Type="http://schemas.openxmlformats.org/officeDocument/2006/relationships/notesSlide" Target="/ppt/notesSlides/notesSlide13.xml" Id="Rb7625a3f7af04c5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442bd7bb6044e74" /><Relationship Type="http://schemas.openxmlformats.org/officeDocument/2006/relationships/notesSlide" Target="/ppt/notesSlides/notesSlide14.xml" Id="Re47949f033f1477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8db113151aa45ba" /><Relationship Type="http://schemas.openxmlformats.org/officeDocument/2006/relationships/notesSlide" Target="/ppt/notesSlides/notesSlide15.xml" Id="Reb8fc0e4e18146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a65ed730b8a49fc" /><Relationship Type="http://schemas.openxmlformats.org/officeDocument/2006/relationships/notesSlide" Target="/ppt/notesSlides/notesSlide16.xml" Id="R7108f522d1b341f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b7cd69dc91a4a0b" /><Relationship Type="http://schemas.openxmlformats.org/officeDocument/2006/relationships/notesSlide" Target="/ppt/notesSlides/notesSlide17.xml" Id="R9acff112097a48e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59503681144498d" /><Relationship Type="http://schemas.openxmlformats.org/officeDocument/2006/relationships/notesSlide" Target="/ppt/notesSlides/notesSlide18.xml" Id="R103aaf8e65db431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5256770e4b94941" /><Relationship Type="http://schemas.openxmlformats.org/officeDocument/2006/relationships/notesSlide" Target="/ppt/notesSlides/notesSlide19.xml" Id="R71cb2e4594924cb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bd66eaf6b454136" /><Relationship Type="http://schemas.openxmlformats.org/officeDocument/2006/relationships/notesSlide" Target="/ppt/notesSlides/notesSlide20.xml" Id="R83cdf12492c644e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f0b08a175d84cd5" /><Relationship Type="http://schemas.openxmlformats.org/officeDocument/2006/relationships/notesSlide" Target="/ppt/notesSlides/notesSlide21.xml" Id="R64639fef56e54c9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0b5b24615d24a0d" /><Relationship Type="http://schemas.openxmlformats.org/officeDocument/2006/relationships/notesSlide" Target="/ppt/notesSlides/notesSlide22.xml" Id="Ra5a583fe5539476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1c18a7880144a87" /><Relationship Type="http://schemas.openxmlformats.org/officeDocument/2006/relationships/notesSlide" Target="/ppt/notesSlides/notesSlide23.xml" Id="Rab7496995fdb4f7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3f2390cb9ca42b6" /><Relationship Type="http://schemas.openxmlformats.org/officeDocument/2006/relationships/notesSlide" Target="/ppt/notesSlides/notesSlide24.xml" Id="Rb83a8fccf3f0438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acada4f070c4a6c" /><Relationship Type="http://schemas.openxmlformats.org/officeDocument/2006/relationships/notesSlide" Target="/ppt/notesSlides/notesSlide25.xml" Id="R33181ef4b87742e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c58a074347d45d8" /><Relationship Type="http://schemas.openxmlformats.org/officeDocument/2006/relationships/notesSlide" Target="/ppt/notesSlides/notesSlide26.xml" Id="R23a5478f1b324f8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d3358f7d06a4780" /><Relationship Type="http://schemas.openxmlformats.org/officeDocument/2006/relationships/notesSlide" Target="/ppt/notesSlides/notesSlide27.xml" Id="R0b51339ee7e3477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8b70beec4b94042" /><Relationship Type="http://schemas.openxmlformats.org/officeDocument/2006/relationships/notesSlide" Target="/ppt/notesSlides/notesSlide28.xml" Id="R91d6c2ee0ee5485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3fef4226ff5465b" /><Relationship Type="http://schemas.openxmlformats.org/officeDocument/2006/relationships/notesSlide" Target="/ppt/notesSlides/notesSlide29.xml" Id="Rcc87dc3f5ca848a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3dc238cfa504f49" /><Relationship Type="http://schemas.openxmlformats.org/officeDocument/2006/relationships/notesSlide" Target="/ppt/notesSlides/notesSlide30.xml" Id="R09b8190d93d5429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30b11a56ae54eb9" /><Relationship Type="http://schemas.openxmlformats.org/officeDocument/2006/relationships/notesSlide" Target="/ppt/notesSlides/notesSlide31.xml" Id="R7aa05ae09e18412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ae730270409e4826" /><Relationship Type="http://schemas.openxmlformats.org/officeDocument/2006/relationships/notesSlide" Target="/ppt/notesSlides/notesSlide32.xml" Id="Rcd93ac689c314b16" /></Relationships>
</file>

<file path=ppt/slides/slide1.xml><?xml version="1.0" encoding="utf-8"?>
<p:sld xmlns:p="http://schemas.openxmlformats.org/presentationml/2006/main">
  <p:cSld>
    <p:bg>
      <p:bgPr>
        <a:solidFill xmlns:a="http://schemas.openxmlformats.org/drawingml/2006/main">
          <a:srgbClr val="142D3C"/>
        </a:solidFill>
      </p:bgPr>
    </p:bg>
    <p:spTree>
      <p:nvGrpSpPr>
        <p:cNvPr id="1" name=""/>
        <p:cNvGrpSpPr/>
        <p:nvPr/>
      </p:nvGrpSpPr>
      <p:grpSpPr>
        <a:xfrm xmlns:a="http://schemas.openxmlformats.org/drawingml/2006/main"/>
      </p:grpSpPr>
      <p:sp>
        <p:nvSpPr>
          <p:cNvPr id="5" name="body">
            <a:extLst xmlns:a="http://schemas.openxmlformats.org/drawingml/2006/main">
              <a:ext uri="{FF2B5EF4-FFF2-40B4-BE49-F238E27FC236}">
                <a16:creationId xmlns:a16="http://schemas.microsoft.com/office/drawing/2014/main" id="{FAA3B74F-A540-4371-8ED8-72CCD3EB761F}"/>
              </a:ext>
            </a:extLst>
          </p:cNvPr>
          <p:cNvSpPr>
            <a:spLocks xmlns:a="http://schemas.openxmlformats.org/drawingml/2006/main" noGrp="1"/>
          </p:cNvSpPr>
          <p:nvPr/>
        </p:nvSpPr>
        <p:spPr>
          <a:xfrm xmlns:a="http://schemas.openxmlformats.org/drawingml/2006/main">
            <a:off x="723900" y="809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DAB58F"/>
                </a:solidFill>
                <a:latin typeface="Calibri"/>
                <a:ea typeface="Calibri"/>
                <a:cs typeface="Calibri"/>
              </a:defRPr>
            </a:defPPr>
            <a:lvl1pPr>
              <a:defRPr sz="1800" b="0">
                <a:solidFill>
                  <a:srgbClr val="DAB58F"/>
                </a:solidFill>
                <a:latin typeface="Calibri"/>
                <a:ea typeface="Calibri"/>
                <a:cs typeface="Calibri"/>
              </a:defRPr>
            </a:lvl1pPr>
            <a:lvl2pPr>
              <a:defRPr sz="1800" b="0">
                <a:solidFill>
                  <a:srgbClr val="DAB58F"/>
                </a:solidFill>
                <a:latin typeface="Calibri"/>
                <a:ea typeface="Calibri"/>
                <a:cs typeface="Calibri"/>
              </a:defRPr>
            </a:lvl2pPr>
            <a:lvl3pPr>
              <a:defRPr sz="1800" b="0">
                <a:solidFill>
                  <a:srgbClr val="DAB58F"/>
                </a:solidFill>
                <a:latin typeface="Calibri"/>
                <a:ea typeface="Calibri"/>
                <a:cs typeface="Calibri"/>
              </a:defRPr>
            </a:lvl3pPr>
            <a:lvl4pPr>
              <a:defRPr sz="1800" b="0">
                <a:solidFill>
                  <a:srgbClr val="DAB58F"/>
                </a:solidFill>
                <a:latin typeface="Calibri"/>
                <a:ea typeface="Calibri"/>
                <a:cs typeface="Calibri"/>
              </a:defRPr>
            </a:lvl4pPr>
            <a:lvl5pPr>
              <a:defRPr sz="1800" b="0">
                <a:solidFill>
                  <a:srgbClr val="DAB58F"/>
                </a:solidFill>
                <a:latin typeface="Calibri"/>
                <a:ea typeface="Calibri"/>
                <a:cs typeface="Calibri"/>
              </a:defRPr>
            </a:lvl5pPr>
            <a:lvl6pPr>
              <a:defRPr sz="1800" b="0">
                <a:solidFill>
                  <a:srgbClr val="DAB58F"/>
                </a:solidFill>
                <a:latin typeface="Calibri"/>
                <a:ea typeface="Calibri"/>
                <a:cs typeface="Calibri"/>
              </a:defRPr>
            </a:lvl6pPr>
            <a:lvl7pPr>
              <a:defRPr sz="1800" b="0">
                <a:solidFill>
                  <a:srgbClr val="DAB58F"/>
                </a:solidFill>
                <a:latin typeface="Calibri"/>
                <a:ea typeface="Calibri"/>
                <a:cs typeface="Calibri"/>
              </a:defRPr>
            </a:lvl7pPr>
            <a:lvl8pPr>
              <a:defRPr sz="1800" b="0">
                <a:solidFill>
                  <a:srgbClr val="DAB58F"/>
                </a:solidFill>
                <a:latin typeface="Calibri"/>
                <a:ea typeface="Calibri"/>
                <a:cs typeface="Calibri"/>
              </a:defRPr>
            </a:lvl8pPr>
            <a:lvl9pPr>
              <a:defRPr sz="1800" b="0">
                <a:solidFill>
                  <a:srgbClr val="DAB58F"/>
                </a:solidFill>
                <a:latin typeface="Calibri"/>
                <a:ea typeface="Calibri"/>
                <a:cs typeface="Calibri"/>
              </a:defRPr>
            </a:lvl9pPr>
          </a:lstStyle>
          <a:p xmlns:a="http://schemas.openxmlformats.org/drawingml/2006/main">
            <a:pPr>
              <a:defRPr sz="1800" b="0">
                <a:solidFill>
                  <a:srgbClr val="DAB58F"/>
                </a:solidFill>
                <a:latin typeface="Calibri"/>
                <a:ea typeface="Calibri"/>
                <a:cs typeface="Calibri"/>
              </a:defRPr>
            </a:pPr>
            <a:r>
              <a:rPr sz="1800" b="0">
                <a:solidFill>
                  <a:srgbClr val="DAB58F"/>
                </a:solidFill>
                <a:latin typeface="Calibri"/>
                <a:ea typeface="Calibri"/>
                <a:cs typeface="Calibri"/>
              </a:rPr>
              <a:t>AI Learning Lab</a:t>
            </a:r>
          </a:p>
        </p:txBody>
      </p:sp>
      <p:sp>
        <p:nvSpPr>
          <p:cNvPr id="2" name="heading">
            <a:extLst xmlns:a="http://schemas.openxmlformats.org/drawingml/2006/main">
              <a:ext uri="{FF2B5EF4-FFF2-40B4-BE49-F238E27FC236}">
                <a16:creationId xmlns:a16="http://schemas.microsoft.com/office/drawing/2014/main" id="{AD5C03B9-3188-4D8C-B32A-2C8574E46E58}"/>
              </a:ext>
            </a:extLst>
          </p:cNvPr>
          <p:cNvSpPr>
            <a:spLocks xmlns:a="http://schemas.openxmlformats.org/drawingml/2006/main" noGrp="1"/>
          </p:cNvSpPr>
          <p:nvPr/>
        </p:nvSpPr>
        <p:spPr>
          <a:xfrm xmlns:a="http://schemas.openxmlformats.org/drawingml/2006/main">
            <a:off x="685800" y="2047875"/>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800" b="1">
                <a:solidFill>
                  <a:srgbClr val="F9F7F1"/>
                </a:solidFill>
                <a:latin typeface="Calibri"/>
                <a:ea typeface="Calibri"/>
                <a:cs typeface="Calibri"/>
              </a:defRPr>
            </a:defPPr>
            <a:lvl1pPr>
              <a:defRPr sz="7800" b="1">
                <a:solidFill>
                  <a:srgbClr val="F9F7F1"/>
                </a:solidFill>
                <a:latin typeface="Calibri"/>
                <a:ea typeface="Calibri"/>
                <a:cs typeface="Calibri"/>
              </a:defRPr>
            </a:lvl1pPr>
            <a:lvl2pPr>
              <a:defRPr sz="7800" b="1">
                <a:solidFill>
                  <a:srgbClr val="F9F7F1"/>
                </a:solidFill>
                <a:latin typeface="Calibri"/>
                <a:ea typeface="Calibri"/>
                <a:cs typeface="Calibri"/>
              </a:defRPr>
            </a:lvl2pPr>
            <a:lvl3pPr>
              <a:defRPr sz="7800" b="1">
                <a:solidFill>
                  <a:srgbClr val="F9F7F1"/>
                </a:solidFill>
                <a:latin typeface="Calibri"/>
                <a:ea typeface="Calibri"/>
                <a:cs typeface="Calibri"/>
              </a:defRPr>
            </a:lvl3pPr>
            <a:lvl4pPr>
              <a:defRPr sz="7800" b="1">
                <a:solidFill>
                  <a:srgbClr val="F9F7F1"/>
                </a:solidFill>
                <a:latin typeface="Calibri"/>
                <a:ea typeface="Calibri"/>
                <a:cs typeface="Calibri"/>
              </a:defRPr>
            </a:lvl4pPr>
            <a:lvl5pPr>
              <a:defRPr sz="7800" b="1">
                <a:solidFill>
                  <a:srgbClr val="F9F7F1"/>
                </a:solidFill>
                <a:latin typeface="Calibri"/>
                <a:ea typeface="Calibri"/>
                <a:cs typeface="Calibri"/>
              </a:defRPr>
            </a:lvl5pPr>
            <a:lvl6pPr>
              <a:defRPr sz="7800" b="1">
                <a:solidFill>
                  <a:srgbClr val="F9F7F1"/>
                </a:solidFill>
                <a:latin typeface="Calibri"/>
                <a:ea typeface="Calibri"/>
                <a:cs typeface="Calibri"/>
              </a:defRPr>
            </a:lvl6pPr>
            <a:lvl7pPr>
              <a:defRPr sz="7800" b="1">
                <a:solidFill>
                  <a:srgbClr val="F9F7F1"/>
                </a:solidFill>
                <a:latin typeface="Calibri"/>
                <a:ea typeface="Calibri"/>
                <a:cs typeface="Calibri"/>
              </a:defRPr>
            </a:lvl7pPr>
            <a:lvl8pPr>
              <a:defRPr sz="7800" b="1">
                <a:solidFill>
                  <a:srgbClr val="F9F7F1"/>
                </a:solidFill>
                <a:latin typeface="Calibri"/>
                <a:ea typeface="Calibri"/>
                <a:cs typeface="Calibri"/>
              </a:defRPr>
            </a:lvl8pPr>
            <a:lvl9pPr>
              <a:defRPr sz="7800" b="1">
                <a:solidFill>
                  <a:srgbClr val="F9F7F1"/>
                </a:solidFill>
                <a:latin typeface="Calibri"/>
                <a:ea typeface="Calibri"/>
                <a:cs typeface="Calibri"/>
              </a:defRPr>
            </a:lvl9pPr>
          </a:lstStyle>
          <a:p xmlns:a="http://schemas.openxmlformats.org/drawingml/2006/main">
            <a:pPr>
              <a:defRPr sz="7800" b="1">
                <a:solidFill>
                  <a:srgbClr val="F9F7F1"/>
                </a:solidFill>
                <a:latin typeface="Calibri"/>
                <a:ea typeface="Calibri"/>
                <a:cs typeface="Calibri"/>
              </a:defRPr>
            </a:pPr>
            <a:r>
              <a:rPr sz="7800" b="1">
                <a:solidFill>
                  <a:srgbClr val="F9F7F1"/>
                </a:solidFill>
                <a:latin typeface="Calibri"/>
                <a:ea typeface="Calibri"/>
                <a:cs typeface="Calibri"/>
              </a:rPr>
              <a:t>Tiny Mitra</a:t>
            </a:r>
          </a:p>
        </p:txBody>
      </p:sp>
      <p:sp>
        <p:nvSpPr>
          <p:cNvPr id="3" name="body">
            <a:extLst xmlns:a="http://schemas.openxmlformats.org/drawingml/2006/main">
              <a:ext uri="{FF2B5EF4-FFF2-40B4-BE49-F238E27FC236}">
                <a16:creationId xmlns:a16="http://schemas.microsoft.com/office/drawing/2014/main" id="{EE40FC81-0251-49A4-B53C-FB750D75D5D0}"/>
              </a:ext>
            </a:extLst>
          </p:cNvPr>
          <p:cNvSpPr>
            <a:spLocks xmlns:a="http://schemas.openxmlformats.org/drawingml/2006/main" noGrp="1"/>
          </p:cNvSpPr>
          <p:nvPr/>
        </p:nvSpPr>
        <p:spPr>
          <a:xfrm xmlns:a="http://schemas.openxmlformats.org/drawingml/2006/main">
            <a:off x="733425" y="3505200"/>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0">
                <a:solidFill>
                  <a:srgbClr val="F9F7F1"/>
                </a:solidFill>
                <a:latin typeface="Calibri"/>
                <a:ea typeface="Calibri"/>
                <a:cs typeface="Calibri"/>
              </a:defRPr>
            </a:defPPr>
            <a:lvl1pPr>
              <a:defRPr sz="3150" b="0">
                <a:solidFill>
                  <a:srgbClr val="F9F7F1"/>
                </a:solidFill>
                <a:latin typeface="Calibri"/>
                <a:ea typeface="Calibri"/>
                <a:cs typeface="Calibri"/>
              </a:defRPr>
            </a:lvl1pPr>
            <a:lvl2pPr>
              <a:defRPr sz="3150" b="0">
                <a:solidFill>
                  <a:srgbClr val="F9F7F1"/>
                </a:solidFill>
                <a:latin typeface="Calibri"/>
                <a:ea typeface="Calibri"/>
                <a:cs typeface="Calibri"/>
              </a:defRPr>
            </a:lvl2pPr>
            <a:lvl3pPr>
              <a:defRPr sz="3150" b="0">
                <a:solidFill>
                  <a:srgbClr val="F9F7F1"/>
                </a:solidFill>
                <a:latin typeface="Calibri"/>
                <a:ea typeface="Calibri"/>
                <a:cs typeface="Calibri"/>
              </a:defRPr>
            </a:lvl3pPr>
            <a:lvl4pPr>
              <a:defRPr sz="3150" b="0">
                <a:solidFill>
                  <a:srgbClr val="F9F7F1"/>
                </a:solidFill>
                <a:latin typeface="Calibri"/>
                <a:ea typeface="Calibri"/>
                <a:cs typeface="Calibri"/>
              </a:defRPr>
            </a:lvl4pPr>
            <a:lvl5pPr>
              <a:defRPr sz="3150" b="0">
                <a:solidFill>
                  <a:srgbClr val="F9F7F1"/>
                </a:solidFill>
                <a:latin typeface="Calibri"/>
                <a:ea typeface="Calibri"/>
                <a:cs typeface="Calibri"/>
              </a:defRPr>
            </a:lvl5pPr>
            <a:lvl6pPr>
              <a:defRPr sz="3150" b="0">
                <a:solidFill>
                  <a:srgbClr val="F9F7F1"/>
                </a:solidFill>
                <a:latin typeface="Calibri"/>
                <a:ea typeface="Calibri"/>
                <a:cs typeface="Calibri"/>
              </a:defRPr>
            </a:lvl6pPr>
            <a:lvl7pPr>
              <a:defRPr sz="3150" b="0">
                <a:solidFill>
                  <a:srgbClr val="F9F7F1"/>
                </a:solidFill>
                <a:latin typeface="Calibri"/>
                <a:ea typeface="Calibri"/>
                <a:cs typeface="Calibri"/>
              </a:defRPr>
            </a:lvl7pPr>
            <a:lvl8pPr>
              <a:defRPr sz="3150" b="0">
                <a:solidFill>
                  <a:srgbClr val="F9F7F1"/>
                </a:solidFill>
                <a:latin typeface="Calibri"/>
                <a:ea typeface="Calibri"/>
                <a:cs typeface="Calibri"/>
              </a:defRPr>
            </a:lvl8pPr>
            <a:lvl9pPr>
              <a:defRPr sz="3150" b="0">
                <a:solidFill>
                  <a:srgbClr val="F9F7F1"/>
                </a:solidFill>
                <a:latin typeface="Calibri"/>
                <a:ea typeface="Calibri"/>
                <a:cs typeface="Calibri"/>
              </a:defRPr>
            </a:lvl9pPr>
          </a:lstStyle>
          <a:p xmlns:a="http://schemas.openxmlformats.org/drawingml/2006/main">
            <a:pPr>
              <a:defRPr sz="3150" b="0">
                <a:solidFill>
                  <a:srgbClr val="F9F7F1"/>
                </a:solidFill>
                <a:latin typeface="Calibri"/>
                <a:ea typeface="Calibri"/>
                <a:cs typeface="Calibri"/>
              </a:defRPr>
            </a:pPr>
            <a:r>
              <a:rPr sz="3150" b="0">
                <a:solidFill>
                  <a:srgbClr val="F9F7F1"/>
                </a:solidFill>
                <a:latin typeface="Calibri"/>
                <a:ea typeface="Calibri"/>
                <a:cs typeface="Calibri"/>
              </a:rPr>
              <a:t>Understanding a GPT through</a:t>
            </a:r>
          </a:p>
          <a:p xmlns:a="http://schemas.openxmlformats.org/drawingml/2006/main">
            <a:pPr>
              <a:defRPr sz="3150" b="0">
                <a:solidFill>
                  <a:srgbClr val="F9F7F1"/>
                </a:solidFill>
                <a:latin typeface="Calibri"/>
                <a:ea typeface="Calibri"/>
                <a:cs typeface="Calibri"/>
              </a:defRPr>
            </a:pPr>
            <a:r>
              <a:rPr sz="3150" b="0">
                <a:solidFill>
                  <a:srgbClr val="F9F7F1"/>
                </a:solidFill>
                <a:latin typeface="Calibri"/>
                <a:ea typeface="Calibri"/>
                <a:cs typeface="Calibri"/>
              </a:rPr>
              <a:t>synthetic note de-identification</a:t>
            </a:r>
          </a:p>
        </p:txBody>
      </p:sp>
      <p:sp>
        <p:nvSpPr>
          <p:cNvPr id="4" name="body">
            <a:extLst xmlns:a="http://schemas.openxmlformats.org/drawingml/2006/main">
              <a:ext uri="{FF2B5EF4-FFF2-40B4-BE49-F238E27FC236}">
                <a16:creationId xmlns:a16="http://schemas.microsoft.com/office/drawing/2014/main" id="{8AF3DC34-D72A-4CC1-9BD3-050309CD51BF}"/>
              </a:ext>
            </a:extLst>
          </p:cNvPr>
          <p:cNvSpPr>
            <a:spLocks xmlns:a="http://schemas.openxmlformats.org/drawingml/2006/main" noGrp="1"/>
          </p:cNvSpPr>
          <p:nvPr/>
        </p:nvSpPr>
        <p:spPr>
          <a:xfrm xmlns:a="http://schemas.openxmlformats.org/drawingml/2006/main">
            <a:off x="733425" y="596265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CAD7D8"/>
                </a:solidFill>
                <a:latin typeface="Calibri"/>
                <a:ea typeface="Calibri"/>
                <a:cs typeface="Calibri"/>
              </a:defRPr>
            </a:defPPr>
            <a:lvl1pPr>
              <a:defRPr sz="1575" b="0">
                <a:solidFill>
                  <a:srgbClr val="CAD7D8"/>
                </a:solidFill>
                <a:latin typeface="Calibri"/>
                <a:ea typeface="Calibri"/>
                <a:cs typeface="Calibri"/>
              </a:defRPr>
            </a:lvl1pPr>
            <a:lvl2pPr>
              <a:defRPr sz="1575" b="0">
                <a:solidFill>
                  <a:srgbClr val="CAD7D8"/>
                </a:solidFill>
                <a:latin typeface="Calibri"/>
                <a:ea typeface="Calibri"/>
                <a:cs typeface="Calibri"/>
              </a:defRPr>
            </a:lvl2pPr>
            <a:lvl3pPr>
              <a:defRPr sz="1575" b="0">
                <a:solidFill>
                  <a:srgbClr val="CAD7D8"/>
                </a:solidFill>
                <a:latin typeface="Calibri"/>
                <a:ea typeface="Calibri"/>
                <a:cs typeface="Calibri"/>
              </a:defRPr>
            </a:lvl3pPr>
            <a:lvl4pPr>
              <a:defRPr sz="1575" b="0">
                <a:solidFill>
                  <a:srgbClr val="CAD7D8"/>
                </a:solidFill>
                <a:latin typeface="Calibri"/>
                <a:ea typeface="Calibri"/>
                <a:cs typeface="Calibri"/>
              </a:defRPr>
            </a:lvl4pPr>
            <a:lvl5pPr>
              <a:defRPr sz="1575" b="0">
                <a:solidFill>
                  <a:srgbClr val="CAD7D8"/>
                </a:solidFill>
                <a:latin typeface="Calibri"/>
                <a:ea typeface="Calibri"/>
                <a:cs typeface="Calibri"/>
              </a:defRPr>
            </a:lvl5pPr>
            <a:lvl6pPr>
              <a:defRPr sz="1575" b="0">
                <a:solidFill>
                  <a:srgbClr val="CAD7D8"/>
                </a:solidFill>
                <a:latin typeface="Calibri"/>
                <a:ea typeface="Calibri"/>
                <a:cs typeface="Calibri"/>
              </a:defRPr>
            </a:lvl6pPr>
            <a:lvl7pPr>
              <a:defRPr sz="1575" b="0">
                <a:solidFill>
                  <a:srgbClr val="CAD7D8"/>
                </a:solidFill>
                <a:latin typeface="Calibri"/>
                <a:ea typeface="Calibri"/>
                <a:cs typeface="Calibri"/>
              </a:defRPr>
            </a:lvl7pPr>
            <a:lvl8pPr>
              <a:defRPr sz="1575" b="0">
                <a:solidFill>
                  <a:srgbClr val="CAD7D8"/>
                </a:solidFill>
                <a:latin typeface="Calibri"/>
                <a:ea typeface="Calibri"/>
                <a:cs typeface="Calibri"/>
              </a:defRPr>
            </a:lvl8pPr>
            <a:lvl9pPr>
              <a:defRPr sz="1575" b="0">
                <a:solidFill>
                  <a:srgbClr val="CAD7D8"/>
                </a:solidFill>
                <a:latin typeface="Calibri"/>
                <a:ea typeface="Calibri"/>
                <a:cs typeface="Calibri"/>
              </a:defRPr>
            </a:lvl9pPr>
          </a:lstStyle>
          <a:p xmlns:a="http://schemas.openxmlformats.org/drawingml/2006/main">
            <a:pPr>
              <a:defRPr sz="1575" b="0">
                <a:solidFill>
                  <a:srgbClr val="CAD7D8"/>
                </a:solidFill>
                <a:latin typeface="Calibri"/>
                <a:ea typeface="Calibri"/>
                <a:cs typeface="Calibri"/>
              </a:defRPr>
            </a:pPr>
            <a:r>
              <a:rPr sz="1575" b="0">
                <a:solidFill>
                  <a:srgbClr val="CAD7D8"/>
                </a:solidFill>
                <a:latin typeface="Calibri"/>
                <a:ea typeface="Calibri"/>
                <a:cs typeface="Calibri"/>
              </a:rPr>
              <a:t>Preparation edition     17 October 2026</a:t>
            </a:r>
          </a:p>
        </p:txBody>
      </p:sp>
    </p:spTree>
    <p:extLst>
      <p:ext uri="{BB962C8B-B14F-4D97-AF65-F5344CB8AC3E}">
        <p14:creationId xmlns:p14="http://schemas.microsoft.com/office/powerpoint/2010/main" val="473789171"/>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C7459BA4-9EF0-4F23-B234-C5CFB62F418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Our learning journey</a:t>
            </a:r>
          </a:p>
        </p:txBody>
      </p:sp>
      <p:sp>
        <p:nvSpPr>
          <p:cNvPr id="2" name="subtitle">
            <a:extLst xmlns:a="http://schemas.openxmlformats.org/drawingml/2006/main">
              <a:ext uri="{FF2B5EF4-FFF2-40B4-BE49-F238E27FC236}">
                <a16:creationId xmlns:a16="http://schemas.microsoft.com/office/drawing/2014/main" id="{636654AB-0928-4D91-A4E2-A58A0FA41F6F}"/>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Each week removed a limitation in the previous model</a:t>
            </a:r>
          </a:p>
        </p:txBody>
      </p:sp>
      <p:sp>
        <p:nvSpPr>
          <p:cNvPr id="3" name="page-number">
            <a:extLst xmlns:a="http://schemas.openxmlformats.org/drawingml/2006/main">
              <a:ext uri="{FF2B5EF4-FFF2-40B4-BE49-F238E27FC236}">
                <a16:creationId xmlns:a16="http://schemas.microsoft.com/office/drawing/2014/main" id="{F42FB8BB-572D-4830-8D93-9734C8A4C2A4}"/>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02</a:t>
            </a:r>
          </a:p>
        </p:txBody>
      </p:sp>
      <p:graphicFrame>
        <p:nvGraphicFramePr>
          <p:cNvPr id="4" name="">
            <a:extLst xmlns:a="http://schemas.openxmlformats.org/drawingml/2006/main">
              <a:ext uri="{FF2B5EF4-FFF2-40B4-BE49-F238E27FC236}">
                <a16:creationId xmlns:a16="http://schemas.microsoft.com/office/drawing/2014/main" id="{5AAE9165-942B-4327-ADFD-CD1318DCE952}"/>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1381125"/>
                <a:gridCol w="4238625"/>
                <a:gridCol w="5200650"/>
              </a:tblGrid>
              <a:tr h="650875">
                <a:tc>
                  <a:txBody>
                    <a:bodyPr/>
                    <a:lstStyle/>
                    <a:p>
                      <a:r>
                        <a:rPr sz="1650" b="1">
                          <a:solidFill>
                            <a:srgbClr val="F9F7F1"/>
                          </a:solidFill>
                          <a:latin typeface="Calibri"/>
                          <a:ea typeface="Calibri"/>
                          <a:cs typeface="Calibri"/>
                        </a:rPr>
                        <a:t>Stage</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What we built or studied</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Why it matters for Mitra</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Week 1</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Forward pass, loss and learning</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Turn prediction errors into parameter updates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2</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Tokenization and embeddings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Represent text as trainable vectors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3</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Causal self-attention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Use relevant earlier context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4</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Multiple attention heads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 several context distributions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5</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Transformer blocks and ablations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Test what added components actually buy</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16517747"/>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9" name="heading">
            <a:extLst xmlns:a="http://schemas.openxmlformats.org/drawingml/2006/main">
              <a:ext uri="{FF2B5EF4-FFF2-40B4-BE49-F238E27FC236}">
                <a16:creationId xmlns:a16="http://schemas.microsoft.com/office/drawing/2014/main" id="{0FFD6FCD-DB2B-4CBD-B2EF-9DA20C13B63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Mitra’s transformation task</a:t>
            </a:r>
          </a:p>
        </p:txBody>
      </p:sp>
      <p:sp>
        <p:nvSpPr>
          <p:cNvPr id="2" name="subtitle">
            <a:extLst xmlns:a="http://schemas.openxmlformats.org/drawingml/2006/main">
              <a:ext uri="{FF2B5EF4-FFF2-40B4-BE49-F238E27FC236}">
                <a16:creationId xmlns:a16="http://schemas.microsoft.com/office/drawing/2014/main" id="{3A738680-D856-45A9-B12A-FD5125B6A35B}"/>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Synthetic examples with an explicit redaction policy</a:t>
            </a:r>
          </a:p>
        </p:txBody>
      </p:sp>
      <p:sp>
        <p:nvSpPr>
          <p:cNvPr id="3" name="page-number">
            <a:extLst xmlns:a="http://schemas.openxmlformats.org/drawingml/2006/main">
              <a:ext uri="{FF2B5EF4-FFF2-40B4-BE49-F238E27FC236}">
                <a16:creationId xmlns:a16="http://schemas.microsoft.com/office/drawing/2014/main" id="{36B4EE28-EB9E-418D-BC3C-ED4FB0725E38}"/>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03</a:t>
            </a:r>
          </a:p>
        </p:txBody>
      </p:sp>
      <p:sp>
        <p:nvSpPr>
          <p:cNvPr id="4" name="body">
            <a:extLst xmlns:a="http://schemas.openxmlformats.org/drawingml/2006/main">
              <a:ext uri="{FF2B5EF4-FFF2-40B4-BE49-F238E27FC236}">
                <a16:creationId xmlns:a16="http://schemas.microsoft.com/office/drawing/2014/main" id="{E922BBC5-D08F-475E-93AC-DE64ADCAE9A5}"/>
              </a:ext>
            </a:extLst>
          </p:cNvPr>
          <p:cNvSpPr>
            <a:spLocks xmlns:a="http://schemas.openxmlformats.org/drawingml/2006/main" noGrp="1"/>
          </p:cNvSpPr>
          <p:nvPr/>
        </p:nvSpPr>
        <p:spPr>
          <a:xfrm xmlns:a="http://schemas.openxmlformats.org/drawingml/2006/main">
            <a:off x="685800" y="20955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AF6527"/>
                </a:solidFill>
                <a:latin typeface="Calibri"/>
                <a:ea typeface="Calibri"/>
                <a:cs typeface="Calibri"/>
              </a:defRPr>
            </a:defPPr>
            <a:lvl1pPr>
              <a:defRPr sz="1500" b="1">
                <a:solidFill>
                  <a:srgbClr val="AF6527"/>
                </a:solidFill>
                <a:latin typeface="Calibri"/>
                <a:ea typeface="Calibri"/>
                <a:cs typeface="Calibri"/>
              </a:defRPr>
            </a:lvl1pPr>
            <a:lvl2pPr>
              <a:defRPr sz="1500" b="1">
                <a:solidFill>
                  <a:srgbClr val="AF6527"/>
                </a:solidFill>
                <a:latin typeface="Calibri"/>
                <a:ea typeface="Calibri"/>
                <a:cs typeface="Calibri"/>
              </a:defRPr>
            </a:lvl2pPr>
            <a:lvl3pPr>
              <a:defRPr sz="1500" b="1">
                <a:solidFill>
                  <a:srgbClr val="AF6527"/>
                </a:solidFill>
                <a:latin typeface="Calibri"/>
                <a:ea typeface="Calibri"/>
                <a:cs typeface="Calibri"/>
              </a:defRPr>
            </a:lvl3pPr>
            <a:lvl4pPr>
              <a:defRPr sz="1500" b="1">
                <a:solidFill>
                  <a:srgbClr val="AF6527"/>
                </a:solidFill>
                <a:latin typeface="Calibri"/>
                <a:ea typeface="Calibri"/>
                <a:cs typeface="Calibri"/>
              </a:defRPr>
            </a:lvl4pPr>
            <a:lvl5pPr>
              <a:defRPr sz="1500" b="1">
                <a:solidFill>
                  <a:srgbClr val="AF6527"/>
                </a:solidFill>
                <a:latin typeface="Calibri"/>
                <a:ea typeface="Calibri"/>
                <a:cs typeface="Calibri"/>
              </a:defRPr>
            </a:lvl5pPr>
            <a:lvl6pPr>
              <a:defRPr sz="1500" b="1">
                <a:solidFill>
                  <a:srgbClr val="AF6527"/>
                </a:solidFill>
                <a:latin typeface="Calibri"/>
                <a:ea typeface="Calibri"/>
                <a:cs typeface="Calibri"/>
              </a:defRPr>
            </a:lvl6pPr>
            <a:lvl7pPr>
              <a:defRPr sz="1500" b="1">
                <a:solidFill>
                  <a:srgbClr val="AF6527"/>
                </a:solidFill>
                <a:latin typeface="Calibri"/>
                <a:ea typeface="Calibri"/>
                <a:cs typeface="Calibri"/>
              </a:defRPr>
            </a:lvl7pPr>
            <a:lvl8pPr>
              <a:defRPr sz="1500" b="1">
                <a:solidFill>
                  <a:srgbClr val="AF6527"/>
                </a:solidFill>
                <a:latin typeface="Calibri"/>
                <a:ea typeface="Calibri"/>
                <a:cs typeface="Calibri"/>
              </a:defRPr>
            </a:lvl8pPr>
            <a:lvl9pPr>
              <a:defRPr sz="1500" b="1">
                <a:solidFill>
                  <a:srgbClr val="AF6527"/>
                </a:solidFill>
                <a:latin typeface="Calibri"/>
                <a:ea typeface="Calibri"/>
                <a:cs typeface="Calibri"/>
              </a:defRPr>
            </a:lvl9pPr>
          </a:lstStyle>
          <a:p xmlns:a="http://schemas.openxmlformats.org/drawingml/2006/main">
            <a:pPr>
              <a:defRPr sz="1500" b="1">
                <a:solidFill>
                  <a:srgbClr val="AF6527"/>
                </a:solidFill>
                <a:latin typeface="Calibri"/>
                <a:ea typeface="Calibri"/>
                <a:cs typeface="Calibri"/>
              </a:defRPr>
            </a:pPr>
            <a:r>
              <a:rPr sz="1500" b="1">
                <a:solidFill>
                  <a:srgbClr val="AF6527"/>
                </a:solidFill>
                <a:latin typeface="Calibri"/>
                <a:ea typeface="Calibri"/>
                <a:cs typeface="Calibri"/>
              </a:rPr>
              <a:t>SOURCE NOTE</a:t>
            </a:r>
          </a:p>
        </p:txBody>
      </p:sp>
      <p:sp>
        <p:nvSpPr>
          <p:cNvPr id="5" name="body">
            <a:extLst xmlns:a="http://schemas.openxmlformats.org/drawingml/2006/main">
              <a:ext uri="{FF2B5EF4-FFF2-40B4-BE49-F238E27FC236}">
                <a16:creationId xmlns:a16="http://schemas.microsoft.com/office/drawing/2014/main" id="{CA98C344-A5FD-41E2-8BAD-12617AEB418C}"/>
              </a:ext>
            </a:extLst>
          </p:cNvPr>
          <p:cNvSpPr>
            <a:spLocks xmlns:a="http://schemas.openxmlformats.org/drawingml/2006/main" noGrp="1"/>
          </p:cNvSpPr>
          <p:nvPr/>
        </p:nvSpPr>
        <p:spPr>
          <a:xfrm xmlns:a="http://schemas.openxmlformats.org/drawingml/2006/main">
            <a:off x="685800" y="254317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0">
                <a:solidFill>
                  <a:srgbClr val="142D3C"/>
                </a:solidFill>
                <a:latin typeface="Calibri"/>
                <a:ea typeface="Calibri"/>
                <a:cs typeface="Calibri"/>
              </a:defRPr>
            </a:defPPr>
            <a:lvl1pPr>
              <a:defRPr sz="2625" b="0">
                <a:solidFill>
                  <a:srgbClr val="142D3C"/>
                </a:solidFill>
                <a:latin typeface="Calibri"/>
                <a:ea typeface="Calibri"/>
                <a:cs typeface="Calibri"/>
              </a:defRPr>
            </a:lvl1pPr>
            <a:lvl2pPr>
              <a:defRPr sz="2625" b="0">
                <a:solidFill>
                  <a:srgbClr val="142D3C"/>
                </a:solidFill>
                <a:latin typeface="Calibri"/>
                <a:ea typeface="Calibri"/>
                <a:cs typeface="Calibri"/>
              </a:defRPr>
            </a:lvl2pPr>
            <a:lvl3pPr>
              <a:defRPr sz="2625" b="0">
                <a:solidFill>
                  <a:srgbClr val="142D3C"/>
                </a:solidFill>
                <a:latin typeface="Calibri"/>
                <a:ea typeface="Calibri"/>
                <a:cs typeface="Calibri"/>
              </a:defRPr>
            </a:lvl3pPr>
            <a:lvl4pPr>
              <a:defRPr sz="2625" b="0">
                <a:solidFill>
                  <a:srgbClr val="142D3C"/>
                </a:solidFill>
                <a:latin typeface="Calibri"/>
                <a:ea typeface="Calibri"/>
                <a:cs typeface="Calibri"/>
              </a:defRPr>
            </a:lvl4pPr>
            <a:lvl5pPr>
              <a:defRPr sz="2625" b="0">
                <a:solidFill>
                  <a:srgbClr val="142D3C"/>
                </a:solidFill>
                <a:latin typeface="Calibri"/>
                <a:ea typeface="Calibri"/>
                <a:cs typeface="Calibri"/>
              </a:defRPr>
            </a:lvl5pPr>
            <a:lvl6pPr>
              <a:defRPr sz="2625" b="0">
                <a:solidFill>
                  <a:srgbClr val="142D3C"/>
                </a:solidFill>
                <a:latin typeface="Calibri"/>
                <a:ea typeface="Calibri"/>
                <a:cs typeface="Calibri"/>
              </a:defRPr>
            </a:lvl6pPr>
            <a:lvl7pPr>
              <a:defRPr sz="2625" b="0">
                <a:solidFill>
                  <a:srgbClr val="142D3C"/>
                </a:solidFill>
                <a:latin typeface="Calibri"/>
                <a:ea typeface="Calibri"/>
                <a:cs typeface="Calibri"/>
              </a:defRPr>
            </a:lvl7pPr>
            <a:lvl8pPr>
              <a:defRPr sz="2625" b="0">
                <a:solidFill>
                  <a:srgbClr val="142D3C"/>
                </a:solidFill>
                <a:latin typeface="Calibri"/>
                <a:ea typeface="Calibri"/>
                <a:cs typeface="Calibri"/>
              </a:defRPr>
            </a:lvl8pPr>
            <a:lvl9pPr>
              <a:defRPr sz="2625" b="0">
                <a:solidFill>
                  <a:srgbClr val="142D3C"/>
                </a:solidFill>
                <a:latin typeface="Calibri"/>
                <a:ea typeface="Calibri"/>
                <a:cs typeface="Calibri"/>
              </a:defRPr>
            </a:lvl9pPr>
          </a:lstStyle>
          <a:p xmlns:a="http://schemas.openxmlformats.org/drawingml/2006/main">
            <a:pPr>
              <a:defRPr sz="2625" b="0">
                <a:solidFill>
                  <a:srgbClr val="142D3C"/>
                </a:solidFill>
                <a:latin typeface="Calibri"/>
                <a:ea typeface="Calibri"/>
                <a:cs typeface="Calibri"/>
              </a:defRPr>
            </a:pPr>
            <a:r>
              <a:rPr sz="2625" b="0">
                <a:solidFill>
                  <a:srgbClr val="142D3C"/>
                </a:solidFill>
                <a:latin typeface="Calibri"/>
                <a:ea typeface="Calibri"/>
                <a:cs typeface="Calibri"/>
              </a:rPr>
              <a:t>PATIENT John Smith MRN 482991</a:t>
            </a:r>
          </a:p>
          <a:p xmlns:a="http://schemas.openxmlformats.org/drawingml/2006/main">
            <a:pPr>
              <a:defRPr sz="2625" b="0">
                <a:solidFill>
                  <a:srgbClr val="142D3C"/>
                </a:solidFill>
                <a:latin typeface="Calibri"/>
                <a:ea typeface="Calibri"/>
                <a:cs typeface="Calibri"/>
              </a:defRPr>
            </a:pPr>
            <a:r>
              <a:rPr sz="2625" b="0">
                <a:solidFill>
                  <a:srgbClr val="142D3C"/>
                </a:solidFill>
                <a:latin typeface="Calibri"/>
                <a:ea typeface="Calibri"/>
                <a:cs typeface="Calibri"/>
              </a:rPr>
              <a:t>DIAGNOSIS NSCLC BIOMARKER EGFR</a:t>
            </a:r>
          </a:p>
        </p:txBody>
      </p:sp>
      <p:sp>
        <p:nvSpPr>
          <p:cNvPr id="6" name="body">
            <a:extLst xmlns:a="http://schemas.openxmlformats.org/drawingml/2006/main">
              <a:ext uri="{FF2B5EF4-FFF2-40B4-BE49-F238E27FC236}">
                <a16:creationId xmlns:a16="http://schemas.microsoft.com/office/drawing/2014/main" id="{7A8725EA-6EE9-4915-8AF3-8B8AB3B9B2E7}"/>
              </a:ext>
            </a:extLst>
          </p:cNvPr>
          <p:cNvSpPr>
            <a:spLocks xmlns:a="http://schemas.openxmlformats.org/drawingml/2006/main" noGrp="1"/>
          </p:cNvSpPr>
          <p:nvPr/>
        </p:nvSpPr>
        <p:spPr>
          <a:xfrm xmlns:a="http://schemas.openxmlformats.org/drawingml/2006/main">
            <a:off x="685800" y="39719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AF6527"/>
                </a:solidFill>
                <a:latin typeface="Calibri"/>
                <a:ea typeface="Calibri"/>
                <a:cs typeface="Calibri"/>
              </a:defRPr>
            </a:defPPr>
            <a:lvl1pPr>
              <a:defRPr sz="1500" b="1">
                <a:solidFill>
                  <a:srgbClr val="AF6527"/>
                </a:solidFill>
                <a:latin typeface="Calibri"/>
                <a:ea typeface="Calibri"/>
                <a:cs typeface="Calibri"/>
              </a:defRPr>
            </a:lvl1pPr>
            <a:lvl2pPr>
              <a:defRPr sz="1500" b="1">
                <a:solidFill>
                  <a:srgbClr val="AF6527"/>
                </a:solidFill>
                <a:latin typeface="Calibri"/>
                <a:ea typeface="Calibri"/>
                <a:cs typeface="Calibri"/>
              </a:defRPr>
            </a:lvl2pPr>
            <a:lvl3pPr>
              <a:defRPr sz="1500" b="1">
                <a:solidFill>
                  <a:srgbClr val="AF6527"/>
                </a:solidFill>
                <a:latin typeface="Calibri"/>
                <a:ea typeface="Calibri"/>
                <a:cs typeface="Calibri"/>
              </a:defRPr>
            </a:lvl3pPr>
            <a:lvl4pPr>
              <a:defRPr sz="1500" b="1">
                <a:solidFill>
                  <a:srgbClr val="AF6527"/>
                </a:solidFill>
                <a:latin typeface="Calibri"/>
                <a:ea typeface="Calibri"/>
                <a:cs typeface="Calibri"/>
              </a:defRPr>
            </a:lvl4pPr>
            <a:lvl5pPr>
              <a:defRPr sz="1500" b="1">
                <a:solidFill>
                  <a:srgbClr val="AF6527"/>
                </a:solidFill>
                <a:latin typeface="Calibri"/>
                <a:ea typeface="Calibri"/>
                <a:cs typeface="Calibri"/>
              </a:defRPr>
            </a:lvl5pPr>
            <a:lvl6pPr>
              <a:defRPr sz="1500" b="1">
                <a:solidFill>
                  <a:srgbClr val="AF6527"/>
                </a:solidFill>
                <a:latin typeface="Calibri"/>
                <a:ea typeface="Calibri"/>
                <a:cs typeface="Calibri"/>
              </a:defRPr>
            </a:lvl6pPr>
            <a:lvl7pPr>
              <a:defRPr sz="1500" b="1">
                <a:solidFill>
                  <a:srgbClr val="AF6527"/>
                </a:solidFill>
                <a:latin typeface="Calibri"/>
                <a:ea typeface="Calibri"/>
                <a:cs typeface="Calibri"/>
              </a:defRPr>
            </a:lvl7pPr>
            <a:lvl8pPr>
              <a:defRPr sz="1500" b="1">
                <a:solidFill>
                  <a:srgbClr val="AF6527"/>
                </a:solidFill>
                <a:latin typeface="Calibri"/>
                <a:ea typeface="Calibri"/>
                <a:cs typeface="Calibri"/>
              </a:defRPr>
            </a:lvl8pPr>
            <a:lvl9pPr>
              <a:defRPr sz="1500" b="1">
                <a:solidFill>
                  <a:srgbClr val="AF6527"/>
                </a:solidFill>
                <a:latin typeface="Calibri"/>
                <a:ea typeface="Calibri"/>
                <a:cs typeface="Calibri"/>
              </a:defRPr>
            </a:lvl9pPr>
          </a:lstStyle>
          <a:p xmlns:a="http://schemas.openxmlformats.org/drawingml/2006/main">
            <a:pPr>
              <a:defRPr sz="1500" b="1">
                <a:solidFill>
                  <a:srgbClr val="AF6527"/>
                </a:solidFill>
                <a:latin typeface="Calibri"/>
                <a:ea typeface="Calibri"/>
                <a:cs typeface="Calibri"/>
              </a:defRPr>
            </a:pPr>
            <a:r>
              <a:rPr sz="1500" b="1">
                <a:solidFill>
                  <a:srgbClr val="AF6527"/>
                </a:solidFill>
                <a:latin typeface="Calibri"/>
                <a:ea typeface="Calibri"/>
                <a:cs typeface="Calibri"/>
              </a:rPr>
              <a:t>TARGET OUTPUT</a:t>
            </a:r>
          </a:p>
        </p:txBody>
      </p:sp>
      <p:sp>
        <p:nvSpPr>
          <p:cNvPr id="7" name="body">
            <a:extLst xmlns:a="http://schemas.openxmlformats.org/drawingml/2006/main">
              <a:ext uri="{FF2B5EF4-FFF2-40B4-BE49-F238E27FC236}">
                <a16:creationId xmlns:a16="http://schemas.microsoft.com/office/drawing/2014/main" id="{02EBB96C-7219-4F42-9B0A-1508002D644E}"/>
              </a:ext>
            </a:extLst>
          </p:cNvPr>
          <p:cNvSpPr>
            <a:spLocks xmlns:a="http://schemas.openxmlformats.org/drawingml/2006/main" noGrp="1"/>
          </p:cNvSpPr>
          <p:nvPr/>
        </p:nvSpPr>
        <p:spPr>
          <a:xfrm xmlns:a="http://schemas.openxmlformats.org/drawingml/2006/main">
            <a:off x="685800" y="440055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0">
                <a:solidFill>
                  <a:srgbClr val="142D3C"/>
                </a:solidFill>
                <a:latin typeface="Calibri"/>
                <a:ea typeface="Calibri"/>
                <a:cs typeface="Calibri"/>
              </a:defRPr>
            </a:defPPr>
            <a:lvl1pPr>
              <a:defRPr sz="2625" b="0">
                <a:solidFill>
                  <a:srgbClr val="142D3C"/>
                </a:solidFill>
                <a:latin typeface="Calibri"/>
                <a:ea typeface="Calibri"/>
                <a:cs typeface="Calibri"/>
              </a:defRPr>
            </a:lvl1pPr>
            <a:lvl2pPr>
              <a:defRPr sz="2625" b="0">
                <a:solidFill>
                  <a:srgbClr val="142D3C"/>
                </a:solidFill>
                <a:latin typeface="Calibri"/>
                <a:ea typeface="Calibri"/>
                <a:cs typeface="Calibri"/>
              </a:defRPr>
            </a:lvl2pPr>
            <a:lvl3pPr>
              <a:defRPr sz="2625" b="0">
                <a:solidFill>
                  <a:srgbClr val="142D3C"/>
                </a:solidFill>
                <a:latin typeface="Calibri"/>
                <a:ea typeface="Calibri"/>
                <a:cs typeface="Calibri"/>
              </a:defRPr>
            </a:lvl3pPr>
            <a:lvl4pPr>
              <a:defRPr sz="2625" b="0">
                <a:solidFill>
                  <a:srgbClr val="142D3C"/>
                </a:solidFill>
                <a:latin typeface="Calibri"/>
                <a:ea typeface="Calibri"/>
                <a:cs typeface="Calibri"/>
              </a:defRPr>
            </a:lvl4pPr>
            <a:lvl5pPr>
              <a:defRPr sz="2625" b="0">
                <a:solidFill>
                  <a:srgbClr val="142D3C"/>
                </a:solidFill>
                <a:latin typeface="Calibri"/>
                <a:ea typeface="Calibri"/>
                <a:cs typeface="Calibri"/>
              </a:defRPr>
            </a:lvl5pPr>
            <a:lvl6pPr>
              <a:defRPr sz="2625" b="0">
                <a:solidFill>
                  <a:srgbClr val="142D3C"/>
                </a:solidFill>
                <a:latin typeface="Calibri"/>
                <a:ea typeface="Calibri"/>
                <a:cs typeface="Calibri"/>
              </a:defRPr>
            </a:lvl6pPr>
            <a:lvl7pPr>
              <a:defRPr sz="2625" b="0">
                <a:solidFill>
                  <a:srgbClr val="142D3C"/>
                </a:solidFill>
                <a:latin typeface="Calibri"/>
                <a:ea typeface="Calibri"/>
                <a:cs typeface="Calibri"/>
              </a:defRPr>
            </a:lvl7pPr>
            <a:lvl8pPr>
              <a:defRPr sz="2625" b="0">
                <a:solidFill>
                  <a:srgbClr val="142D3C"/>
                </a:solidFill>
                <a:latin typeface="Calibri"/>
                <a:ea typeface="Calibri"/>
                <a:cs typeface="Calibri"/>
              </a:defRPr>
            </a:lvl8pPr>
            <a:lvl9pPr>
              <a:defRPr sz="2625" b="0">
                <a:solidFill>
                  <a:srgbClr val="142D3C"/>
                </a:solidFill>
                <a:latin typeface="Calibri"/>
                <a:ea typeface="Calibri"/>
                <a:cs typeface="Calibri"/>
              </a:defRPr>
            </a:lvl9pPr>
          </a:lstStyle>
          <a:p xmlns:a="http://schemas.openxmlformats.org/drawingml/2006/main">
            <a:pPr>
              <a:defRPr sz="2625" b="0">
                <a:solidFill>
                  <a:srgbClr val="142D3C"/>
                </a:solidFill>
                <a:latin typeface="Calibri"/>
                <a:ea typeface="Calibri"/>
                <a:cs typeface="Calibri"/>
              </a:defRPr>
            </a:pPr>
            <a:r>
              <a:rPr sz="2625" b="0">
                <a:solidFill>
                  <a:srgbClr val="142D3C"/>
                </a:solidFill>
                <a:latin typeface="Calibri"/>
                <a:ea typeface="Calibri"/>
                <a:cs typeface="Calibri"/>
              </a:rPr>
              <a:t>PATIENT [NAME] MRN [MRN]</a:t>
            </a:r>
          </a:p>
          <a:p xmlns:a="http://schemas.openxmlformats.org/drawingml/2006/main">
            <a:pPr>
              <a:defRPr sz="2625" b="0">
                <a:solidFill>
                  <a:srgbClr val="142D3C"/>
                </a:solidFill>
                <a:latin typeface="Calibri"/>
                <a:ea typeface="Calibri"/>
                <a:cs typeface="Calibri"/>
              </a:defRPr>
            </a:pPr>
            <a:r>
              <a:rPr sz="2625" b="0">
                <a:solidFill>
                  <a:srgbClr val="142D3C"/>
                </a:solidFill>
                <a:latin typeface="Calibri"/>
                <a:ea typeface="Calibri"/>
                <a:cs typeface="Calibri"/>
              </a:rPr>
              <a:t>DIAGNOSIS NSCLC BIOMARKER EGFR</a:t>
            </a:r>
          </a:p>
        </p:txBody>
      </p:sp>
      <p:sp>
        <p:nvSpPr>
          <p:cNvPr id="8" name="body">
            <a:extLst xmlns:a="http://schemas.openxmlformats.org/drawingml/2006/main">
              <a:ext uri="{FF2B5EF4-FFF2-40B4-BE49-F238E27FC236}">
                <a16:creationId xmlns:a16="http://schemas.microsoft.com/office/drawing/2014/main" id="{F5BF7C5E-D95C-4AF4-8C40-0813EF453104}"/>
              </a:ext>
            </a:extLst>
          </p:cNvPr>
          <p:cNvSpPr>
            <a:spLocks xmlns:a="http://schemas.openxmlformats.org/drawingml/2006/main" noGrp="1"/>
          </p:cNvSpPr>
          <p:nvPr/>
        </p:nvSpPr>
        <p:spPr>
          <a:xfrm xmlns:a="http://schemas.openxmlformats.org/drawingml/2006/main">
            <a:off x="685800" y="598170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The target removes identifiers while preserving the specified clinical markers</a:t>
            </a:r>
          </a:p>
        </p:txBody>
      </p:sp>
    </p:spTree>
    <p:extLst>
      <p:ext uri="{BB962C8B-B14F-4D97-AF65-F5344CB8AC3E}">
        <p14:creationId xmlns:p14="http://schemas.microsoft.com/office/powerpoint/2010/main" val="1432045214"/>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4D1F4CAF-DB4E-49AC-B5BC-205CAE930B2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What we can claim today</a:t>
            </a:r>
          </a:p>
        </p:txBody>
      </p:sp>
      <p:sp>
        <p:nvSpPr>
          <p:cNvPr id="2" name="subtitle">
            <a:extLst xmlns:a="http://schemas.openxmlformats.org/drawingml/2006/main">
              <a:ext uri="{FF2B5EF4-FFF2-40B4-BE49-F238E27FC236}">
                <a16:creationId xmlns:a16="http://schemas.microsoft.com/office/drawing/2014/main" id="{34888A6D-405A-497F-B18F-369A15238B9B}"/>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Completed evidence and intended Mitra work have different status</a:t>
            </a:r>
          </a:p>
        </p:txBody>
      </p:sp>
      <p:sp>
        <p:nvSpPr>
          <p:cNvPr id="3" name="page-number">
            <a:extLst xmlns:a="http://schemas.openxmlformats.org/drawingml/2006/main">
              <a:ext uri="{FF2B5EF4-FFF2-40B4-BE49-F238E27FC236}">
                <a16:creationId xmlns:a16="http://schemas.microsoft.com/office/drawing/2014/main" id="{52A2B08C-395A-42BA-B7B2-9F24839236AB}"/>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04</a:t>
            </a:r>
          </a:p>
        </p:txBody>
      </p:sp>
      <p:graphicFrame>
        <p:nvGraphicFramePr>
          <p:cNvPr id="4" name="">
            <a:extLst xmlns:a="http://schemas.openxmlformats.org/drawingml/2006/main">
              <a:ext uri="{FF2B5EF4-FFF2-40B4-BE49-F238E27FC236}">
                <a16:creationId xmlns:a16="http://schemas.microsoft.com/office/drawing/2014/main" id="{43D85C03-0A2D-4C44-A325-55F3D136DD45}"/>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1905000"/>
                <a:gridCol w="4438650"/>
                <a:gridCol w="4476750"/>
              </a:tblGrid>
              <a:tr h="742950">
                <a:tc>
                  <a:txBody>
                    <a:bodyPr/>
                    <a:lstStyle/>
                    <a:p>
                      <a:r>
                        <a:rPr sz="1650" b="1">
                          <a:solidFill>
                            <a:srgbClr val="F9F7F1"/>
                          </a:solidFill>
                          <a:latin typeface="Calibri"/>
                          <a:ea typeface="Calibri"/>
                          <a:cs typeface="Calibri"/>
                        </a:rPr>
                        <a:t>Area</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Current evidence</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Claim boundary</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Week 5</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Saved runs across 8 architecture variants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Small evaluation supports limited comparisons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Mitra learning</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Assignment and concept notes available</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Architecture and objective can be explained</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Mitra code</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Separate starter package located</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Code availability does not establish correctness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Mitra results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No verified training or evaluation yet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Generalization and demonstration remain unproven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896908612"/>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869DCFCA-904B-4C88-A1ED-0A87FC2590C5}"/>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 transformation as next-token prediction</a:t>
            </a:r>
          </a:p>
        </p:txBody>
      </p:sp>
      <p:sp>
        <p:nvSpPr>
          <p:cNvPr id="2" name="subtitle">
            <a:extLst xmlns:a="http://schemas.openxmlformats.org/drawingml/2006/main">
              <a:ext uri="{FF2B5EF4-FFF2-40B4-BE49-F238E27FC236}">
                <a16:creationId xmlns:a16="http://schemas.microsoft.com/office/drawing/2014/main" id="{26F668FB-E4E8-4ED1-959D-A8FB04EBAF08}"/>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same sequence contains the source and the desired continuation</a:t>
            </a:r>
          </a:p>
        </p:txBody>
      </p:sp>
      <p:sp>
        <p:nvSpPr>
          <p:cNvPr id="3" name="page-number">
            <a:extLst xmlns:a="http://schemas.openxmlformats.org/drawingml/2006/main">
              <a:ext uri="{FF2B5EF4-FFF2-40B4-BE49-F238E27FC236}">
                <a16:creationId xmlns:a16="http://schemas.microsoft.com/office/drawing/2014/main" id="{EB8D5CEB-BABF-4F7D-AD6F-4F5CC83CE133}"/>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05</a:t>
            </a:r>
          </a:p>
        </p:txBody>
      </p:sp>
      <p:sp>
        <p:nvSpPr>
          <p:cNvPr id="4" name="body">
            <a:extLst xmlns:a="http://schemas.openxmlformats.org/drawingml/2006/main">
              <a:ext uri="{FF2B5EF4-FFF2-40B4-BE49-F238E27FC236}">
                <a16:creationId xmlns:a16="http://schemas.microsoft.com/office/drawing/2014/main" id="{D21B0C94-8A98-4EBD-BD2E-312E18725E0A}"/>
              </a:ext>
            </a:extLst>
          </p:cNvPr>
          <p:cNvSpPr>
            <a:spLocks xmlns:a="http://schemas.openxmlformats.org/drawingml/2006/main" noGrp="1"/>
          </p:cNvSpPr>
          <p:nvPr/>
        </p:nvSpPr>
        <p:spPr>
          <a:xfrm xmlns:a="http://schemas.openxmlformats.org/drawingml/2006/main">
            <a:off x="685800" y="22383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42D3C"/>
                </a:solidFill>
                <a:latin typeface="Calibri"/>
                <a:ea typeface="Calibri"/>
                <a:cs typeface="Calibri"/>
              </a:defRPr>
            </a:defPPr>
            <a:lvl1pPr>
              <a:defRPr sz="2325" b="1">
                <a:solidFill>
                  <a:srgbClr val="142D3C"/>
                </a:solidFill>
                <a:latin typeface="Calibri"/>
                <a:ea typeface="Calibri"/>
                <a:cs typeface="Calibri"/>
              </a:defRPr>
            </a:lvl1pPr>
            <a:lvl2pPr>
              <a:defRPr sz="2325" b="1">
                <a:solidFill>
                  <a:srgbClr val="142D3C"/>
                </a:solidFill>
                <a:latin typeface="Calibri"/>
                <a:ea typeface="Calibri"/>
                <a:cs typeface="Calibri"/>
              </a:defRPr>
            </a:lvl2pPr>
            <a:lvl3pPr>
              <a:defRPr sz="2325" b="1">
                <a:solidFill>
                  <a:srgbClr val="142D3C"/>
                </a:solidFill>
                <a:latin typeface="Calibri"/>
                <a:ea typeface="Calibri"/>
                <a:cs typeface="Calibri"/>
              </a:defRPr>
            </a:lvl3pPr>
            <a:lvl4pPr>
              <a:defRPr sz="2325" b="1">
                <a:solidFill>
                  <a:srgbClr val="142D3C"/>
                </a:solidFill>
                <a:latin typeface="Calibri"/>
                <a:ea typeface="Calibri"/>
                <a:cs typeface="Calibri"/>
              </a:defRPr>
            </a:lvl4pPr>
            <a:lvl5pPr>
              <a:defRPr sz="2325" b="1">
                <a:solidFill>
                  <a:srgbClr val="142D3C"/>
                </a:solidFill>
                <a:latin typeface="Calibri"/>
                <a:ea typeface="Calibri"/>
                <a:cs typeface="Calibri"/>
              </a:defRPr>
            </a:lvl5pPr>
            <a:lvl6pPr>
              <a:defRPr sz="2325" b="1">
                <a:solidFill>
                  <a:srgbClr val="142D3C"/>
                </a:solidFill>
                <a:latin typeface="Calibri"/>
                <a:ea typeface="Calibri"/>
                <a:cs typeface="Calibri"/>
              </a:defRPr>
            </a:lvl6pPr>
            <a:lvl7pPr>
              <a:defRPr sz="2325" b="1">
                <a:solidFill>
                  <a:srgbClr val="142D3C"/>
                </a:solidFill>
                <a:latin typeface="Calibri"/>
                <a:ea typeface="Calibri"/>
                <a:cs typeface="Calibri"/>
              </a:defRPr>
            </a:lvl7pPr>
            <a:lvl8pPr>
              <a:defRPr sz="2325" b="1">
                <a:solidFill>
                  <a:srgbClr val="142D3C"/>
                </a:solidFill>
                <a:latin typeface="Calibri"/>
                <a:ea typeface="Calibri"/>
                <a:cs typeface="Calibri"/>
              </a:defRPr>
            </a:lvl8pPr>
            <a:lvl9pPr>
              <a:defRPr sz="2325" b="1">
                <a:solidFill>
                  <a:srgbClr val="142D3C"/>
                </a:solidFill>
                <a:latin typeface="Calibri"/>
                <a:ea typeface="Calibri"/>
                <a:cs typeface="Calibri"/>
              </a:defRPr>
            </a:lvl9pPr>
          </a:lstStyle>
          <a:p xmlns:a="http://schemas.openxmlformats.org/drawingml/2006/main">
            <a:pPr>
              <a:defRPr sz="2325" b="1">
                <a:solidFill>
                  <a:srgbClr val="142D3C"/>
                </a:solidFill>
                <a:latin typeface="Calibri"/>
                <a:ea typeface="Calibri"/>
                <a:cs typeface="Calibri"/>
              </a:defRPr>
            </a:pPr>
            <a:r>
              <a:rPr sz="2325" b="1">
                <a:solidFill>
                  <a:srgbClr val="142D3C"/>
                </a:solidFill>
                <a:latin typeface="Calibri"/>
                <a:ea typeface="Calibri"/>
                <a:cs typeface="Calibri"/>
              </a:rPr>
              <a:t>&lt;BOS&gt; &lt;INPUT&gt; PATIENT John Smith DIAGNOSIS NSCLC</a:t>
            </a:r>
          </a:p>
        </p:txBody>
      </p:sp>
      <p:sp>
        <p:nvSpPr>
          <p:cNvPr id="5" name="body">
            <a:extLst xmlns:a="http://schemas.openxmlformats.org/drawingml/2006/main">
              <a:ext uri="{FF2B5EF4-FFF2-40B4-BE49-F238E27FC236}">
                <a16:creationId xmlns:a16="http://schemas.microsoft.com/office/drawing/2014/main" id="{F04A94C9-002F-4D6F-9860-39D81BB134F6}"/>
              </a:ext>
            </a:extLst>
          </p:cNvPr>
          <p:cNvSpPr>
            <a:spLocks xmlns:a="http://schemas.openxmlformats.org/drawingml/2006/main" noGrp="1"/>
          </p:cNvSpPr>
          <p:nvPr/>
        </p:nvSpPr>
        <p:spPr>
          <a:xfrm xmlns:a="http://schemas.openxmlformats.org/drawingml/2006/main">
            <a:off x="685800" y="28575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42D3C"/>
                </a:solidFill>
                <a:latin typeface="Calibri"/>
                <a:ea typeface="Calibri"/>
                <a:cs typeface="Calibri"/>
              </a:defRPr>
            </a:defPPr>
            <a:lvl1pPr>
              <a:defRPr sz="2325" b="1">
                <a:solidFill>
                  <a:srgbClr val="142D3C"/>
                </a:solidFill>
                <a:latin typeface="Calibri"/>
                <a:ea typeface="Calibri"/>
                <a:cs typeface="Calibri"/>
              </a:defRPr>
            </a:lvl1pPr>
            <a:lvl2pPr>
              <a:defRPr sz="2325" b="1">
                <a:solidFill>
                  <a:srgbClr val="142D3C"/>
                </a:solidFill>
                <a:latin typeface="Calibri"/>
                <a:ea typeface="Calibri"/>
                <a:cs typeface="Calibri"/>
              </a:defRPr>
            </a:lvl2pPr>
            <a:lvl3pPr>
              <a:defRPr sz="2325" b="1">
                <a:solidFill>
                  <a:srgbClr val="142D3C"/>
                </a:solidFill>
                <a:latin typeface="Calibri"/>
                <a:ea typeface="Calibri"/>
                <a:cs typeface="Calibri"/>
              </a:defRPr>
            </a:lvl3pPr>
            <a:lvl4pPr>
              <a:defRPr sz="2325" b="1">
                <a:solidFill>
                  <a:srgbClr val="142D3C"/>
                </a:solidFill>
                <a:latin typeface="Calibri"/>
                <a:ea typeface="Calibri"/>
                <a:cs typeface="Calibri"/>
              </a:defRPr>
            </a:lvl4pPr>
            <a:lvl5pPr>
              <a:defRPr sz="2325" b="1">
                <a:solidFill>
                  <a:srgbClr val="142D3C"/>
                </a:solidFill>
                <a:latin typeface="Calibri"/>
                <a:ea typeface="Calibri"/>
                <a:cs typeface="Calibri"/>
              </a:defRPr>
            </a:lvl5pPr>
            <a:lvl6pPr>
              <a:defRPr sz="2325" b="1">
                <a:solidFill>
                  <a:srgbClr val="142D3C"/>
                </a:solidFill>
                <a:latin typeface="Calibri"/>
                <a:ea typeface="Calibri"/>
                <a:cs typeface="Calibri"/>
              </a:defRPr>
            </a:lvl6pPr>
            <a:lvl7pPr>
              <a:defRPr sz="2325" b="1">
                <a:solidFill>
                  <a:srgbClr val="142D3C"/>
                </a:solidFill>
                <a:latin typeface="Calibri"/>
                <a:ea typeface="Calibri"/>
                <a:cs typeface="Calibri"/>
              </a:defRPr>
            </a:lvl7pPr>
            <a:lvl8pPr>
              <a:defRPr sz="2325" b="1">
                <a:solidFill>
                  <a:srgbClr val="142D3C"/>
                </a:solidFill>
                <a:latin typeface="Calibri"/>
                <a:ea typeface="Calibri"/>
                <a:cs typeface="Calibri"/>
              </a:defRPr>
            </a:lvl8pPr>
            <a:lvl9pPr>
              <a:defRPr sz="2325" b="1">
                <a:solidFill>
                  <a:srgbClr val="142D3C"/>
                </a:solidFill>
                <a:latin typeface="Calibri"/>
                <a:ea typeface="Calibri"/>
                <a:cs typeface="Calibri"/>
              </a:defRPr>
            </a:lvl9pPr>
          </a:lstStyle>
          <a:p xmlns:a="http://schemas.openxmlformats.org/drawingml/2006/main">
            <a:pPr>
              <a:defRPr sz="2325" b="1">
                <a:solidFill>
                  <a:srgbClr val="142D3C"/>
                </a:solidFill>
                <a:latin typeface="Calibri"/>
                <a:ea typeface="Calibri"/>
                <a:cs typeface="Calibri"/>
              </a:defRPr>
            </a:pPr>
            <a:r>
              <a:rPr sz="2325" b="1">
                <a:solidFill>
                  <a:srgbClr val="142D3C"/>
                </a:solidFill>
                <a:latin typeface="Calibri"/>
                <a:ea typeface="Calibri"/>
                <a:cs typeface="Calibri"/>
              </a:rPr>
              <a:t>&lt;OUTPUT&gt; PATIENT [NAME] DIAGNOSIS NSCLC &lt;EOS&gt;</a:t>
            </a:r>
          </a:p>
        </p:txBody>
      </p:sp>
      <p:sp>
        <p:nvSpPr>
          <p:cNvPr id="6" name="body">
            <a:extLst xmlns:a="http://schemas.openxmlformats.org/drawingml/2006/main">
              <a:ext uri="{FF2B5EF4-FFF2-40B4-BE49-F238E27FC236}">
                <a16:creationId xmlns:a16="http://schemas.microsoft.com/office/drawing/2014/main" id="{11612AAB-B798-4EB8-A110-B76507902384}"/>
              </a:ext>
            </a:extLst>
          </p:cNvPr>
          <p:cNvSpPr>
            <a:spLocks xmlns:a="http://schemas.openxmlformats.org/drawingml/2006/main" noGrp="1"/>
          </p:cNvSpPr>
          <p:nvPr/>
        </p:nvSpPr>
        <p:spPr>
          <a:xfrm xmlns:a="http://schemas.openxmlformats.org/drawingml/2006/main">
            <a:off x="685800" y="40481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Prompt</a:t>
            </a:r>
          </a:p>
        </p:txBody>
      </p:sp>
      <p:sp>
        <p:nvSpPr>
          <p:cNvPr id="7" name="body">
            <a:extLst xmlns:a="http://schemas.openxmlformats.org/drawingml/2006/main">
              <a:ext uri="{FF2B5EF4-FFF2-40B4-BE49-F238E27FC236}">
                <a16:creationId xmlns:a16="http://schemas.microsoft.com/office/drawing/2014/main" id="{A490A62A-C8F7-4EF5-8B3C-1D50462613B7}"/>
              </a:ext>
            </a:extLst>
          </p:cNvPr>
          <p:cNvSpPr>
            <a:spLocks xmlns:a="http://schemas.openxmlformats.org/drawingml/2006/main" noGrp="1"/>
          </p:cNvSpPr>
          <p:nvPr/>
        </p:nvSpPr>
        <p:spPr>
          <a:xfrm xmlns:a="http://schemas.openxmlformats.org/drawingml/2006/main">
            <a:off x="4171950" y="404812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Everything through &lt;OUTPUT&gt;</a:t>
            </a:r>
          </a:p>
        </p:txBody>
      </p:sp>
      <p:sp>
        <p:nvSpPr>
          <p:cNvPr id="8" name="body">
            <a:extLst xmlns:a="http://schemas.openxmlformats.org/drawingml/2006/main">
              <a:ext uri="{FF2B5EF4-FFF2-40B4-BE49-F238E27FC236}">
                <a16:creationId xmlns:a16="http://schemas.microsoft.com/office/drawing/2014/main" id="{8A8306D9-CAA3-4E79-8880-6D376DC864C2}"/>
              </a:ext>
            </a:extLst>
          </p:cNvPr>
          <p:cNvSpPr>
            <a:spLocks xmlns:a="http://schemas.openxmlformats.org/drawingml/2006/main" noGrp="1"/>
          </p:cNvSpPr>
          <p:nvPr/>
        </p:nvSpPr>
        <p:spPr>
          <a:xfrm xmlns:a="http://schemas.openxmlformats.org/drawingml/2006/main">
            <a:off x="685800" y="47339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Supervised continuation</a:t>
            </a:r>
          </a:p>
        </p:txBody>
      </p:sp>
      <p:sp>
        <p:nvSpPr>
          <p:cNvPr id="9" name="body">
            <a:extLst xmlns:a="http://schemas.openxmlformats.org/drawingml/2006/main">
              <a:ext uri="{FF2B5EF4-FFF2-40B4-BE49-F238E27FC236}">
                <a16:creationId xmlns:a16="http://schemas.microsoft.com/office/drawing/2014/main" id="{F9EA11EA-8B62-499E-A863-D207F4647956}"/>
              </a:ext>
            </a:extLst>
          </p:cNvPr>
          <p:cNvSpPr>
            <a:spLocks xmlns:a="http://schemas.openxmlformats.org/drawingml/2006/main" noGrp="1"/>
          </p:cNvSpPr>
          <p:nvPr/>
        </p:nvSpPr>
        <p:spPr>
          <a:xfrm xmlns:a="http://schemas.openxmlformats.org/drawingml/2006/main">
            <a:off x="4171950" y="473392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The transformed note and &lt;EOS&gt;</a:t>
            </a:r>
          </a:p>
        </p:txBody>
      </p:sp>
      <p:sp>
        <p:nvSpPr>
          <p:cNvPr id="10" name="body">
            <a:extLst xmlns:a="http://schemas.openxmlformats.org/drawingml/2006/main">
              <a:ext uri="{FF2B5EF4-FFF2-40B4-BE49-F238E27FC236}">
                <a16:creationId xmlns:a16="http://schemas.microsoft.com/office/drawing/2014/main" id="{5D3D2C33-ACA4-428A-A734-9AD3B08C3C62}"/>
              </a:ext>
            </a:extLst>
          </p:cNvPr>
          <p:cNvSpPr>
            <a:spLocks xmlns:a="http://schemas.openxmlformats.org/drawingml/2006/main" noGrp="1"/>
          </p:cNvSpPr>
          <p:nvPr/>
        </p:nvSpPr>
        <p:spPr>
          <a:xfrm xmlns:a="http://schemas.openxmlformats.org/drawingml/2006/main">
            <a:off x="685800" y="54197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Training objective</a:t>
            </a:r>
          </a:p>
        </p:txBody>
      </p:sp>
      <p:sp>
        <p:nvSpPr>
          <p:cNvPr id="11" name="body">
            <a:extLst xmlns:a="http://schemas.openxmlformats.org/drawingml/2006/main">
              <a:ext uri="{FF2B5EF4-FFF2-40B4-BE49-F238E27FC236}">
                <a16:creationId xmlns:a16="http://schemas.microsoft.com/office/drawing/2014/main" id="{6119DBCC-71AB-4AD9-880C-0BF2AEA561CE}"/>
              </a:ext>
            </a:extLst>
          </p:cNvPr>
          <p:cNvSpPr>
            <a:spLocks xmlns:a="http://schemas.openxmlformats.org/drawingml/2006/main" noGrp="1"/>
          </p:cNvSpPr>
          <p:nvPr/>
        </p:nvSpPr>
        <p:spPr>
          <a:xfrm xmlns:a="http://schemas.openxmlformats.org/drawingml/2006/main">
            <a:off x="4171950" y="541972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Reward the correct next token in the continuation</a:t>
            </a:r>
          </a:p>
        </p:txBody>
      </p:sp>
    </p:spTree>
    <p:extLst>
      <p:ext uri="{BB962C8B-B14F-4D97-AF65-F5344CB8AC3E}">
        <p14:creationId xmlns:p14="http://schemas.microsoft.com/office/powerpoint/2010/main" val="1415580383"/>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6F752433-1792-43F3-BE80-072484C5B6C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Training and generation</a:t>
            </a:r>
          </a:p>
        </p:txBody>
      </p:sp>
      <p:sp>
        <p:nvSpPr>
          <p:cNvPr id="2" name="subtitle">
            <a:extLst xmlns:a="http://schemas.openxmlformats.org/drawingml/2006/main">
              <a:ext uri="{FF2B5EF4-FFF2-40B4-BE49-F238E27FC236}">
                <a16:creationId xmlns:a16="http://schemas.microsoft.com/office/drawing/2014/main" id="{7EFFF058-B328-4B5A-8681-EA3E41B85169}"/>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Parallel scoring during training, one appended token during inference</a:t>
            </a:r>
          </a:p>
        </p:txBody>
      </p:sp>
      <p:sp>
        <p:nvSpPr>
          <p:cNvPr id="3" name="page-number">
            <a:extLst xmlns:a="http://schemas.openxmlformats.org/drawingml/2006/main">
              <a:ext uri="{FF2B5EF4-FFF2-40B4-BE49-F238E27FC236}">
                <a16:creationId xmlns:a16="http://schemas.microsoft.com/office/drawing/2014/main" id="{6FE8C1CF-5237-417B-A719-BC6E785C0EA1}"/>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06</a:t>
            </a:r>
          </a:p>
        </p:txBody>
      </p:sp>
      <p:graphicFrame>
        <p:nvGraphicFramePr>
          <p:cNvPr id="4" name="">
            <a:extLst xmlns:a="http://schemas.openxmlformats.org/drawingml/2006/main">
              <a:ext uri="{FF2B5EF4-FFF2-40B4-BE49-F238E27FC236}">
                <a16:creationId xmlns:a16="http://schemas.microsoft.com/office/drawing/2014/main" id="{5629B0CF-B6B6-4B46-B981-1589AC5F489B}"/>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1809750"/>
                <a:gridCol w="4505325"/>
                <a:gridCol w="4505325"/>
              </a:tblGrid>
              <a:tr h="650875">
                <a:tc>
                  <a:txBody>
                    <a:bodyPr/>
                    <a:lstStyle/>
                    <a:p>
                      <a:r>
                        <a:rPr sz="1650" b="1">
                          <a:solidFill>
                            <a:srgbClr val="F9F7F1"/>
                          </a:solidFill>
                          <a:latin typeface="Calibri"/>
                          <a:ea typeface="Calibri"/>
                          <a:cs typeface="Calibri"/>
                        </a:rPr>
                        <a:t>Aspect</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Training</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Generation</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Available text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Source and correct output prefix</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Source and model-generated prefix</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Model input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Shifted complete example</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Current prompt plus generated tokens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Prediction used</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 scored output positions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Final position only</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Update</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Loss, backpropagation, optimizer step</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Append one token without weight updates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Main risk</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Target leakage through an incorrect mask</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An early error becomes future context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882640419"/>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DE57257A-A8C1-4599-827A-44F42518861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Tokenization defines what the model can see</a:t>
            </a:r>
          </a:p>
        </p:txBody>
      </p:sp>
      <p:sp>
        <p:nvSpPr>
          <p:cNvPr id="2" name="page-number">
            <a:extLst xmlns:a="http://schemas.openxmlformats.org/drawingml/2006/main">
              <a:ext uri="{FF2B5EF4-FFF2-40B4-BE49-F238E27FC236}">
                <a16:creationId xmlns:a16="http://schemas.microsoft.com/office/drawing/2014/main" id="{B89D06C2-0B0F-46A9-93A1-79898843E661}"/>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07</a:t>
            </a:r>
          </a:p>
        </p:txBody>
      </p:sp>
      <p:sp>
        <p:nvSpPr>
          <p:cNvPr id="3" name="body">
            <a:extLst xmlns:a="http://schemas.openxmlformats.org/drawingml/2006/main">
              <a:ext uri="{FF2B5EF4-FFF2-40B4-BE49-F238E27FC236}">
                <a16:creationId xmlns:a16="http://schemas.microsoft.com/office/drawing/2014/main" id="{9A0E8284-F7BB-4E3C-A9A7-67618E9400AE}"/>
              </a:ext>
            </a:extLst>
          </p:cNvPr>
          <p:cNvSpPr>
            <a:spLocks xmlns:a="http://schemas.openxmlformats.org/drawingml/2006/main" noGrp="1"/>
          </p:cNvSpPr>
          <p:nvPr/>
        </p:nvSpPr>
        <p:spPr>
          <a:xfrm xmlns:a="http://schemas.openxmlformats.org/drawingml/2006/main">
            <a:off x="685800" y="2143125"/>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A simple word tokenizer</a:t>
            </a:r>
          </a:p>
        </p:txBody>
      </p:sp>
      <p:sp>
        <p:nvSpPr>
          <p:cNvPr id="4" name="body">
            <a:extLst xmlns:a="http://schemas.openxmlformats.org/drawingml/2006/main">
              <a:ext uri="{FF2B5EF4-FFF2-40B4-BE49-F238E27FC236}">
                <a16:creationId xmlns:a16="http://schemas.microsoft.com/office/drawing/2014/main" id="{7A2BA8A6-1EA4-4D7C-B498-C5138E8A26C0}"/>
              </a:ext>
            </a:extLst>
          </p:cNvPr>
          <p:cNvSpPr>
            <a:spLocks xmlns:a="http://schemas.openxmlformats.org/drawingml/2006/main" noGrp="1"/>
          </p:cNvSpPr>
          <p:nvPr/>
        </p:nvSpPr>
        <p:spPr>
          <a:xfrm xmlns:a="http://schemas.openxmlformats.org/drawingml/2006/main">
            <a:off x="6429375" y="2143125"/>
            <a:ext cx="50768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The consequence for Mitra</a:t>
            </a:r>
          </a:p>
        </p:txBody>
      </p:sp>
      <p:sp>
        <p:nvSpPr>
          <p:cNvPr id="5" name="body">
            <a:extLst xmlns:a="http://schemas.openxmlformats.org/drawingml/2006/main">
              <a:ext uri="{FF2B5EF4-FFF2-40B4-BE49-F238E27FC236}">
                <a16:creationId xmlns:a16="http://schemas.microsoft.com/office/drawing/2014/main" id="{D67FB65E-14A1-4E57-B0F3-4110939B2996}"/>
              </a:ext>
            </a:extLst>
          </p:cNvPr>
          <p:cNvSpPr>
            <a:spLocks xmlns:a="http://schemas.openxmlformats.org/drawingml/2006/main" noGrp="1"/>
          </p:cNvSpPr>
          <p:nvPr/>
        </p:nvSpPr>
        <p:spPr>
          <a:xfrm xmlns:a="http://schemas.openxmlformats.org/drawingml/2006/main">
            <a:off x="685800" y="302895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One ID for each known word or marker</a:t>
            </a:r>
          </a:p>
        </p:txBody>
      </p:sp>
      <p:sp>
        <p:nvSpPr>
          <p:cNvPr id="6" name="body">
            <a:extLst xmlns:a="http://schemas.openxmlformats.org/drawingml/2006/main">
              <a:ext uri="{FF2B5EF4-FFF2-40B4-BE49-F238E27FC236}">
                <a16:creationId xmlns:a16="http://schemas.microsoft.com/office/drawing/2014/main" id="{74CF5095-4758-4790-A268-C40FD13889B1}"/>
              </a:ext>
            </a:extLst>
          </p:cNvPr>
          <p:cNvSpPr>
            <a:spLocks xmlns:a="http://schemas.openxmlformats.org/drawingml/2006/main" noGrp="1"/>
          </p:cNvSpPr>
          <p:nvPr/>
        </p:nvSpPr>
        <p:spPr>
          <a:xfrm xmlns:a="http://schemas.openxmlformats.org/drawingml/2006/main">
            <a:off x="685800" y="389572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Training sequences define the vocabulary</a:t>
            </a:r>
          </a:p>
        </p:txBody>
      </p:sp>
      <p:sp>
        <p:nvSpPr>
          <p:cNvPr id="7" name="body">
            <a:extLst xmlns:a="http://schemas.openxmlformats.org/drawingml/2006/main">
              <a:ext uri="{FF2B5EF4-FFF2-40B4-BE49-F238E27FC236}">
                <a16:creationId xmlns:a16="http://schemas.microsoft.com/office/drawing/2014/main" id="{6B56D322-ECB1-4150-B0FA-C9813F38D63D}"/>
              </a:ext>
            </a:extLst>
          </p:cNvPr>
          <p:cNvSpPr>
            <a:spLocks xmlns:a="http://schemas.openxmlformats.org/drawingml/2006/main" noGrp="1"/>
          </p:cNvSpPr>
          <p:nvPr/>
        </p:nvSpPr>
        <p:spPr>
          <a:xfrm xmlns:a="http://schemas.openxmlformats.org/drawingml/2006/main">
            <a:off x="685800" y="476250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Unseen words collapse to &lt;UNK&gt;</a:t>
            </a:r>
          </a:p>
        </p:txBody>
      </p:sp>
      <p:sp>
        <p:nvSpPr>
          <p:cNvPr id="8" name="body">
            <a:extLst xmlns:a="http://schemas.openxmlformats.org/drawingml/2006/main">
              <a:ext uri="{FF2B5EF4-FFF2-40B4-BE49-F238E27FC236}">
                <a16:creationId xmlns:a16="http://schemas.microsoft.com/office/drawing/2014/main" id="{25CD62B5-9C93-49C4-816A-F844AB4296B4}"/>
              </a:ext>
            </a:extLst>
          </p:cNvPr>
          <p:cNvSpPr>
            <a:spLocks xmlns:a="http://schemas.openxmlformats.org/drawingml/2006/main" noGrp="1"/>
          </p:cNvSpPr>
          <p:nvPr/>
        </p:nvSpPr>
        <p:spPr>
          <a:xfrm xmlns:a="http://schemas.openxmlformats.org/drawingml/2006/main">
            <a:off x="6429375" y="302895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Different unseen names lose their spelling</a:t>
            </a:r>
          </a:p>
        </p:txBody>
      </p:sp>
      <p:sp>
        <p:nvSpPr>
          <p:cNvPr id="9" name="body">
            <a:extLst xmlns:a="http://schemas.openxmlformats.org/drawingml/2006/main">
              <a:ext uri="{FF2B5EF4-FFF2-40B4-BE49-F238E27FC236}">
                <a16:creationId xmlns:a16="http://schemas.microsoft.com/office/drawing/2014/main" id="{4CD344D3-98EF-4D94-93D9-1DFCE483D716}"/>
              </a:ext>
            </a:extLst>
          </p:cNvPr>
          <p:cNvSpPr>
            <a:spLocks xmlns:a="http://schemas.openxmlformats.org/drawingml/2006/main" noGrp="1"/>
          </p:cNvSpPr>
          <p:nvPr/>
        </p:nvSpPr>
        <p:spPr>
          <a:xfrm xmlns:a="http://schemas.openxmlformats.org/drawingml/2006/main">
            <a:off x="6429375" y="3895725"/>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Position distinguishes locations, not identity</a:t>
            </a:r>
          </a:p>
        </p:txBody>
      </p:sp>
      <p:sp>
        <p:nvSpPr>
          <p:cNvPr id="10" name="body">
            <a:extLst xmlns:a="http://schemas.openxmlformats.org/drawingml/2006/main">
              <a:ext uri="{FF2B5EF4-FFF2-40B4-BE49-F238E27FC236}">
                <a16:creationId xmlns:a16="http://schemas.microsoft.com/office/drawing/2014/main" id="{BAE05F2A-5BEF-4079-856D-524979BA50FB}"/>
              </a:ext>
            </a:extLst>
          </p:cNvPr>
          <p:cNvSpPr>
            <a:spLocks xmlns:a="http://schemas.openxmlformats.org/drawingml/2006/main" noGrp="1"/>
          </p:cNvSpPr>
          <p:nvPr/>
        </p:nvSpPr>
        <p:spPr>
          <a:xfrm xmlns:a="http://schemas.openxmlformats.org/drawingml/2006/main">
            <a:off x="6429375" y="476250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Unseen clinical words may become uncopyable</a:t>
            </a:r>
          </a:p>
        </p:txBody>
      </p:sp>
      <p:sp>
        <p:nvSpPr>
          <p:cNvPr id="11" name="body">
            <a:extLst xmlns:a="http://schemas.openxmlformats.org/drawingml/2006/main">
              <a:ext uri="{FF2B5EF4-FFF2-40B4-BE49-F238E27FC236}">
                <a16:creationId xmlns:a16="http://schemas.microsoft.com/office/drawing/2014/main" id="{2AD581C4-D1CA-47FF-BA38-A06058EDFE2A}"/>
              </a:ext>
            </a:extLst>
          </p:cNvPr>
          <p:cNvSpPr>
            <a:spLocks xmlns:a="http://schemas.openxmlformats.org/drawingml/2006/main" noGrp="1"/>
          </p:cNvSpPr>
          <p:nvPr/>
        </p:nvSpPr>
        <p:spPr>
          <a:xfrm xmlns:a="http://schemas.openxmlformats.org/drawingml/2006/main">
            <a:off x="685800" y="59817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A character or byte tokenizer is a useful comparison when spelling must survive</a:t>
            </a:r>
          </a:p>
        </p:txBody>
      </p:sp>
    </p:spTree>
    <p:extLst>
      <p:ext uri="{BB962C8B-B14F-4D97-AF65-F5344CB8AC3E}">
        <p14:creationId xmlns:p14="http://schemas.microsoft.com/office/powerpoint/2010/main" val="1483149424"/>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DD5F557E-9704-4144-BECB-051C3BE181B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Embeddings and position</a:t>
            </a:r>
          </a:p>
        </p:txBody>
      </p:sp>
      <p:sp>
        <p:nvSpPr>
          <p:cNvPr id="2" name="subtitle">
            <a:extLst xmlns:a="http://schemas.openxmlformats.org/drawingml/2006/main">
              <a:ext uri="{FF2B5EF4-FFF2-40B4-BE49-F238E27FC236}">
                <a16:creationId xmlns:a16="http://schemas.microsoft.com/office/drawing/2014/main" id="{00B433ED-18A4-4F08-B842-F159F9FF0012}"/>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A token ID selects a vector, then position adds order information</a:t>
            </a:r>
          </a:p>
        </p:txBody>
      </p:sp>
      <p:sp>
        <p:nvSpPr>
          <p:cNvPr id="3" name="page-number">
            <a:extLst xmlns:a="http://schemas.openxmlformats.org/drawingml/2006/main">
              <a:ext uri="{FF2B5EF4-FFF2-40B4-BE49-F238E27FC236}">
                <a16:creationId xmlns:a16="http://schemas.microsoft.com/office/drawing/2014/main" id="{33479A29-2C00-4283-8F40-12AE81CC637F}"/>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08</a:t>
            </a:r>
          </a:p>
        </p:txBody>
      </p:sp>
      <p:sp>
        <p:nvSpPr>
          <p:cNvPr id="4" name="body">
            <a:extLst xmlns:a="http://schemas.openxmlformats.org/drawingml/2006/main">
              <a:ext uri="{FF2B5EF4-FFF2-40B4-BE49-F238E27FC236}">
                <a16:creationId xmlns:a16="http://schemas.microsoft.com/office/drawing/2014/main" id="{C2A458BB-8F7C-4F7D-87C5-6F7A565274F1}"/>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X[b, t, :] = E[token_id] + P[t]</a:t>
            </a:r>
          </a:p>
        </p:txBody>
      </p:sp>
      <p:sp>
        <p:nvSpPr>
          <p:cNvPr id="5" name="body">
            <a:extLst xmlns:a="http://schemas.openxmlformats.org/drawingml/2006/main">
              <a:ext uri="{FF2B5EF4-FFF2-40B4-BE49-F238E27FC236}">
                <a16:creationId xmlns:a16="http://schemas.microsoft.com/office/drawing/2014/main" id="{619426C9-46D1-4DE4-B0A5-A2D71446334C}"/>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E</a:t>
            </a:r>
          </a:p>
        </p:txBody>
      </p:sp>
      <p:sp>
        <p:nvSpPr>
          <p:cNvPr id="6" name="body">
            <a:extLst xmlns:a="http://schemas.openxmlformats.org/drawingml/2006/main">
              <a:ext uri="{FF2B5EF4-FFF2-40B4-BE49-F238E27FC236}">
                <a16:creationId xmlns:a16="http://schemas.microsoft.com/office/drawing/2014/main" id="{1B851DAB-6900-45EA-B9BA-8C98F4EFEEBA}"/>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token embedding table</a:t>
            </a:r>
          </a:p>
        </p:txBody>
      </p:sp>
      <p:sp>
        <p:nvSpPr>
          <p:cNvPr id="7" name="body">
            <a:extLst xmlns:a="http://schemas.openxmlformats.org/drawingml/2006/main">
              <a:ext uri="{FF2B5EF4-FFF2-40B4-BE49-F238E27FC236}">
                <a16:creationId xmlns:a16="http://schemas.microsoft.com/office/drawing/2014/main" id="{82F343D8-13DD-4EE9-B01A-46502FD1F132}"/>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P</a:t>
            </a:r>
          </a:p>
        </p:txBody>
      </p:sp>
      <p:sp>
        <p:nvSpPr>
          <p:cNvPr id="8" name="body">
            <a:extLst xmlns:a="http://schemas.openxmlformats.org/drawingml/2006/main">
              <a:ext uri="{FF2B5EF4-FFF2-40B4-BE49-F238E27FC236}">
                <a16:creationId xmlns:a16="http://schemas.microsoft.com/office/drawing/2014/main" id="{EBE69CBA-0684-4448-A75B-CD67873366D9}"/>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position embedding table</a:t>
            </a:r>
          </a:p>
        </p:txBody>
      </p:sp>
      <p:sp>
        <p:nvSpPr>
          <p:cNvPr id="9" name="body">
            <a:extLst xmlns:a="http://schemas.openxmlformats.org/drawingml/2006/main">
              <a:ext uri="{FF2B5EF4-FFF2-40B4-BE49-F238E27FC236}">
                <a16:creationId xmlns:a16="http://schemas.microsoft.com/office/drawing/2014/main" id="{38BF6D9E-89FD-4F13-B16A-CEB770B769DE}"/>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b, t</a:t>
            </a:r>
          </a:p>
        </p:txBody>
      </p:sp>
      <p:sp>
        <p:nvSpPr>
          <p:cNvPr id="10" name="body">
            <a:extLst xmlns:a="http://schemas.openxmlformats.org/drawingml/2006/main">
              <a:ext uri="{FF2B5EF4-FFF2-40B4-BE49-F238E27FC236}">
                <a16:creationId xmlns:a16="http://schemas.microsoft.com/office/drawing/2014/main" id="{A8AD5532-5119-4CC3-91C6-18A9F74DE759}"/>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Batch item and token position</a:t>
            </a:r>
          </a:p>
        </p:txBody>
      </p:sp>
      <p:sp>
        <p:nvSpPr>
          <p:cNvPr id="11" name="body">
            <a:extLst xmlns:a="http://schemas.openxmlformats.org/drawingml/2006/main">
              <a:ext uri="{FF2B5EF4-FFF2-40B4-BE49-F238E27FC236}">
                <a16:creationId xmlns:a16="http://schemas.microsoft.com/office/drawing/2014/main" id="{38B56953-98F1-4C1C-9923-BDFCE5E4A885}"/>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X</a:t>
            </a:r>
          </a:p>
        </p:txBody>
      </p:sp>
      <p:sp>
        <p:nvSpPr>
          <p:cNvPr id="12" name="body">
            <a:extLst xmlns:a="http://schemas.openxmlformats.org/drawingml/2006/main">
              <a:ext uri="{FF2B5EF4-FFF2-40B4-BE49-F238E27FC236}">
                <a16:creationId xmlns:a16="http://schemas.microsoft.com/office/drawing/2014/main" id="{709C47C0-2127-4DAB-92B4-89AC5FA88A81}"/>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The vectors entering the first decoder block</a:t>
            </a:r>
          </a:p>
        </p:txBody>
      </p:sp>
      <p:sp>
        <p:nvSpPr>
          <p:cNvPr id="13" name="body">
            <a:extLst xmlns:a="http://schemas.openxmlformats.org/drawingml/2006/main">
              <a:ext uri="{FF2B5EF4-FFF2-40B4-BE49-F238E27FC236}">
                <a16:creationId xmlns:a16="http://schemas.microsoft.com/office/drawing/2014/main" id="{ADEB30C9-3BBC-49F6-A469-F10E806C27B7}"/>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Illustrative arithmetic: [0.2, −0.1] + [0.0, 0.3] = [0.2, 0.2]</a:t>
            </a:r>
          </a:p>
        </p:txBody>
      </p:sp>
    </p:spTree>
    <p:extLst>
      <p:ext uri="{BB962C8B-B14F-4D97-AF65-F5344CB8AC3E}">
        <p14:creationId xmlns:p14="http://schemas.microsoft.com/office/powerpoint/2010/main" val="781924740"/>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9" name="heading">
            <a:extLst xmlns:a="http://schemas.openxmlformats.org/drawingml/2006/main">
              <a:ext uri="{FF2B5EF4-FFF2-40B4-BE49-F238E27FC236}">
                <a16:creationId xmlns:a16="http://schemas.microsoft.com/office/drawing/2014/main" id="{936AB0C9-9987-40D8-8DBE-F723C7AFA014}"/>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 context test with the same output prefix</a:t>
            </a:r>
          </a:p>
        </p:txBody>
      </p:sp>
      <p:sp>
        <p:nvSpPr>
          <p:cNvPr id="2" name="subtitle">
            <a:extLst xmlns:a="http://schemas.openxmlformats.org/drawingml/2006/main">
              <a:ext uri="{FF2B5EF4-FFF2-40B4-BE49-F238E27FC236}">
                <a16:creationId xmlns:a16="http://schemas.microsoft.com/office/drawing/2014/main" id="{BBAA29C5-8BA2-4303-850E-F9BA3E631E06}"/>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Only one earlier source token changes</a:t>
            </a:r>
          </a:p>
        </p:txBody>
      </p:sp>
      <p:sp>
        <p:nvSpPr>
          <p:cNvPr id="3" name="page-number">
            <a:extLst xmlns:a="http://schemas.openxmlformats.org/drawingml/2006/main">
              <a:ext uri="{FF2B5EF4-FFF2-40B4-BE49-F238E27FC236}">
                <a16:creationId xmlns:a16="http://schemas.microsoft.com/office/drawing/2014/main" id="{675F2512-D15E-491E-B640-E8FA79F2ADE3}"/>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09</a:t>
            </a:r>
          </a:p>
        </p:txBody>
      </p:sp>
      <p:sp>
        <p:nvSpPr>
          <p:cNvPr id="4" name="body">
            <a:extLst xmlns:a="http://schemas.openxmlformats.org/drawingml/2006/main">
              <a:ext uri="{FF2B5EF4-FFF2-40B4-BE49-F238E27FC236}">
                <a16:creationId xmlns:a16="http://schemas.microsoft.com/office/drawing/2014/main" id="{62EF8228-84B3-4CB6-BDD0-2360AFF4BFE9}"/>
              </a:ext>
            </a:extLst>
          </p:cNvPr>
          <p:cNvSpPr>
            <a:spLocks xmlns:a="http://schemas.openxmlformats.org/drawingml/2006/main" noGrp="1"/>
          </p:cNvSpPr>
          <p:nvPr/>
        </p:nvSpPr>
        <p:spPr>
          <a:xfrm xmlns:a="http://schemas.openxmlformats.org/drawingml/2006/main">
            <a:off x="685800" y="20955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AF6527"/>
                </a:solidFill>
                <a:latin typeface="Calibri"/>
                <a:ea typeface="Calibri"/>
                <a:cs typeface="Calibri"/>
              </a:defRPr>
            </a:defPPr>
            <a:lvl1pPr>
              <a:defRPr sz="1500" b="1">
                <a:solidFill>
                  <a:srgbClr val="AF6527"/>
                </a:solidFill>
                <a:latin typeface="Calibri"/>
                <a:ea typeface="Calibri"/>
                <a:cs typeface="Calibri"/>
              </a:defRPr>
            </a:lvl1pPr>
            <a:lvl2pPr>
              <a:defRPr sz="1500" b="1">
                <a:solidFill>
                  <a:srgbClr val="AF6527"/>
                </a:solidFill>
                <a:latin typeface="Calibri"/>
                <a:ea typeface="Calibri"/>
                <a:cs typeface="Calibri"/>
              </a:defRPr>
            </a:lvl2pPr>
            <a:lvl3pPr>
              <a:defRPr sz="1500" b="1">
                <a:solidFill>
                  <a:srgbClr val="AF6527"/>
                </a:solidFill>
                <a:latin typeface="Calibri"/>
                <a:ea typeface="Calibri"/>
                <a:cs typeface="Calibri"/>
              </a:defRPr>
            </a:lvl3pPr>
            <a:lvl4pPr>
              <a:defRPr sz="1500" b="1">
                <a:solidFill>
                  <a:srgbClr val="AF6527"/>
                </a:solidFill>
                <a:latin typeface="Calibri"/>
                <a:ea typeface="Calibri"/>
                <a:cs typeface="Calibri"/>
              </a:defRPr>
            </a:lvl4pPr>
            <a:lvl5pPr>
              <a:defRPr sz="1500" b="1">
                <a:solidFill>
                  <a:srgbClr val="AF6527"/>
                </a:solidFill>
                <a:latin typeface="Calibri"/>
                <a:ea typeface="Calibri"/>
                <a:cs typeface="Calibri"/>
              </a:defRPr>
            </a:lvl5pPr>
            <a:lvl6pPr>
              <a:defRPr sz="1500" b="1">
                <a:solidFill>
                  <a:srgbClr val="AF6527"/>
                </a:solidFill>
                <a:latin typeface="Calibri"/>
                <a:ea typeface="Calibri"/>
                <a:cs typeface="Calibri"/>
              </a:defRPr>
            </a:lvl6pPr>
            <a:lvl7pPr>
              <a:defRPr sz="1500" b="1">
                <a:solidFill>
                  <a:srgbClr val="AF6527"/>
                </a:solidFill>
                <a:latin typeface="Calibri"/>
                <a:ea typeface="Calibri"/>
                <a:cs typeface="Calibri"/>
              </a:defRPr>
            </a:lvl7pPr>
            <a:lvl8pPr>
              <a:defRPr sz="1500" b="1">
                <a:solidFill>
                  <a:srgbClr val="AF6527"/>
                </a:solidFill>
                <a:latin typeface="Calibri"/>
                <a:ea typeface="Calibri"/>
                <a:cs typeface="Calibri"/>
              </a:defRPr>
            </a:lvl8pPr>
            <a:lvl9pPr>
              <a:defRPr sz="1500" b="1">
                <a:solidFill>
                  <a:srgbClr val="AF6527"/>
                </a:solidFill>
                <a:latin typeface="Calibri"/>
                <a:ea typeface="Calibri"/>
                <a:cs typeface="Calibri"/>
              </a:defRPr>
            </a:lvl9pPr>
          </a:lstStyle>
          <a:p xmlns:a="http://schemas.openxmlformats.org/drawingml/2006/main">
            <a:pPr>
              <a:defRPr sz="1500" b="1">
                <a:solidFill>
                  <a:srgbClr val="AF6527"/>
                </a:solidFill>
                <a:latin typeface="Calibri"/>
                <a:ea typeface="Calibri"/>
                <a:cs typeface="Calibri"/>
              </a:defRPr>
            </a:pPr>
            <a:r>
              <a:rPr sz="1500" b="1">
                <a:solidFill>
                  <a:srgbClr val="AF6527"/>
                </a:solidFill>
                <a:latin typeface="Calibri"/>
                <a:ea typeface="Calibri"/>
                <a:cs typeface="Calibri"/>
              </a:rPr>
              <a:t>PAIRED SOURCES</a:t>
            </a:r>
          </a:p>
        </p:txBody>
      </p:sp>
      <p:sp>
        <p:nvSpPr>
          <p:cNvPr id="5" name="body">
            <a:extLst xmlns:a="http://schemas.openxmlformats.org/drawingml/2006/main">
              <a:ext uri="{FF2B5EF4-FFF2-40B4-BE49-F238E27FC236}">
                <a16:creationId xmlns:a16="http://schemas.microsoft.com/office/drawing/2014/main" id="{ACAFC3EE-41AF-459D-A696-714AD53AF60D}"/>
              </a:ext>
            </a:extLst>
          </p:cNvPr>
          <p:cNvSpPr>
            <a:spLocks xmlns:a="http://schemas.openxmlformats.org/drawingml/2006/main" noGrp="1"/>
          </p:cNvSpPr>
          <p:nvPr/>
        </p:nvSpPr>
        <p:spPr>
          <a:xfrm xmlns:a="http://schemas.openxmlformats.org/drawingml/2006/main">
            <a:off x="685800" y="254317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42D3C"/>
                </a:solidFill>
                <a:latin typeface="Calibri"/>
                <a:ea typeface="Calibri"/>
                <a:cs typeface="Calibri"/>
              </a:defRPr>
            </a:defPPr>
            <a:lvl1pPr>
              <a:defRPr sz="2325" b="0">
                <a:solidFill>
                  <a:srgbClr val="142D3C"/>
                </a:solidFill>
                <a:latin typeface="Calibri"/>
                <a:ea typeface="Calibri"/>
                <a:cs typeface="Calibri"/>
              </a:defRPr>
            </a:lvl1pPr>
            <a:lvl2pPr>
              <a:defRPr sz="2325" b="0">
                <a:solidFill>
                  <a:srgbClr val="142D3C"/>
                </a:solidFill>
                <a:latin typeface="Calibri"/>
                <a:ea typeface="Calibri"/>
                <a:cs typeface="Calibri"/>
              </a:defRPr>
            </a:lvl2pPr>
            <a:lvl3pPr>
              <a:defRPr sz="2325" b="0">
                <a:solidFill>
                  <a:srgbClr val="142D3C"/>
                </a:solidFill>
                <a:latin typeface="Calibri"/>
                <a:ea typeface="Calibri"/>
                <a:cs typeface="Calibri"/>
              </a:defRPr>
            </a:lvl3pPr>
            <a:lvl4pPr>
              <a:defRPr sz="2325" b="0">
                <a:solidFill>
                  <a:srgbClr val="142D3C"/>
                </a:solidFill>
                <a:latin typeface="Calibri"/>
                <a:ea typeface="Calibri"/>
                <a:cs typeface="Calibri"/>
              </a:defRPr>
            </a:lvl4pPr>
            <a:lvl5pPr>
              <a:defRPr sz="2325" b="0">
                <a:solidFill>
                  <a:srgbClr val="142D3C"/>
                </a:solidFill>
                <a:latin typeface="Calibri"/>
                <a:ea typeface="Calibri"/>
                <a:cs typeface="Calibri"/>
              </a:defRPr>
            </a:lvl5pPr>
            <a:lvl6pPr>
              <a:defRPr sz="2325" b="0">
                <a:solidFill>
                  <a:srgbClr val="142D3C"/>
                </a:solidFill>
                <a:latin typeface="Calibri"/>
                <a:ea typeface="Calibri"/>
                <a:cs typeface="Calibri"/>
              </a:defRPr>
            </a:lvl6pPr>
            <a:lvl7pPr>
              <a:defRPr sz="2325" b="0">
                <a:solidFill>
                  <a:srgbClr val="142D3C"/>
                </a:solidFill>
                <a:latin typeface="Calibri"/>
                <a:ea typeface="Calibri"/>
                <a:cs typeface="Calibri"/>
              </a:defRPr>
            </a:lvl7pPr>
            <a:lvl8pPr>
              <a:defRPr sz="2325" b="0">
                <a:solidFill>
                  <a:srgbClr val="142D3C"/>
                </a:solidFill>
                <a:latin typeface="Calibri"/>
                <a:ea typeface="Calibri"/>
                <a:cs typeface="Calibri"/>
              </a:defRPr>
            </a:lvl8pPr>
            <a:lvl9pPr>
              <a:defRPr sz="2325" b="0">
                <a:solidFill>
                  <a:srgbClr val="142D3C"/>
                </a:solidFill>
                <a:latin typeface="Calibri"/>
                <a:ea typeface="Calibri"/>
                <a:cs typeface="Calibri"/>
              </a:defRPr>
            </a:lvl9pPr>
          </a:lstStyle>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Source A: PATIENT John DIAGNOSIS NSCLC</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Source B: PATIENT John DIAGNOSIS ASTHMA</a:t>
            </a:r>
          </a:p>
        </p:txBody>
      </p:sp>
      <p:sp>
        <p:nvSpPr>
          <p:cNvPr id="6" name="body">
            <a:extLst xmlns:a="http://schemas.openxmlformats.org/drawingml/2006/main">
              <a:ext uri="{FF2B5EF4-FFF2-40B4-BE49-F238E27FC236}">
                <a16:creationId xmlns:a16="http://schemas.microsoft.com/office/drawing/2014/main" id="{F344BDB2-9ECD-4FFA-BFBB-09C71FA62445}"/>
              </a:ext>
            </a:extLst>
          </p:cNvPr>
          <p:cNvSpPr>
            <a:spLocks xmlns:a="http://schemas.openxmlformats.org/drawingml/2006/main" noGrp="1"/>
          </p:cNvSpPr>
          <p:nvPr/>
        </p:nvSpPr>
        <p:spPr>
          <a:xfrm xmlns:a="http://schemas.openxmlformats.org/drawingml/2006/main">
            <a:off x="685800" y="39719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AF6527"/>
                </a:solidFill>
                <a:latin typeface="Calibri"/>
                <a:ea typeface="Calibri"/>
                <a:cs typeface="Calibri"/>
              </a:defRPr>
            </a:defPPr>
            <a:lvl1pPr>
              <a:defRPr sz="1500" b="1">
                <a:solidFill>
                  <a:srgbClr val="AF6527"/>
                </a:solidFill>
                <a:latin typeface="Calibri"/>
                <a:ea typeface="Calibri"/>
                <a:cs typeface="Calibri"/>
              </a:defRPr>
            </a:lvl1pPr>
            <a:lvl2pPr>
              <a:defRPr sz="1500" b="1">
                <a:solidFill>
                  <a:srgbClr val="AF6527"/>
                </a:solidFill>
                <a:latin typeface="Calibri"/>
                <a:ea typeface="Calibri"/>
                <a:cs typeface="Calibri"/>
              </a:defRPr>
            </a:lvl2pPr>
            <a:lvl3pPr>
              <a:defRPr sz="1500" b="1">
                <a:solidFill>
                  <a:srgbClr val="AF6527"/>
                </a:solidFill>
                <a:latin typeface="Calibri"/>
                <a:ea typeface="Calibri"/>
                <a:cs typeface="Calibri"/>
              </a:defRPr>
            </a:lvl3pPr>
            <a:lvl4pPr>
              <a:defRPr sz="1500" b="1">
                <a:solidFill>
                  <a:srgbClr val="AF6527"/>
                </a:solidFill>
                <a:latin typeface="Calibri"/>
                <a:ea typeface="Calibri"/>
                <a:cs typeface="Calibri"/>
              </a:defRPr>
            </a:lvl4pPr>
            <a:lvl5pPr>
              <a:defRPr sz="1500" b="1">
                <a:solidFill>
                  <a:srgbClr val="AF6527"/>
                </a:solidFill>
                <a:latin typeface="Calibri"/>
                <a:ea typeface="Calibri"/>
                <a:cs typeface="Calibri"/>
              </a:defRPr>
            </a:lvl5pPr>
            <a:lvl6pPr>
              <a:defRPr sz="1500" b="1">
                <a:solidFill>
                  <a:srgbClr val="AF6527"/>
                </a:solidFill>
                <a:latin typeface="Calibri"/>
                <a:ea typeface="Calibri"/>
                <a:cs typeface="Calibri"/>
              </a:defRPr>
            </a:lvl6pPr>
            <a:lvl7pPr>
              <a:defRPr sz="1500" b="1">
                <a:solidFill>
                  <a:srgbClr val="AF6527"/>
                </a:solidFill>
                <a:latin typeface="Calibri"/>
                <a:ea typeface="Calibri"/>
                <a:cs typeface="Calibri"/>
              </a:defRPr>
            </a:lvl7pPr>
            <a:lvl8pPr>
              <a:defRPr sz="1500" b="1">
                <a:solidFill>
                  <a:srgbClr val="AF6527"/>
                </a:solidFill>
                <a:latin typeface="Calibri"/>
                <a:ea typeface="Calibri"/>
                <a:cs typeface="Calibri"/>
              </a:defRPr>
            </a:lvl8pPr>
            <a:lvl9pPr>
              <a:defRPr sz="1500" b="1">
                <a:solidFill>
                  <a:srgbClr val="AF6527"/>
                </a:solidFill>
                <a:latin typeface="Calibri"/>
                <a:ea typeface="Calibri"/>
                <a:cs typeface="Calibri"/>
              </a:defRPr>
            </a:lvl9pPr>
          </a:lstStyle>
          <a:p xmlns:a="http://schemas.openxmlformats.org/drawingml/2006/main">
            <a:pPr>
              <a:defRPr sz="1500" b="1">
                <a:solidFill>
                  <a:srgbClr val="AF6527"/>
                </a:solidFill>
                <a:latin typeface="Calibri"/>
                <a:ea typeface="Calibri"/>
                <a:cs typeface="Calibri"/>
              </a:defRPr>
            </a:pPr>
            <a:r>
              <a:rPr sz="1500" b="1">
                <a:solidFill>
                  <a:srgbClr val="AF6527"/>
                </a:solidFill>
                <a:latin typeface="Calibri"/>
                <a:ea typeface="Calibri"/>
                <a:cs typeface="Calibri"/>
              </a:rPr>
              <a:t>MATCHED OUTPUT DECISION</a:t>
            </a:r>
          </a:p>
        </p:txBody>
      </p:sp>
      <p:sp>
        <p:nvSpPr>
          <p:cNvPr id="7" name="body">
            <a:extLst xmlns:a="http://schemas.openxmlformats.org/drawingml/2006/main">
              <a:ext uri="{FF2B5EF4-FFF2-40B4-BE49-F238E27FC236}">
                <a16:creationId xmlns:a16="http://schemas.microsoft.com/office/drawing/2014/main" id="{33DC4799-FC4B-4EF8-BD62-2E5320551868}"/>
              </a:ext>
            </a:extLst>
          </p:cNvPr>
          <p:cNvSpPr>
            <a:spLocks xmlns:a="http://schemas.openxmlformats.org/drawingml/2006/main" noGrp="1"/>
          </p:cNvSpPr>
          <p:nvPr/>
        </p:nvSpPr>
        <p:spPr>
          <a:xfrm xmlns:a="http://schemas.openxmlformats.org/drawingml/2006/main">
            <a:off x="685800" y="440055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42D3C"/>
                </a:solidFill>
                <a:latin typeface="Calibri"/>
                <a:ea typeface="Calibri"/>
                <a:cs typeface="Calibri"/>
              </a:defRPr>
            </a:defPPr>
            <a:lvl1pPr>
              <a:defRPr sz="2175" b="0">
                <a:solidFill>
                  <a:srgbClr val="142D3C"/>
                </a:solidFill>
                <a:latin typeface="Calibri"/>
                <a:ea typeface="Calibri"/>
                <a:cs typeface="Calibri"/>
              </a:defRPr>
            </a:lvl1pPr>
            <a:lvl2pPr>
              <a:defRPr sz="2175" b="0">
                <a:solidFill>
                  <a:srgbClr val="142D3C"/>
                </a:solidFill>
                <a:latin typeface="Calibri"/>
                <a:ea typeface="Calibri"/>
                <a:cs typeface="Calibri"/>
              </a:defRPr>
            </a:lvl2pPr>
            <a:lvl3pPr>
              <a:defRPr sz="2175" b="0">
                <a:solidFill>
                  <a:srgbClr val="142D3C"/>
                </a:solidFill>
                <a:latin typeface="Calibri"/>
                <a:ea typeface="Calibri"/>
                <a:cs typeface="Calibri"/>
              </a:defRPr>
            </a:lvl3pPr>
            <a:lvl4pPr>
              <a:defRPr sz="2175" b="0">
                <a:solidFill>
                  <a:srgbClr val="142D3C"/>
                </a:solidFill>
                <a:latin typeface="Calibri"/>
                <a:ea typeface="Calibri"/>
                <a:cs typeface="Calibri"/>
              </a:defRPr>
            </a:lvl4pPr>
            <a:lvl5pPr>
              <a:defRPr sz="2175" b="0">
                <a:solidFill>
                  <a:srgbClr val="142D3C"/>
                </a:solidFill>
                <a:latin typeface="Calibri"/>
                <a:ea typeface="Calibri"/>
                <a:cs typeface="Calibri"/>
              </a:defRPr>
            </a:lvl5pPr>
            <a:lvl6pPr>
              <a:defRPr sz="2175" b="0">
                <a:solidFill>
                  <a:srgbClr val="142D3C"/>
                </a:solidFill>
                <a:latin typeface="Calibri"/>
                <a:ea typeface="Calibri"/>
                <a:cs typeface="Calibri"/>
              </a:defRPr>
            </a:lvl6pPr>
            <a:lvl7pPr>
              <a:defRPr sz="2175" b="0">
                <a:solidFill>
                  <a:srgbClr val="142D3C"/>
                </a:solidFill>
                <a:latin typeface="Calibri"/>
                <a:ea typeface="Calibri"/>
                <a:cs typeface="Calibri"/>
              </a:defRPr>
            </a:lvl7pPr>
            <a:lvl8pPr>
              <a:defRPr sz="2175" b="0">
                <a:solidFill>
                  <a:srgbClr val="142D3C"/>
                </a:solidFill>
                <a:latin typeface="Calibri"/>
                <a:ea typeface="Calibri"/>
                <a:cs typeface="Calibri"/>
              </a:defRPr>
            </a:lvl8pPr>
            <a:lvl9pPr>
              <a:defRPr sz="2175" b="0">
                <a:solidFill>
                  <a:srgbClr val="142D3C"/>
                </a:solidFill>
                <a:latin typeface="Calibri"/>
                <a:ea typeface="Calibri"/>
                <a:cs typeface="Calibri"/>
              </a:defRPr>
            </a:lvl9pPr>
          </a:lstStyle>
          <a:p xmlns:a="http://schemas.openxmlformats.org/drawingml/2006/main">
            <a:pPr>
              <a:defRPr sz="2175" b="0">
                <a:solidFill>
                  <a:srgbClr val="142D3C"/>
                </a:solidFill>
                <a:latin typeface="Calibri"/>
                <a:ea typeface="Calibri"/>
                <a:cs typeface="Calibri"/>
              </a:defRPr>
            </a:pPr>
            <a:r>
              <a:rPr sz="2175" b="0">
                <a:solidFill>
                  <a:srgbClr val="142D3C"/>
                </a:solidFill>
                <a:latin typeface="Calibri"/>
                <a:ea typeface="Calibri"/>
                <a:cs typeface="Calibri"/>
              </a:rPr>
              <a:t>Shared generated prefix: PATIENT [NAME] DIAGNOSIS</a:t>
            </a:r>
          </a:p>
          <a:p xmlns:a="http://schemas.openxmlformats.org/drawingml/2006/main">
            <a:pPr>
              <a:defRPr sz="2175" b="0">
                <a:solidFill>
                  <a:srgbClr val="142D3C"/>
                </a:solidFill>
                <a:latin typeface="Calibri"/>
                <a:ea typeface="Calibri"/>
                <a:cs typeface="Calibri"/>
              </a:defRPr>
            </a:pPr>
            <a:r>
              <a:rPr sz="2175" b="0">
                <a:solidFill>
                  <a:srgbClr val="142D3C"/>
                </a:solidFill>
                <a:latin typeface="Calibri"/>
                <a:ea typeface="Calibri"/>
                <a:cs typeface="Calibri"/>
              </a:rPr>
              <a:t>Expected next token: NSCLC for A, ASTHMA for B</a:t>
            </a:r>
          </a:p>
        </p:txBody>
      </p:sp>
      <p:sp>
        <p:nvSpPr>
          <p:cNvPr id="8" name="body">
            <a:extLst xmlns:a="http://schemas.openxmlformats.org/drawingml/2006/main">
              <a:ext uri="{FF2B5EF4-FFF2-40B4-BE49-F238E27FC236}">
                <a16:creationId xmlns:a16="http://schemas.microsoft.com/office/drawing/2014/main" id="{416CF22F-1F5E-4FFF-AA4F-6AC130C43682}"/>
              </a:ext>
            </a:extLst>
          </p:cNvPr>
          <p:cNvSpPr>
            <a:spLocks xmlns:a="http://schemas.openxmlformats.org/drawingml/2006/main" noGrp="1"/>
          </p:cNvSpPr>
          <p:nvPr/>
        </p:nvSpPr>
        <p:spPr>
          <a:xfrm xmlns:a="http://schemas.openxmlformats.org/drawingml/2006/main">
            <a:off x="685800" y="598170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A successful pair tests use of source context at the same output position</a:t>
            </a:r>
          </a:p>
        </p:txBody>
      </p:sp>
    </p:spTree>
    <p:extLst>
      <p:ext uri="{BB962C8B-B14F-4D97-AF65-F5344CB8AC3E}">
        <p14:creationId xmlns:p14="http://schemas.microsoft.com/office/powerpoint/2010/main" val="464773338"/>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13238630-B0A4-4682-AFD1-0F2D5DC0FD9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Attention retrieves a weighted mixture</a:t>
            </a:r>
          </a:p>
        </p:txBody>
      </p:sp>
      <p:sp>
        <p:nvSpPr>
          <p:cNvPr id="2" name="subtitle">
            <a:extLst xmlns:a="http://schemas.openxmlformats.org/drawingml/2006/main">
              <a:ext uri="{FF2B5EF4-FFF2-40B4-BE49-F238E27FC236}">
                <a16:creationId xmlns:a16="http://schemas.microsoft.com/office/drawing/2014/main" id="{1B8ED235-F970-46D0-967A-CF8DD25804D7}"/>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Learned compatibility determines how much each earlier value contributes</a:t>
            </a:r>
          </a:p>
        </p:txBody>
      </p:sp>
      <p:sp>
        <p:nvSpPr>
          <p:cNvPr id="3" name="page-number">
            <a:extLst xmlns:a="http://schemas.openxmlformats.org/drawingml/2006/main">
              <a:ext uri="{FF2B5EF4-FFF2-40B4-BE49-F238E27FC236}">
                <a16:creationId xmlns:a16="http://schemas.microsoft.com/office/drawing/2014/main" id="{6D79FFCA-1FF1-4148-9F04-26218BCE7E4F}"/>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10</a:t>
            </a:r>
          </a:p>
        </p:txBody>
      </p:sp>
      <p:sp>
        <p:nvSpPr>
          <p:cNvPr id="4" name="body">
            <a:extLst xmlns:a="http://schemas.openxmlformats.org/drawingml/2006/main">
              <a:ext uri="{FF2B5EF4-FFF2-40B4-BE49-F238E27FC236}">
                <a16:creationId xmlns:a16="http://schemas.microsoft.com/office/drawing/2014/main" id="{B7E3A234-3FA5-429C-947D-5AA8BF9E0CB4}"/>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A = softmax((QKᵀ / √dₕ) + M)     H = AV</a:t>
            </a:r>
          </a:p>
        </p:txBody>
      </p:sp>
      <p:sp>
        <p:nvSpPr>
          <p:cNvPr id="5" name="body">
            <a:extLst xmlns:a="http://schemas.openxmlformats.org/drawingml/2006/main">
              <a:ext uri="{FF2B5EF4-FFF2-40B4-BE49-F238E27FC236}">
                <a16:creationId xmlns:a16="http://schemas.microsoft.com/office/drawing/2014/main" id="{2F715607-DE01-44F4-9694-9B20366190F2}"/>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Q, K</a:t>
            </a:r>
          </a:p>
        </p:txBody>
      </p:sp>
      <p:sp>
        <p:nvSpPr>
          <p:cNvPr id="6" name="body">
            <a:extLst xmlns:a="http://schemas.openxmlformats.org/drawingml/2006/main">
              <a:ext uri="{FF2B5EF4-FFF2-40B4-BE49-F238E27FC236}">
                <a16:creationId xmlns:a16="http://schemas.microsoft.com/office/drawing/2014/main" id="{055E6738-20FC-46B9-9DB8-B6EAFB62533D}"/>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query and key projections used for compatibility</a:t>
            </a:r>
          </a:p>
        </p:txBody>
      </p:sp>
      <p:sp>
        <p:nvSpPr>
          <p:cNvPr id="7" name="body">
            <a:extLst xmlns:a="http://schemas.openxmlformats.org/drawingml/2006/main">
              <a:ext uri="{FF2B5EF4-FFF2-40B4-BE49-F238E27FC236}">
                <a16:creationId xmlns:a16="http://schemas.microsoft.com/office/drawing/2014/main" id="{33BE9E0F-EF11-4026-9C08-7B6F1D56DAEE}"/>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V</a:t>
            </a:r>
          </a:p>
        </p:txBody>
      </p:sp>
      <p:sp>
        <p:nvSpPr>
          <p:cNvPr id="8" name="body">
            <a:extLst xmlns:a="http://schemas.openxmlformats.org/drawingml/2006/main">
              <a:ext uri="{FF2B5EF4-FFF2-40B4-BE49-F238E27FC236}">
                <a16:creationId xmlns:a16="http://schemas.microsoft.com/office/drawing/2014/main" id="{647227AC-F19C-4821-A2EC-30639842A72D}"/>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value vectors that carry the retrieved information</a:t>
            </a:r>
          </a:p>
        </p:txBody>
      </p:sp>
      <p:sp>
        <p:nvSpPr>
          <p:cNvPr id="9" name="body">
            <a:extLst xmlns:a="http://schemas.openxmlformats.org/drawingml/2006/main">
              <a:ext uri="{FF2B5EF4-FFF2-40B4-BE49-F238E27FC236}">
                <a16:creationId xmlns:a16="http://schemas.microsoft.com/office/drawing/2014/main" id="{479B950E-4BD2-4AE8-8E06-A874ECC05104}"/>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dₕ</a:t>
            </a:r>
          </a:p>
        </p:txBody>
      </p:sp>
      <p:sp>
        <p:nvSpPr>
          <p:cNvPr id="10" name="body">
            <a:extLst xmlns:a="http://schemas.openxmlformats.org/drawingml/2006/main">
              <a:ext uri="{FF2B5EF4-FFF2-40B4-BE49-F238E27FC236}">
                <a16:creationId xmlns:a16="http://schemas.microsoft.com/office/drawing/2014/main" id="{94CA7ACC-ED95-443C-8D02-E8B750DED8E6}"/>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Feature width within one head</a:t>
            </a:r>
          </a:p>
        </p:txBody>
      </p:sp>
      <p:sp>
        <p:nvSpPr>
          <p:cNvPr id="11" name="body">
            <a:extLst xmlns:a="http://schemas.openxmlformats.org/drawingml/2006/main">
              <a:ext uri="{FF2B5EF4-FFF2-40B4-BE49-F238E27FC236}">
                <a16:creationId xmlns:a16="http://schemas.microsoft.com/office/drawing/2014/main" id="{63D953B5-1743-432E-BF71-A63B39BE0F26}"/>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M, A</a:t>
            </a:r>
          </a:p>
        </p:txBody>
      </p:sp>
      <p:sp>
        <p:nvSpPr>
          <p:cNvPr id="12" name="body">
            <a:extLst xmlns:a="http://schemas.openxmlformats.org/drawingml/2006/main">
              <a:ext uri="{FF2B5EF4-FFF2-40B4-BE49-F238E27FC236}">
                <a16:creationId xmlns:a16="http://schemas.microsoft.com/office/drawing/2014/main" id="{4B69A7F6-312B-4468-BFB9-636D4A1CAFEC}"/>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Mask added before softmax, then normalized attention weights</a:t>
            </a:r>
          </a:p>
        </p:txBody>
      </p:sp>
      <p:sp>
        <p:nvSpPr>
          <p:cNvPr id="13" name="body">
            <a:extLst xmlns:a="http://schemas.openxmlformats.org/drawingml/2006/main">
              <a:ext uri="{FF2B5EF4-FFF2-40B4-BE49-F238E27FC236}">
                <a16:creationId xmlns:a16="http://schemas.microsoft.com/office/drawing/2014/main" id="{C1B8C2C5-74A7-414F-9601-667BD367C9D6}"/>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The weights describe internal routing. A role or explanation needs supporting tests</a:t>
            </a:r>
          </a:p>
        </p:txBody>
      </p:sp>
    </p:spTree>
    <p:extLst>
      <p:ext uri="{BB962C8B-B14F-4D97-AF65-F5344CB8AC3E}">
        <p14:creationId xmlns:p14="http://schemas.microsoft.com/office/powerpoint/2010/main" val="922822403"/>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2C320A19-1B9B-42ED-9B2C-4589E73B1DE9}"/>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Three masks, three jobs</a:t>
            </a:r>
          </a:p>
        </p:txBody>
      </p:sp>
      <p:sp>
        <p:nvSpPr>
          <p:cNvPr id="2" name="subtitle">
            <a:extLst xmlns:a="http://schemas.openxmlformats.org/drawingml/2006/main">
              <a:ext uri="{FF2B5EF4-FFF2-40B4-BE49-F238E27FC236}">
                <a16:creationId xmlns:a16="http://schemas.microsoft.com/office/drawing/2014/main" id="{562B62CD-B67C-47E4-9550-DD57E48E2EDC}"/>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Causal attention prevents future targets from becoming visible</a:t>
            </a:r>
          </a:p>
        </p:txBody>
      </p:sp>
      <p:sp>
        <p:nvSpPr>
          <p:cNvPr id="3" name="page-number">
            <a:extLst xmlns:a="http://schemas.openxmlformats.org/drawingml/2006/main">
              <a:ext uri="{FF2B5EF4-FFF2-40B4-BE49-F238E27FC236}">
                <a16:creationId xmlns:a16="http://schemas.microsoft.com/office/drawing/2014/main" id="{B48DC92D-4C2A-404B-B1BE-33C01F7FC82B}"/>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11</a:t>
            </a:r>
          </a:p>
        </p:txBody>
      </p:sp>
      <p:graphicFrame>
        <p:nvGraphicFramePr>
          <p:cNvPr id="4" name="">
            <a:extLst xmlns:a="http://schemas.openxmlformats.org/drawingml/2006/main">
              <a:ext uri="{FF2B5EF4-FFF2-40B4-BE49-F238E27FC236}">
                <a16:creationId xmlns:a16="http://schemas.microsoft.com/office/drawing/2014/main" id="{03824CB0-E181-4A21-8D2B-05D3A311D86C}"/>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286000"/>
                <a:gridCol w="2133600"/>
                <a:gridCol w="2133600"/>
                <a:gridCol w="2133600"/>
                <a:gridCol w="2133600"/>
              </a:tblGrid>
              <a:tr h="742950">
                <a:tc>
                  <a:txBody>
                    <a:bodyPr/>
                    <a:lstStyle/>
                    <a:p>
                      <a:r>
                        <a:rPr sz="1650" b="1">
                          <a:solidFill>
                            <a:srgbClr val="F9F7F1"/>
                          </a:solidFill>
                          <a:latin typeface="Calibri"/>
                          <a:ea typeface="Calibri"/>
                          <a:cs typeface="Calibri"/>
                        </a:rPr>
                        <a:t>Query / key</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&lt;OUTPUT&gt;</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PATIENT</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[NAME]</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DIAGNOSIS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&lt;OUTPUT&gt;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95250" marB="952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block</a:t>
                      </a:r>
                    </a:p>
                  </a:txBody>
                  <a:tcPr marL="142875" marR="142875" marT="95250" marB="95250" anchor="ctr">
                    <a:lnR w="6668">
                      <a:solidFill>
                        <a:srgbClr val="D2D5D1"/>
                      </a:solidFill>
                      <a:prstDash val="solid"/>
                    </a:lnR>
                    <a:lnB w="6668">
                      <a:solidFill>
                        <a:srgbClr val="D2D5D1"/>
                      </a:solidFill>
                      <a:prstDash val="solid"/>
                    </a:lnB>
                    <a:solidFill>
                      <a:srgbClr val="ECECE4"/>
                    </a:solidFill>
                  </a:tcPr>
                </a:tc>
                <a:tc>
                  <a:txBody>
                    <a:bodyPr/>
                    <a:lstStyle/>
                    <a:p>
                      <a:r>
                        <a:rPr sz="1725">
                          <a:solidFill>
                            <a:srgbClr val="142D3C"/>
                          </a:solidFill>
                          <a:latin typeface="Calibri"/>
                          <a:ea typeface="Calibri"/>
                          <a:cs typeface="Calibri"/>
                        </a:rPr>
                        <a:t>block</a:t>
                      </a:r>
                    </a:p>
                  </a:txBody>
                  <a:tcPr marL="142875" marR="142875" marT="95250" marB="95250" anchor="ctr">
                    <a:lnR w="6668">
                      <a:solidFill>
                        <a:srgbClr val="D2D5D1"/>
                      </a:solidFill>
                      <a:prstDash val="solid"/>
                    </a:lnR>
                    <a:lnB w="6668">
                      <a:solidFill>
                        <a:srgbClr val="D2D5D1"/>
                      </a:solidFill>
                      <a:prstDash val="solid"/>
                    </a:lnB>
                    <a:solidFill>
                      <a:srgbClr val="ECECE4"/>
                    </a:solidFill>
                  </a:tcPr>
                </a:tc>
                <a:tc>
                  <a:txBody>
                    <a:bodyPr/>
                    <a:lstStyle/>
                    <a:p>
                      <a:r>
                        <a:rPr sz="1725">
                          <a:solidFill>
                            <a:srgbClr val="142D3C"/>
                          </a:solidFill>
                          <a:latin typeface="Calibri"/>
                          <a:ea typeface="Calibri"/>
                          <a:cs typeface="Calibri"/>
                        </a:rPr>
                        <a:t>block</a:t>
                      </a:r>
                    </a:p>
                  </a:txBody>
                  <a:tcPr marL="142875" marR="142875" marT="95250" marB="95250" anchor="ctr">
                    <a:lnR w="6668">
                      <a:solidFill>
                        <a:srgbClr val="D2D5D1"/>
                      </a:solidFill>
                      <a:prstDash val="solid"/>
                    </a:lnR>
                    <a:lnB w="6668">
                      <a:solidFill>
                        <a:srgbClr val="D2D5D1"/>
                      </a:solidFill>
                      <a:prstDash val="solid"/>
                    </a:lnB>
                    <a:solidFill>
                      <a:srgbClr val="ECECE4"/>
                    </a:solidFill>
                  </a:tcPr>
                </a:tc>
              </a:tr>
              <a:tr h="742950">
                <a:tc>
                  <a:txBody>
                    <a:bodyPr/>
                    <a:lstStyle/>
                    <a:p>
                      <a:r>
                        <a:rPr sz="1725">
                          <a:solidFill>
                            <a:srgbClr val="142D3C"/>
                          </a:solidFill>
                          <a:latin typeface="Calibri"/>
                          <a:ea typeface="Calibri"/>
                          <a:cs typeface="Calibri"/>
                        </a:rPr>
                        <a:t>PATIENT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95250" marB="952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95250" marB="952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block</a:t>
                      </a:r>
                    </a:p>
                  </a:txBody>
                  <a:tcPr marL="142875" marR="142875" marT="95250" marB="95250" anchor="ctr">
                    <a:lnR w="6668">
                      <a:solidFill>
                        <a:srgbClr val="D2D5D1"/>
                      </a:solidFill>
                      <a:prstDash val="solid"/>
                    </a:lnR>
                    <a:lnB w="6668">
                      <a:solidFill>
                        <a:srgbClr val="D2D5D1"/>
                      </a:solidFill>
                      <a:prstDash val="solid"/>
                    </a:lnB>
                    <a:solidFill>
                      <a:srgbClr val="ECECE4"/>
                    </a:solidFill>
                  </a:tcPr>
                </a:tc>
                <a:tc>
                  <a:txBody>
                    <a:bodyPr/>
                    <a:lstStyle/>
                    <a:p>
                      <a:r>
                        <a:rPr sz="1725">
                          <a:solidFill>
                            <a:srgbClr val="142D3C"/>
                          </a:solidFill>
                          <a:latin typeface="Calibri"/>
                          <a:ea typeface="Calibri"/>
                          <a:cs typeface="Calibri"/>
                        </a:rPr>
                        <a:t>block</a:t>
                      </a:r>
                    </a:p>
                  </a:txBody>
                  <a:tcPr marL="142875" marR="142875" marT="95250" marB="95250" anchor="ctr">
                    <a:lnR w="6668">
                      <a:solidFill>
                        <a:srgbClr val="D2D5D1"/>
                      </a:solidFill>
                      <a:prstDash val="solid"/>
                    </a:lnR>
                    <a:lnB w="6668">
                      <a:solidFill>
                        <a:srgbClr val="D2D5D1"/>
                      </a:solidFill>
                      <a:prstDash val="solid"/>
                    </a:lnB>
                    <a:solidFill>
                      <a:srgbClr val="ECECE4"/>
                    </a:solidFill>
                  </a:tcPr>
                </a:tc>
              </a:tr>
              <a:tr h="742950">
                <a:tc>
                  <a:txBody>
                    <a:bodyPr/>
                    <a:lstStyle/>
                    <a:p>
                      <a:r>
                        <a:rPr sz="1725">
                          <a:solidFill>
                            <a:srgbClr val="142D3C"/>
                          </a:solidFill>
                          <a:latin typeface="Calibri"/>
                          <a:ea typeface="Calibri"/>
                          <a:cs typeface="Calibri"/>
                        </a:rPr>
                        <a:t>[NAME]</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95250" marB="952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95250" marB="952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95250" marB="952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block</a:t>
                      </a:r>
                    </a:p>
                  </a:txBody>
                  <a:tcPr marL="142875" marR="142875" marT="95250" marB="95250" anchor="ctr">
                    <a:lnR w="6668">
                      <a:solidFill>
                        <a:srgbClr val="D2D5D1"/>
                      </a:solidFill>
                      <a:prstDash val="solid"/>
                    </a:lnR>
                    <a:lnB w="6668">
                      <a:solidFill>
                        <a:srgbClr val="D2D5D1"/>
                      </a:solidFill>
                      <a:prstDash val="solid"/>
                    </a:lnB>
                    <a:solidFill>
                      <a:srgbClr val="ECECE4"/>
                    </a:solidFill>
                  </a:tcPr>
                </a:tc>
              </a:tr>
              <a:tr h="742950">
                <a:tc>
                  <a:txBody>
                    <a:bodyPr/>
                    <a:lstStyle/>
                    <a:p>
                      <a:r>
                        <a:rPr sz="1725">
                          <a:solidFill>
                            <a:srgbClr val="142D3C"/>
                          </a:solidFill>
                          <a:latin typeface="Calibri"/>
                          <a:ea typeface="Calibri"/>
                          <a:cs typeface="Calibri"/>
                        </a:rPr>
                        <a:t>DIAGNOSIS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95250" marB="952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95250" marB="952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95250" marB="952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95250" marB="95250" anchor="ctr">
                    <a:lnR w="6668">
                      <a:solidFill>
                        <a:srgbClr val="D2D5D1"/>
                      </a:solidFill>
                      <a:prstDash val="solid"/>
                    </a:lnR>
                    <a:lnB w="6668">
                      <a:solidFill>
                        <a:srgbClr val="D2D5D1"/>
                      </a:solidFill>
                      <a:prstDash val="solid"/>
                    </a:lnB>
                    <a:solidFill>
                      <a:srgbClr val="DDE9DF"/>
                    </a:solidFill>
                  </a:tcPr>
                </a:tc>
              </a:tr>
            </a:tbl>
          </a:graphicData>
        </a:graphic>
      </p:graphicFrame>
      <p:sp>
        <p:nvSpPr>
          <p:cNvPr id="5" name="body">
            <a:extLst xmlns:a="http://schemas.openxmlformats.org/drawingml/2006/main">
              <a:ext uri="{FF2B5EF4-FFF2-40B4-BE49-F238E27FC236}">
                <a16:creationId xmlns:a16="http://schemas.microsoft.com/office/drawing/2014/main" id="{E5F76AB3-5616-43DC-A4DC-522AAADB837D}"/>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Causal mask: future visibility     Padding mask: filler keys     Loss mask: scored targets</a:t>
            </a:r>
          </a:p>
        </p:txBody>
      </p:sp>
    </p:spTree>
    <p:extLst>
      <p:ext uri="{BB962C8B-B14F-4D97-AF65-F5344CB8AC3E}">
        <p14:creationId xmlns:p14="http://schemas.microsoft.com/office/powerpoint/2010/main" val="477233505"/>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8320E771-05D8-475D-A895-275BD626EDF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Multiple heads examine the full sequence</a:t>
            </a:r>
          </a:p>
        </p:txBody>
      </p:sp>
      <p:sp>
        <p:nvSpPr>
          <p:cNvPr id="2" name="subtitle">
            <a:extLst xmlns:a="http://schemas.openxmlformats.org/drawingml/2006/main">
              <a:ext uri="{FF2B5EF4-FFF2-40B4-BE49-F238E27FC236}">
                <a16:creationId xmlns:a16="http://schemas.microsoft.com/office/drawing/2014/main" id="{084D643D-E5BA-4F04-9055-07237F686C35}"/>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feature dimension divides across heads, while every head keeps all token positions</a:t>
            </a:r>
          </a:p>
        </p:txBody>
      </p:sp>
      <p:sp>
        <p:nvSpPr>
          <p:cNvPr id="3" name="page-number">
            <a:extLst xmlns:a="http://schemas.openxmlformats.org/drawingml/2006/main">
              <a:ext uri="{FF2B5EF4-FFF2-40B4-BE49-F238E27FC236}">
                <a16:creationId xmlns:a16="http://schemas.microsoft.com/office/drawing/2014/main" id="{17732B93-A72F-49C5-95E9-4094B680C17C}"/>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12</a:t>
            </a:r>
          </a:p>
        </p:txBody>
      </p:sp>
      <p:graphicFrame>
        <p:nvGraphicFramePr>
          <p:cNvPr id="4" name="">
            <a:extLst xmlns:a="http://schemas.openxmlformats.org/drawingml/2006/main">
              <a:ext uri="{FF2B5EF4-FFF2-40B4-BE49-F238E27FC236}">
                <a16:creationId xmlns:a16="http://schemas.microsoft.com/office/drawing/2014/main" id="{DFB0386C-A845-481E-85EB-DF6D2E32A220}"/>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2857500"/>
                <a:gridCol w="2857500"/>
                <a:gridCol w="5105400"/>
              </a:tblGrid>
              <a:tr h="650875">
                <a:tc>
                  <a:txBody>
                    <a:bodyPr/>
                    <a:lstStyle/>
                    <a:p>
                      <a:r>
                        <a:rPr sz="1650" b="1">
                          <a:solidFill>
                            <a:srgbClr val="F9F7F1"/>
                          </a:solidFill>
                          <a:latin typeface="Calibri"/>
                          <a:ea typeface="Calibri"/>
                          <a:cs typeface="Calibri"/>
                        </a:rPr>
                        <a:t>Operation</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Illustrative shape</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Meaning</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Input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T, 64)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64 features at every position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Q, K, V after split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4, T, 16)</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Four different learned projections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Per-head attention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4, T, 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 separate distribution per query and head</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Concatenate contexts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T, 64)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Rejoin 4 × 16 features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Output projection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T, 64)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Mix information across head outputs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730992897"/>
      </p:ext>
    </p:extLst>
  </p:cSld>
</p:sld>
</file>

<file path=ppt/slides/slide1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DACF6D29-832F-4043-B236-B35EDBEDA11E}"/>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 complete decoder block</a:t>
            </a:r>
          </a:p>
        </p:txBody>
      </p:sp>
      <p:sp>
        <p:nvSpPr>
          <p:cNvPr id="2" name="subtitle">
            <a:extLst xmlns:a="http://schemas.openxmlformats.org/drawingml/2006/main">
              <a:ext uri="{FF2B5EF4-FFF2-40B4-BE49-F238E27FC236}">
                <a16:creationId xmlns:a16="http://schemas.microsoft.com/office/drawing/2014/main" id="{C1276CF8-9CB5-4618-840D-9DB984B271B8}"/>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starter uses normalization before each sublayer</a:t>
            </a:r>
          </a:p>
        </p:txBody>
      </p:sp>
      <p:sp>
        <p:nvSpPr>
          <p:cNvPr id="3" name="page-number">
            <a:extLst xmlns:a="http://schemas.openxmlformats.org/drawingml/2006/main">
              <a:ext uri="{FF2B5EF4-FFF2-40B4-BE49-F238E27FC236}">
                <a16:creationId xmlns:a16="http://schemas.microsoft.com/office/drawing/2014/main" id="{82BB3494-84D6-4C2F-90F3-927BB8FD39BE}"/>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13</a:t>
            </a:r>
          </a:p>
        </p:txBody>
      </p:sp>
      <p:sp>
        <p:nvSpPr>
          <p:cNvPr id="4" name="body">
            <a:extLst xmlns:a="http://schemas.openxmlformats.org/drawingml/2006/main">
              <a:ext uri="{FF2B5EF4-FFF2-40B4-BE49-F238E27FC236}">
                <a16:creationId xmlns:a16="http://schemas.microsoft.com/office/drawing/2014/main" id="{DED4A464-B7C5-40B6-BB83-CA972EF31899}"/>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U = X + Attention(LN₁(X))</a:t>
            </a:r>
          </a:p>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Y = U + FFN(LN₂(U))</a:t>
            </a:r>
          </a:p>
        </p:txBody>
      </p:sp>
      <p:sp>
        <p:nvSpPr>
          <p:cNvPr id="5" name="body">
            <a:extLst xmlns:a="http://schemas.openxmlformats.org/drawingml/2006/main">
              <a:ext uri="{FF2B5EF4-FFF2-40B4-BE49-F238E27FC236}">
                <a16:creationId xmlns:a16="http://schemas.microsoft.com/office/drawing/2014/main" id="{AB6A7065-D2C6-4BC6-AF24-A8307A25876E}"/>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LN</a:t>
            </a:r>
          </a:p>
        </p:txBody>
      </p:sp>
      <p:sp>
        <p:nvSpPr>
          <p:cNvPr id="6" name="body">
            <a:extLst xmlns:a="http://schemas.openxmlformats.org/drawingml/2006/main">
              <a:ext uri="{FF2B5EF4-FFF2-40B4-BE49-F238E27FC236}">
                <a16:creationId xmlns:a16="http://schemas.microsoft.com/office/drawing/2014/main" id="{0A41A599-7C52-4CDD-8EE4-0BDCDD1669B2}"/>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Normalize features independently at each token position</a:t>
            </a:r>
          </a:p>
        </p:txBody>
      </p:sp>
      <p:sp>
        <p:nvSpPr>
          <p:cNvPr id="7" name="body">
            <a:extLst xmlns:a="http://schemas.openxmlformats.org/drawingml/2006/main">
              <a:ext uri="{FF2B5EF4-FFF2-40B4-BE49-F238E27FC236}">
                <a16:creationId xmlns:a16="http://schemas.microsoft.com/office/drawing/2014/main" id="{44516C39-3C5A-4885-A470-8F2909C2917B}"/>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Residual addition</a:t>
            </a:r>
          </a:p>
        </p:txBody>
      </p:sp>
      <p:sp>
        <p:nvSpPr>
          <p:cNvPr id="8" name="body">
            <a:extLst xmlns:a="http://schemas.openxmlformats.org/drawingml/2006/main">
              <a:ext uri="{FF2B5EF4-FFF2-40B4-BE49-F238E27FC236}">
                <a16:creationId xmlns:a16="http://schemas.microsoft.com/office/drawing/2014/main" id="{0E6E53D6-6467-406C-84C0-9351AB84CED8}"/>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Retain a direct path for features and gradients</a:t>
            </a:r>
          </a:p>
        </p:txBody>
      </p:sp>
      <p:sp>
        <p:nvSpPr>
          <p:cNvPr id="9" name="body">
            <a:extLst xmlns:a="http://schemas.openxmlformats.org/drawingml/2006/main">
              <a:ext uri="{FF2B5EF4-FFF2-40B4-BE49-F238E27FC236}">
                <a16:creationId xmlns:a16="http://schemas.microsoft.com/office/drawing/2014/main" id="{F94796FF-1AE4-4B82-B682-EE7AD8DC189E}"/>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Attention</a:t>
            </a:r>
          </a:p>
        </p:txBody>
      </p:sp>
      <p:sp>
        <p:nvSpPr>
          <p:cNvPr id="10" name="body">
            <a:extLst xmlns:a="http://schemas.openxmlformats.org/drawingml/2006/main">
              <a:ext uri="{FF2B5EF4-FFF2-40B4-BE49-F238E27FC236}">
                <a16:creationId xmlns:a16="http://schemas.microsoft.com/office/drawing/2014/main" id="{8DFD19D3-2A50-40C9-9833-7E6DDB8D18F1}"/>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Mix information across eligible positions</a:t>
            </a:r>
          </a:p>
        </p:txBody>
      </p:sp>
      <p:sp>
        <p:nvSpPr>
          <p:cNvPr id="11" name="body">
            <a:extLst xmlns:a="http://schemas.openxmlformats.org/drawingml/2006/main">
              <a:ext uri="{FF2B5EF4-FFF2-40B4-BE49-F238E27FC236}">
                <a16:creationId xmlns:a16="http://schemas.microsoft.com/office/drawing/2014/main" id="{6BAF8A8F-3C50-4DF8-8C5B-BC0CC20E4A57}"/>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FFN</a:t>
            </a:r>
          </a:p>
        </p:txBody>
      </p:sp>
      <p:sp>
        <p:nvSpPr>
          <p:cNvPr id="12" name="body">
            <a:extLst xmlns:a="http://schemas.openxmlformats.org/drawingml/2006/main">
              <a:ext uri="{FF2B5EF4-FFF2-40B4-BE49-F238E27FC236}">
                <a16:creationId xmlns:a16="http://schemas.microsoft.com/office/drawing/2014/main" id="{7A72AC8C-61BD-4F03-8267-696CF788DB0A}"/>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Transform features separately at each position</a:t>
            </a:r>
          </a:p>
        </p:txBody>
      </p:sp>
      <p:sp>
        <p:nvSpPr>
          <p:cNvPr id="13" name="body">
            <a:extLst xmlns:a="http://schemas.openxmlformats.org/drawingml/2006/main">
              <a:ext uri="{FF2B5EF4-FFF2-40B4-BE49-F238E27FC236}">
                <a16:creationId xmlns:a16="http://schemas.microsoft.com/office/drawing/2014/main" id="{AA17AEAB-19C1-4335-8B2B-A37B39584E58}"/>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Two blocks repeat this process, followed by final normalization and vocabulary projection</a:t>
            </a:r>
          </a:p>
        </p:txBody>
      </p:sp>
    </p:spTree>
    <p:extLst>
      <p:ext uri="{BB962C8B-B14F-4D97-AF65-F5344CB8AC3E}">
        <p14:creationId xmlns:p14="http://schemas.microsoft.com/office/powerpoint/2010/main" val="641793314"/>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4404E7A7-7246-4811-A896-8D1CF96F3F2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The complete token journey</a:t>
            </a:r>
          </a:p>
        </p:txBody>
      </p:sp>
      <p:sp>
        <p:nvSpPr>
          <p:cNvPr id="2" name="subtitle">
            <a:extLst xmlns:a="http://schemas.openxmlformats.org/drawingml/2006/main">
              <a:ext uri="{FF2B5EF4-FFF2-40B4-BE49-F238E27FC236}">
                <a16:creationId xmlns:a16="http://schemas.microsoft.com/office/drawing/2014/main" id="{CE9878A8-5BAD-4652-B3AB-F32FA93878F6}"/>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Illustrative forward pass with one 8-token prefix and four heads</a:t>
            </a:r>
          </a:p>
        </p:txBody>
      </p:sp>
      <p:sp>
        <p:nvSpPr>
          <p:cNvPr id="3" name="page-number">
            <a:extLst xmlns:a="http://schemas.openxmlformats.org/drawingml/2006/main">
              <a:ext uri="{FF2B5EF4-FFF2-40B4-BE49-F238E27FC236}">
                <a16:creationId xmlns:a16="http://schemas.microsoft.com/office/drawing/2014/main" id="{F08E7851-0B64-4ECD-92AA-F5826A5F4251}"/>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14</a:t>
            </a:r>
          </a:p>
        </p:txBody>
      </p:sp>
      <p:graphicFrame>
        <p:nvGraphicFramePr>
          <p:cNvPr id="4" name="">
            <a:extLst xmlns:a="http://schemas.openxmlformats.org/drawingml/2006/main">
              <a:ext uri="{FF2B5EF4-FFF2-40B4-BE49-F238E27FC236}">
                <a16:creationId xmlns:a16="http://schemas.microsoft.com/office/drawing/2014/main" id="{8249ABD5-BC46-4028-88F7-AB85BEBC5339}"/>
              </a:ext>
            </a:extLst>
          </p:cNvPr>
          <p:cNvGraphicFramePr/>
          <p:nvPr/>
        </p:nvGraphicFramePr>
        <p:xfrm>
          <a:off xmlns:a="http://schemas.openxmlformats.org/drawingml/2006/main" x="685800" y="2076450"/>
          <a:ext xmlns:a="http://schemas.openxmlformats.org/drawingml/2006/main" cx="10820400" cy="4038600"/>
        </p:xfrm>
        <a:graphic xmlns:a="http://schemas.openxmlformats.org/drawingml/2006/main">
          <a:graphicData uri="http://schemas.openxmlformats.org/drawingml/2006/table">
            <a:tbl>
              <a:tblPr firstRow="0" bandRow="0"/>
              <a:tblGrid>
                <a:gridCol w="2667000"/>
                <a:gridCol w="2762250"/>
                <a:gridCol w="5391150"/>
              </a:tblGrid>
              <a:tr h="504825">
                <a:tc>
                  <a:txBody>
                    <a:bodyPr/>
                    <a:lstStyle/>
                    <a:p>
                      <a:r>
                        <a:rPr sz="1650" b="1">
                          <a:solidFill>
                            <a:srgbClr val="F9F7F1"/>
                          </a:solidFill>
                          <a:latin typeface="Calibri"/>
                          <a:ea typeface="Calibri"/>
                          <a:cs typeface="Calibri"/>
                        </a:rPr>
                        <a:t>Stage</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Shape</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What changes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504825">
                <a:tc>
                  <a:txBody>
                    <a:bodyPr/>
                    <a:lstStyle/>
                    <a:p>
                      <a:r>
                        <a:rPr sz="1650">
                          <a:solidFill>
                            <a:srgbClr val="142D3C"/>
                          </a:solidFill>
                          <a:latin typeface="Calibri"/>
                          <a:ea typeface="Calibri"/>
                          <a:cs typeface="Calibri"/>
                        </a:rPr>
                        <a:t>IDs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(1, 8)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Text becomes vocabulary indices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Token + position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(1, 8, 64)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Each position receives a learned vector</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Q / K / V</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(1, 4, 8, 16)</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Features reorganize across heads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Attention weights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(1, 4, 8, 8)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Each query weights earlier keys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Two decoder blocks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(1, 8, 64)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Context and features evolve</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Vocabulary logits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 8, V)</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Each position scores every vocabulary entry</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Final position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 V)</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One distribution predicts the next token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135628700"/>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2CB5A138-66CF-4B2E-A741-D2748FDDB46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Learning the output continuation</a:t>
            </a:r>
          </a:p>
        </p:txBody>
      </p:sp>
      <p:sp>
        <p:nvSpPr>
          <p:cNvPr id="2" name="subtitle">
            <a:extLst xmlns:a="http://schemas.openxmlformats.org/drawingml/2006/main">
              <a:ext uri="{FF2B5EF4-FFF2-40B4-BE49-F238E27FC236}">
                <a16:creationId xmlns:a16="http://schemas.microsoft.com/office/drawing/2014/main" id="{463BAECD-5104-485F-8013-F185CC81B021}"/>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source contributes context while selected targets contribute loss</a:t>
            </a:r>
          </a:p>
        </p:txBody>
      </p:sp>
      <p:sp>
        <p:nvSpPr>
          <p:cNvPr id="3" name="page-number">
            <a:extLst xmlns:a="http://schemas.openxmlformats.org/drawingml/2006/main">
              <a:ext uri="{FF2B5EF4-FFF2-40B4-BE49-F238E27FC236}">
                <a16:creationId xmlns:a16="http://schemas.microsoft.com/office/drawing/2014/main" id="{8A51D4FA-B1B8-4070-8F36-F5CD1CEBDE1B}"/>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15</a:t>
            </a:r>
          </a:p>
        </p:txBody>
      </p:sp>
      <p:sp>
        <p:nvSpPr>
          <p:cNvPr id="4" name="body">
            <a:extLst xmlns:a="http://schemas.openxmlformats.org/drawingml/2006/main">
              <a:ext uri="{FF2B5EF4-FFF2-40B4-BE49-F238E27FC236}">
                <a16:creationId xmlns:a16="http://schemas.microsoft.com/office/drawing/2014/main" id="{B582FF86-3CA6-4777-B565-53B8A03C9331}"/>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L = −Σₜ mₜ log p(yₜ | prefixₜ) / Σₜ mₜ</a:t>
            </a:r>
          </a:p>
        </p:txBody>
      </p:sp>
      <p:sp>
        <p:nvSpPr>
          <p:cNvPr id="5" name="body">
            <a:extLst xmlns:a="http://schemas.openxmlformats.org/drawingml/2006/main">
              <a:ext uri="{FF2B5EF4-FFF2-40B4-BE49-F238E27FC236}">
                <a16:creationId xmlns:a16="http://schemas.microsoft.com/office/drawing/2014/main" id="{3649AB48-808A-456A-8EAE-B375766BC722}"/>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yₜ</a:t>
            </a:r>
          </a:p>
        </p:txBody>
      </p:sp>
      <p:sp>
        <p:nvSpPr>
          <p:cNvPr id="6" name="body">
            <a:extLst xmlns:a="http://schemas.openxmlformats.org/drawingml/2006/main">
              <a:ext uri="{FF2B5EF4-FFF2-40B4-BE49-F238E27FC236}">
                <a16:creationId xmlns:a16="http://schemas.microsoft.com/office/drawing/2014/main" id="{F729DFB6-2914-49E0-BD2F-F6431793FBAD}"/>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The correct next token at prediction position t</a:t>
            </a:r>
          </a:p>
        </p:txBody>
      </p:sp>
      <p:sp>
        <p:nvSpPr>
          <p:cNvPr id="7" name="body">
            <a:extLst xmlns:a="http://schemas.openxmlformats.org/drawingml/2006/main">
              <a:ext uri="{FF2B5EF4-FFF2-40B4-BE49-F238E27FC236}">
                <a16:creationId xmlns:a16="http://schemas.microsoft.com/office/drawing/2014/main" id="{F09C765D-4443-4133-86B0-A969F2A05252}"/>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p</a:t>
            </a:r>
          </a:p>
        </p:txBody>
      </p:sp>
      <p:sp>
        <p:nvSpPr>
          <p:cNvPr id="8" name="body">
            <a:extLst xmlns:a="http://schemas.openxmlformats.org/drawingml/2006/main">
              <a:ext uri="{FF2B5EF4-FFF2-40B4-BE49-F238E27FC236}">
                <a16:creationId xmlns:a16="http://schemas.microsoft.com/office/drawing/2014/main" id="{C3A5DE9A-B407-4AF6-8856-8E7094D6790C}"/>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The model probability assigned to that correct token</a:t>
            </a:r>
          </a:p>
        </p:txBody>
      </p:sp>
      <p:sp>
        <p:nvSpPr>
          <p:cNvPr id="9" name="body">
            <a:extLst xmlns:a="http://schemas.openxmlformats.org/drawingml/2006/main">
              <a:ext uri="{FF2B5EF4-FFF2-40B4-BE49-F238E27FC236}">
                <a16:creationId xmlns:a16="http://schemas.microsoft.com/office/drawing/2014/main" id="{91F632E9-7631-47CB-9CEE-67696BE57514}"/>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mₜ</a:t>
            </a:r>
          </a:p>
        </p:txBody>
      </p:sp>
      <p:sp>
        <p:nvSpPr>
          <p:cNvPr id="10" name="body">
            <a:extLst xmlns:a="http://schemas.openxmlformats.org/drawingml/2006/main">
              <a:ext uri="{FF2B5EF4-FFF2-40B4-BE49-F238E27FC236}">
                <a16:creationId xmlns:a16="http://schemas.microsoft.com/office/drawing/2014/main" id="{D26AA830-6279-4193-8F16-19DC401B9A16}"/>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1 for a scored output target, 0 for prompt or padding</a:t>
            </a:r>
          </a:p>
        </p:txBody>
      </p:sp>
      <p:sp>
        <p:nvSpPr>
          <p:cNvPr id="11" name="body">
            <a:extLst xmlns:a="http://schemas.openxmlformats.org/drawingml/2006/main">
              <a:ext uri="{FF2B5EF4-FFF2-40B4-BE49-F238E27FC236}">
                <a16:creationId xmlns:a16="http://schemas.microsoft.com/office/drawing/2014/main" id="{E1A38072-9CC3-44D8-86D0-FDA2F95D8F3B}"/>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Σ, log</a:t>
            </a:r>
          </a:p>
        </p:txBody>
      </p:sp>
      <p:sp>
        <p:nvSpPr>
          <p:cNvPr id="12" name="body">
            <a:extLst xmlns:a="http://schemas.openxmlformats.org/drawingml/2006/main">
              <a:ext uri="{FF2B5EF4-FFF2-40B4-BE49-F238E27FC236}">
                <a16:creationId xmlns:a16="http://schemas.microsoft.com/office/drawing/2014/main" id="{589B5C1D-4405-4088-B12B-4D2D7F8615C8}"/>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Sum over positions, using the natural logarithm</a:t>
            </a:r>
          </a:p>
        </p:txBody>
      </p:sp>
      <p:sp>
        <p:nvSpPr>
          <p:cNvPr id="13" name="body">
            <a:extLst xmlns:a="http://schemas.openxmlformats.org/drawingml/2006/main">
              <a:ext uri="{FF2B5EF4-FFF2-40B4-BE49-F238E27FC236}">
                <a16:creationId xmlns:a16="http://schemas.microsoft.com/office/drawing/2014/main" id="{123B7247-C5ED-4F60-9F2C-08E322755751}"/>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Illustrative loss: correct-token probability 0.10 gives 2.303, while 0.80 gives 0.223</a:t>
            </a:r>
          </a:p>
        </p:txBody>
      </p:sp>
    </p:spTree>
    <p:extLst>
      <p:ext uri="{BB962C8B-B14F-4D97-AF65-F5344CB8AC3E}">
        <p14:creationId xmlns:p14="http://schemas.microsoft.com/office/powerpoint/2010/main" val="1090251849"/>
      </p:ext>
    </p:extLst>
  </p:cSld>
</p:sld>
</file>

<file path=ppt/slides/slide16.xml><?xml version="1.0" encoding="utf-8"?>
<p:sld xmlns:p="http://schemas.openxmlformats.org/presentationml/2006/main">
  <p:cSld>
    <p:bg>
      <p:bgPr>
        <a:solidFill xmlns:a="http://schemas.openxmlformats.org/drawingml/2006/main">
          <a:srgbClr val="142D3C"/>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4D078A50-A1A9-4D9A-9750-FAA59B60A8A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F9F7F1"/>
                </a:solidFill>
                <a:latin typeface="Calibri"/>
                <a:ea typeface="Calibri"/>
                <a:cs typeface="Calibri"/>
              </a:defRPr>
            </a:defPPr>
            <a:lvl1pPr>
              <a:defRPr sz="3225" b="1">
                <a:solidFill>
                  <a:srgbClr val="F9F7F1"/>
                </a:solidFill>
                <a:latin typeface="Calibri"/>
                <a:ea typeface="Calibri"/>
                <a:cs typeface="Calibri"/>
              </a:defRPr>
            </a:lvl1pPr>
            <a:lvl2pPr>
              <a:defRPr sz="3225" b="1">
                <a:solidFill>
                  <a:srgbClr val="F9F7F1"/>
                </a:solidFill>
                <a:latin typeface="Calibri"/>
                <a:ea typeface="Calibri"/>
                <a:cs typeface="Calibri"/>
              </a:defRPr>
            </a:lvl2pPr>
            <a:lvl3pPr>
              <a:defRPr sz="3225" b="1">
                <a:solidFill>
                  <a:srgbClr val="F9F7F1"/>
                </a:solidFill>
                <a:latin typeface="Calibri"/>
                <a:ea typeface="Calibri"/>
                <a:cs typeface="Calibri"/>
              </a:defRPr>
            </a:lvl3pPr>
            <a:lvl4pPr>
              <a:defRPr sz="3225" b="1">
                <a:solidFill>
                  <a:srgbClr val="F9F7F1"/>
                </a:solidFill>
                <a:latin typeface="Calibri"/>
                <a:ea typeface="Calibri"/>
                <a:cs typeface="Calibri"/>
              </a:defRPr>
            </a:lvl4pPr>
            <a:lvl5pPr>
              <a:defRPr sz="3225" b="1">
                <a:solidFill>
                  <a:srgbClr val="F9F7F1"/>
                </a:solidFill>
                <a:latin typeface="Calibri"/>
                <a:ea typeface="Calibri"/>
                <a:cs typeface="Calibri"/>
              </a:defRPr>
            </a:lvl5pPr>
            <a:lvl6pPr>
              <a:defRPr sz="3225" b="1">
                <a:solidFill>
                  <a:srgbClr val="F9F7F1"/>
                </a:solidFill>
                <a:latin typeface="Calibri"/>
                <a:ea typeface="Calibri"/>
                <a:cs typeface="Calibri"/>
              </a:defRPr>
            </a:lvl6pPr>
            <a:lvl7pPr>
              <a:defRPr sz="3225" b="1">
                <a:solidFill>
                  <a:srgbClr val="F9F7F1"/>
                </a:solidFill>
                <a:latin typeface="Calibri"/>
                <a:ea typeface="Calibri"/>
                <a:cs typeface="Calibri"/>
              </a:defRPr>
            </a:lvl7pPr>
            <a:lvl8pPr>
              <a:defRPr sz="3225" b="1">
                <a:solidFill>
                  <a:srgbClr val="F9F7F1"/>
                </a:solidFill>
                <a:latin typeface="Calibri"/>
                <a:ea typeface="Calibri"/>
                <a:cs typeface="Calibri"/>
              </a:defRPr>
            </a:lvl8pPr>
            <a:lvl9pPr>
              <a:defRPr sz="3225" b="1">
                <a:solidFill>
                  <a:srgbClr val="F9F7F1"/>
                </a:solidFill>
                <a:latin typeface="Calibri"/>
                <a:ea typeface="Calibri"/>
                <a:cs typeface="Calibri"/>
              </a:defRPr>
            </a:lvl9pPr>
          </a:lstStyle>
          <a:p xmlns:a="http://schemas.openxmlformats.org/drawingml/2006/main">
            <a:pPr>
              <a:defRPr sz="3225" b="1">
                <a:solidFill>
                  <a:srgbClr val="F9F7F1"/>
                </a:solidFill>
                <a:latin typeface="Calibri"/>
                <a:ea typeface="Calibri"/>
                <a:cs typeface="Calibri"/>
              </a:defRPr>
            </a:pPr>
            <a:r>
              <a:rPr sz="3225" b="1">
                <a:solidFill>
                  <a:srgbClr val="F9F7F1"/>
                </a:solidFill>
                <a:latin typeface="Calibri"/>
                <a:ea typeface="Calibri"/>
                <a:cs typeface="Calibri"/>
              </a:rPr>
              <a:t>Generation and temperature</a:t>
            </a:r>
          </a:p>
        </p:txBody>
      </p:sp>
      <p:sp>
        <p:nvSpPr>
          <p:cNvPr id="2" name="page-number">
            <a:extLst xmlns:a="http://schemas.openxmlformats.org/drawingml/2006/main">
              <a:ext uri="{FF2B5EF4-FFF2-40B4-BE49-F238E27FC236}">
                <a16:creationId xmlns:a16="http://schemas.microsoft.com/office/drawing/2014/main" id="{96F60445-12A0-4862-B050-E38BA33B7B2A}"/>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CAD7D8"/>
                </a:solidFill>
                <a:latin typeface="Calibri"/>
                <a:ea typeface="Calibri"/>
                <a:cs typeface="Calibri"/>
              </a:defRPr>
            </a:defPPr>
            <a:lvl1pPr>
              <a:defRPr sz="1350" b="0">
                <a:solidFill>
                  <a:srgbClr val="CAD7D8"/>
                </a:solidFill>
                <a:latin typeface="Calibri"/>
                <a:ea typeface="Calibri"/>
                <a:cs typeface="Calibri"/>
              </a:defRPr>
            </a:lvl1pPr>
            <a:lvl2pPr>
              <a:defRPr sz="1350" b="0">
                <a:solidFill>
                  <a:srgbClr val="CAD7D8"/>
                </a:solidFill>
                <a:latin typeface="Calibri"/>
                <a:ea typeface="Calibri"/>
                <a:cs typeface="Calibri"/>
              </a:defRPr>
            </a:lvl2pPr>
            <a:lvl3pPr>
              <a:defRPr sz="1350" b="0">
                <a:solidFill>
                  <a:srgbClr val="CAD7D8"/>
                </a:solidFill>
                <a:latin typeface="Calibri"/>
                <a:ea typeface="Calibri"/>
                <a:cs typeface="Calibri"/>
              </a:defRPr>
            </a:lvl3pPr>
            <a:lvl4pPr>
              <a:defRPr sz="1350" b="0">
                <a:solidFill>
                  <a:srgbClr val="CAD7D8"/>
                </a:solidFill>
                <a:latin typeface="Calibri"/>
                <a:ea typeface="Calibri"/>
                <a:cs typeface="Calibri"/>
              </a:defRPr>
            </a:lvl4pPr>
            <a:lvl5pPr>
              <a:defRPr sz="1350" b="0">
                <a:solidFill>
                  <a:srgbClr val="CAD7D8"/>
                </a:solidFill>
                <a:latin typeface="Calibri"/>
                <a:ea typeface="Calibri"/>
                <a:cs typeface="Calibri"/>
              </a:defRPr>
            </a:lvl5pPr>
            <a:lvl6pPr>
              <a:defRPr sz="1350" b="0">
                <a:solidFill>
                  <a:srgbClr val="CAD7D8"/>
                </a:solidFill>
                <a:latin typeface="Calibri"/>
                <a:ea typeface="Calibri"/>
                <a:cs typeface="Calibri"/>
              </a:defRPr>
            </a:lvl6pPr>
            <a:lvl7pPr>
              <a:defRPr sz="1350" b="0">
                <a:solidFill>
                  <a:srgbClr val="CAD7D8"/>
                </a:solidFill>
                <a:latin typeface="Calibri"/>
                <a:ea typeface="Calibri"/>
                <a:cs typeface="Calibri"/>
              </a:defRPr>
            </a:lvl7pPr>
            <a:lvl8pPr>
              <a:defRPr sz="1350" b="0">
                <a:solidFill>
                  <a:srgbClr val="CAD7D8"/>
                </a:solidFill>
                <a:latin typeface="Calibri"/>
                <a:ea typeface="Calibri"/>
                <a:cs typeface="Calibri"/>
              </a:defRPr>
            </a:lvl8pPr>
            <a:lvl9pPr>
              <a:defRPr sz="1350" b="0">
                <a:solidFill>
                  <a:srgbClr val="CAD7D8"/>
                </a:solidFill>
                <a:latin typeface="Calibri"/>
                <a:ea typeface="Calibri"/>
                <a:cs typeface="Calibri"/>
              </a:defRPr>
            </a:lvl9pPr>
          </a:lstStyle>
          <a:p xmlns:a="http://schemas.openxmlformats.org/drawingml/2006/main">
            <a:pPr>
              <a:defRPr sz="1350" b="0">
                <a:solidFill>
                  <a:srgbClr val="CAD7D8"/>
                </a:solidFill>
                <a:latin typeface="Calibri"/>
                <a:ea typeface="Calibri"/>
                <a:cs typeface="Calibri"/>
              </a:defRPr>
            </a:pPr>
            <a:r>
              <a:rPr sz="1350" b="0">
                <a:solidFill>
                  <a:srgbClr val="CAD7D8"/>
                </a:solidFill>
                <a:latin typeface="Calibri"/>
                <a:ea typeface="Calibri"/>
                <a:cs typeface="Calibri"/>
              </a:rPr>
              <a:t>16</a:t>
            </a:r>
          </a:p>
        </p:txBody>
      </p:sp>
      <p:sp>
        <p:nvSpPr>
          <p:cNvPr id="3" name="body">
            <a:extLst xmlns:a="http://schemas.openxmlformats.org/drawingml/2006/main">
              <a:ext uri="{FF2B5EF4-FFF2-40B4-BE49-F238E27FC236}">
                <a16:creationId xmlns:a16="http://schemas.microsoft.com/office/drawing/2014/main" id="{E9EBD235-9DFD-42F6-8269-48C11AB8FD65}"/>
              </a:ext>
            </a:extLst>
          </p:cNvPr>
          <p:cNvSpPr>
            <a:spLocks xmlns:a="http://schemas.openxmlformats.org/drawingml/2006/main" noGrp="1"/>
          </p:cNvSpPr>
          <p:nvPr/>
        </p:nvSpPr>
        <p:spPr>
          <a:xfrm xmlns:a="http://schemas.openxmlformats.org/drawingml/2006/main">
            <a:off x="685800" y="2143125"/>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DAB58F"/>
                </a:solidFill>
                <a:latin typeface="Calibri"/>
                <a:ea typeface="Calibri"/>
                <a:cs typeface="Calibri"/>
              </a:defRPr>
            </a:defPPr>
            <a:lvl1pPr>
              <a:defRPr sz="2325" b="1">
                <a:solidFill>
                  <a:srgbClr val="DAB58F"/>
                </a:solidFill>
                <a:latin typeface="Calibri"/>
                <a:ea typeface="Calibri"/>
                <a:cs typeface="Calibri"/>
              </a:defRPr>
            </a:lvl1pPr>
            <a:lvl2pPr>
              <a:defRPr sz="2325" b="1">
                <a:solidFill>
                  <a:srgbClr val="DAB58F"/>
                </a:solidFill>
                <a:latin typeface="Calibri"/>
                <a:ea typeface="Calibri"/>
                <a:cs typeface="Calibri"/>
              </a:defRPr>
            </a:lvl2pPr>
            <a:lvl3pPr>
              <a:defRPr sz="2325" b="1">
                <a:solidFill>
                  <a:srgbClr val="DAB58F"/>
                </a:solidFill>
                <a:latin typeface="Calibri"/>
                <a:ea typeface="Calibri"/>
                <a:cs typeface="Calibri"/>
              </a:defRPr>
            </a:lvl3pPr>
            <a:lvl4pPr>
              <a:defRPr sz="2325" b="1">
                <a:solidFill>
                  <a:srgbClr val="DAB58F"/>
                </a:solidFill>
                <a:latin typeface="Calibri"/>
                <a:ea typeface="Calibri"/>
                <a:cs typeface="Calibri"/>
              </a:defRPr>
            </a:lvl4pPr>
            <a:lvl5pPr>
              <a:defRPr sz="2325" b="1">
                <a:solidFill>
                  <a:srgbClr val="DAB58F"/>
                </a:solidFill>
                <a:latin typeface="Calibri"/>
                <a:ea typeface="Calibri"/>
                <a:cs typeface="Calibri"/>
              </a:defRPr>
            </a:lvl5pPr>
            <a:lvl6pPr>
              <a:defRPr sz="2325" b="1">
                <a:solidFill>
                  <a:srgbClr val="DAB58F"/>
                </a:solidFill>
                <a:latin typeface="Calibri"/>
                <a:ea typeface="Calibri"/>
                <a:cs typeface="Calibri"/>
              </a:defRPr>
            </a:lvl6pPr>
            <a:lvl7pPr>
              <a:defRPr sz="2325" b="1">
                <a:solidFill>
                  <a:srgbClr val="DAB58F"/>
                </a:solidFill>
                <a:latin typeface="Calibri"/>
                <a:ea typeface="Calibri"/>
                <a:cs typeface="Calibri"/>
              </a:defRPr>
            </a:lvl7pPr>
            <a:lvl8pPr>
              <a:defRPr sz="2325" b="1">
                <a:solidFill>
                  <a:srgbClr val="DAB58F"/>
                </a:solidFill>
                <a:latin typeface="Calibri"/>
                <a:ea typeface="Calibri"/>
                <a:cs typeface="Calibri"/>
              </a:defRPr>
            </a:lvl8pPr>
            <a:lvl9pPr>
              <a:defRPr sz="2325" b="1">
                <a:solidFill>
                  <a:srgbClr val="DAB58F"/>
                </a:solidFill>
                <a:latin typeface="Calibri"/>
                <a:ea typeface="Calibri"/>
                <a:cs typeface="Calibri"/>
              </a:defRPr>
            </a:lvl9pPr>
          </a:lstStyle>
          <a:p xmlns:a="http://schemas.openxmlformats.org/drawingml/2006/main">
            <a:pPr>
              <a:defRPr sz="2325" b="1">
                <a:solidFill>
                  <a:srgbClr val="DAB58F"/>
                </a:solidFill>
                <a:latin typeface="Calibri"/>
                <a:ea typeface="Calibri"/>
                <a:cs typeface="Calibri"/>
              </a:defRPr>
            </a:pPr>
            <a:r>
              <a:rPr sz="2325" b="1">
                <a:solidFill>
                  <a:srgbClr val="DAB58F"/>
                </a:solidFill>
                <a:latin typeface="Calibri"/>
                <a:ea typeface="Calibri"/>
                <a:cs typeface="Calibri"/>
              </a:rPr>
              <a:t>One generation step</a:t>
            </a:r>
          </a:p>
        </p:txBody>
      </p:sp>
      <p:sp>
        <p:nvSpPr>
          <p:cNvPr id="4" name="body">
            <a:extLst xmlns:a="http://schemas.openxmlformats.org/drawingml/2006/main">
              <a:ext uri="{FF2B5EF4-FFF2-40B4-BE49-F238E27FC236}">
                <a16:creationId xmlns:a16="http://schemas.microsoft.com/office/drawing/2014/main" id="{8651B974-0222-4A5A-9A14-C50BFA30A2A5}"/>
              </a:ext>
            </a:extLst>
          </p:cNvPr>
          <p:cNvSpPr>
            <a:spLocks xmlns:a="http://schemas.openxmlformats.org/drawingml/2006/main" noGrp="1"/>
          </p:cNvSpPr>
          <p:nvPr/>
        </p:nvSpPr>
        <p:spPr>
          <a:xfrm xmlns:a="http://schemas.openxmlformats.org/drawingml/2006/main">
            <a:off x="6429375" y="2143125"/>
            <a:ext cx="50768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DAB58F"/>
                </a:solidFill>
                <a:latin typeface="Calibri"/>
                <a:ea typeface="Calibri"/>
                <a:cs typeface="Calibri"/>
              </a:defRPr>
            </a:defPPr>
            <a:lvl1pPr>
              <a:defRPr sz="2325" b="1">
                <a:solidFill>
                  <a:srgbClr val="DAB58F"/>
                </a:solidFill>
                <a:latin typeface="Calibri"/>
                <a:ea typeface="Calibri"/>
                <a:cs typeface="Calibri"/>
              </a:defRPr>
            </a:lvl1pPr>
            <a:lvl2pPr>
              <a:defRPr sz="2325" b="1">
                <a:solidFill>
                  <a:srgbClr val="DAB58F"/>
                </a:solidFill>
                <a:latin typeface="Calibri"/>
                <a:ea typeface="Calibri"/>
                <a:cs typeface="Calibri"/>
              </a:defRPr>
            </a:lvl2pPr>
            <a:lvl3pPr>
              <a:defRPr sz="2325" b="1">
                <a:solidFill>
                  <a:srgbClr val="DAB58F"/>
                </a:solidFill>
                <a:latin typeface="Calibri"/>
                <a:ea typeface="Calibri"/>
                <a:cs typeface="Calibri"/>
              </a:defRPr>
            </a:lvl3pPr>
            <a:lvl4pPr>
              <a:defRPr sz="2325" b="1">
                <a:solidFill>
                  <a:srgbClr val="DAB58F"/>
                </a:solidFill>
                <a:latin typeface="Calibri"/>
                <a:ea typeface="Calibri"/>
                <a:cs typeface="Calibri"/>
              </a:defRPr>
            </a:lvl4pPr>
            <a:lvl5pPr>
              <a:defRPr sz="2325" b="1">
                <a:solidFill>
                  <a:srgbClr val="DAB58F"/>
                </a:solidFill>
                <a:latin typeface="Calibri"/>
                <a:ea typeface="Calibri"/>
                <a:cs typeface="Calibri"/>
              </a:defRPr>
            </a:lvl5pPr>
            <a:lvl6pPr>
              <a:defRPr sz="2325" b="1">
                <a:solidFill>
                  <a:srgbClr val="DAB58F"/>
                </a:solidFill>
                <a:latin typeface="Calibri"/>
                <a:ea typeface="Calibri"/>
                <a:cs typeface="Calibri"/>
              </a:defRPr>
            </a:lvl6pPr>
            <a:lvl7pPr>
              <a:defRPr sz="2325" b="1">
                <a:solidFill>
                  <a:srgbClr val="DAB58F"/>
                </a:solidFill>
                <a:latin typeface="Calibri"/>
                <a:ea typeface="Calibri"/>
                <a:cs typeface="Calibri"/>
              </a:defRPr>
            </a:lvl7pPr>
            <a:lvl8pPr>
              <a:defRPr sz="2325" b="1">
                <a:solidFill>
                  <a:srgbClr val="DAB58F"/>
                </a:solidFill>
                <a:latin typeface="Calibri"/>
                <a:ea typeface="Calibri"/>
                <a:cs typeface="Calibri"/>
              </a:defRPr>
            </a:lvl8pPr>
            <a:lvl9pPr>
              <a:defRPr sz="2325" b="1">
                <a:solidFill>
                  <a:srgbClr val="DAB58F"/>
                </a:solidFill>
                <a:latin typeface="Calibri"/>
                <a:ea typeface="Calibri"/>
                <a:cs typeface="Calibri"/>
              </a:defRPr>
            </a:lvl9pPr>
          </a:lstStyle>
          <a:p xmlns:a="http://schemas.openxmlformats.org/drawingml/2006/main">
            <a:pPr>
              <a:defRPr sz="2325" b="1">
                <a:solidFill>
                  <a:srgbClr val="DAB58F"/>
                </a:solidFill>
                <a:latin typeface="Calibri"/>
                <a:ea typeface="Calibri"/>
                <a:cs typeface="Calibri"/>
              </a:defRPr>
            </a:pPr>
            <a:r>
              <a:rPr sz="2325" b="1">
                <a:solidFill>
                  <a:srgbClr val="DAB58F"/>
                </a:solidFill>
                <a:latin typeface="Calibri"/>
                <a:ea typeface="Calibri"/>
                <a:cs typeface="Calibri"/>
              </a:rPr>
              <a:t>Sampling changes the distribution</a:t>
            </a:r>
          </a:p>
        </p:txBody>
      </p:sp>
      <p:sp>
        <p:nvSpPr>
          <p:cNvPr id="5" name="body">
            <a:extLst xmlns:a="http://schemas.openxmlformats.org/drawingml/2006/main">
              <a:ext uri="{FF2B5EF4-FFF2-40B4-BE49-F238E27FC236}">
                <a16:creationId xmlns:a16="http://schemas.microsoft.com/office/drawing/2014/main" id="{0409BD46-A461-4240-8368-BB10F33A415D}"/>
              </a:ext>
            </a:extLst>
          </p:cNvPr>
          <p:cNvSpPr>
            <a:spLocks xmlns:a="http://schemas.openxmlformats.org/drawingml/2006/main" noGrp="1"/>
          </p:cNvSpPr>
          <p:nvPr/>
        </p:nvSpPr>
        <p:spPr>
          <a:xfrm xmlns:a="http://schemas.openxmlformats.org/drawingml/2006/main">
            <a:off x="685800" y="302895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F9F7F1"/>
                </a:solidFill>
                <a:latin typeface="Calibri"/>
                <a:ea typeface="Calibri"/>
                <a:cs typeface="Calibri"/>
              </a:defRPr>
            </a:defPPr>
            <a:lvl1pPr>
              <a:defRPr sz="2025" b="0">
                <a:solidFill>
                  <a:srgbClr val="F9F7F1"/>
                </a:solidFill>
                <a:latin typeface="Calibri"/>
                <a:ea typeface="Calibri"/>
                <a:cs typeface="Calibri"/>
              </a:defRPr>
            </a:lvl1pPr>
            <a:lvl2pPr>
              <a:defRPr sz="2025" b="0">
                <a:solidFill>
                  <a:srgbClr val="F9F7F1"/>
                </a:solidFill>
                <a:latin typeface="Calibri"/>
                <a:ea typeface="Calibri"/>
                <a:cs typeface="Calibri"/>
              </a:defRPr>
            </a:lvl2pPr>
            <a:lvl3pPr>
              <a:defRPr sz="2025" b="0">
                <a:solidFill>
                  <a:srgbClr val="F9F7F1"/>
                </a:solidFill>
                <a:latin typeface="Calibri"/>
                <a:ea typeface="Calibri"/>
                <a:cs typeface="Calibri"/>
              </a:defRPr>
            </a:lvl3pPr>
            <a:lvl4pPr>
              <a:defRPr sz="2025" b="0">
                <a:solidFill>
                  <a:srgbClr val="F9F7F1"/>
                </a:solidFill>
                <a:latin typeface="Calibri"/>
                <a:ea typeface="Calibri"/>
                <a:cs typeface="Calibri"/>
              </a:defRPr>
            </a:lvl4pPr>
            <a:lvl5pPr>
              <a:defRPr sz="2025" b="0">
                <a:solidFill>
                  <a:srgbClr val="F9F7F1"/>
                </a:solidFill>
                <a:latin typeface="Calibri"/>
                <a:ea typeface="Calibri"/>
                <a:cs typeface="Calibri"/>
              </a:defRPr>
            </a:lvl5pPr>
            <a:lvl6pPr>
              <a:defRPr sz="2025" b="0">
                <a:solidFill>
                  <a:srgbClr val="F9F7F1"/>
                </a:solidFill>
                <a:latin typeface="Calibri"/>
                <a:ea typeface="Calibri"/>
                <a:cs typeface="Calibri"/>
              </a:defRPr>
            </a:lvl6pPr>
            <a:lvl7pPr>
              <a:defRPr sz="2025" b="0">
                <a:solidFill>
                  <a:srgbClr val="F9F7F1"/>
                </a:solidFill>
                <a:latin typeface="Calibri"/>
                <a:ea typeface="Calibri"/>
                <a:cs typeface="Calibri"/>
              </a:defRPr>
            </a:lvl7pPr>
            <a:lvl8pPr>
              <a:defRPr sz="2025" b="0">
                <a:solidFill>
                  <a:srgbClr val="F9F7F1"/>
                </a:solidFill>
                <a:latin typeface="Calibri"/>
                <a:ea typeface="Calibri"/>
                <a:cs typeface="Calibri"/>
              </a:defRPr>
            </a:lvl8pPr>
            <a:lvl9pPr>
              <a:defRPr sz="2025" b="0">
                <a:solidFill>
                  <a:srgbClr val="F9F7F1"/>
                </a:solidFill>
                <a:latin typeface="Calibri"/>
                <a:ea typeface="Calibri"/>
                <a:cs typeface="Calibri"/>
              </a:defRPr>
            </a:lvl9pPr>
          </a:lstStyle>
          <a:p xmlns:a="http://schemas.openxmlformats.org/drawingml/2006/main">
            <a:pPr>
              <a:defRPr sz="2025" b="0">
                <a:solidFill>
                  <a:srgbClr val="F9F7F1"/>
                </a:solidFill>
                <a:latin typeface="Calibri"/>
                <a:ea typeface="Calibri"/>
                <a:cs typeface="Calibri"/>
              </a:defRPr>
            </a:pPr>
            <a:r>
              <a:rPr sz="2025" b="0">
                <a:solidFill>
                  <a:srgbClr val="F9F7F1"/>
                </a:solidFill>
                <a:latin typeface="Calibri"/>
                <a:ea typeface="Calibri"/>
                <a:cs typeface="Calibri"/>
              </a:rPr>
              <a:t>Read the final-position vocabulary logits</a:t>
            </a:r>
          </a:p>
        </p:txBody>
      </p:sp>
      <p:sp>
        <p:nvSpPr>
          <p:cNvPr id="6" name="body">
            <a:extLst xmlns:a="http://schemas.openxmlformats.org/drawingml/2006/main">
              <a:ext uri="{FF2B5EF4-FFF2-40B4-BE49-F238E27FC236}">
                <a16:creationId xmlns:a16="http://schemas.microsoft.com/office/drawing/2014/main" id="{A85CC737-0524-4DAC-B5BA-F8A39DF3687D}"/>
              </a:ext>
            </a:extLst>
          </p:cNvPr>
          <p:cNvSpPr>
            <a:spLocks xmlns:a="http://schemas.openxmlformats.org/drawingml/2006/main" noGrp="1"/>
          </p:cNvSpPr>
          <p:nvPr/>
        </p:nvSpPr>
        <p:spPr>
          <a:xfrm xmlns:a="http://schemas.openxmlformats.org/drawingml/2006/main">
            <a:off x="685800" y="389572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F9F7F1"/>
                </a:solidFill>
                <a:latin typeface="Calibri"/>
                <a:ea typeface="Calibri"/>
                <a:cs typeface="Calibri"/>
              </a:defRPr>
            </a:defPPr>
            <a:lvl1pPr>
              <a:defRPr sz="2025" b="0">
                <a:solidFill>
                  <a:srgbClr val="F9F7F1"/>
                </a:solidFill>
                <a:latin typeface="Calibri"/>
                <a:ea typeface="Calibri"/>
                <a:cs typeface="Calibri"/>
              </a:defRPr>
            </a:lvl1pPr>
            <a:lvl2pPr>
              <a:defRPr sz="2025" b="0">
                <a:solidFill>
                  <a:srgbClr val="F9F7F1"/>
                </a:solidFill>
                <a:latin typeface="Calibri"/>
                <a:ea typeface="Calibri"/>
                <a:cs typeface="Calibri"/>
              </a:defRPr>
            </a:lvl2pPr>
            <a:lvl3pPr>
              <a:defRPr sz="2025" b="0">
                <a:solidFill>
                  <a:srgbClr val="F9F7F1"/>
                </a:solidFill>
                <a:latin typeface="Calibri"/>
                <a:ea typeface="Calibri"/>
                <a:cs typeface="Calibri"/>
              </a:defRPr>
            </a:lvl3pPr>
            <a:lvl4pPr>
              <a:defRPr sz="2025" b="0">
                <a:solidFill>
                  <a:srgbClr val="F9F7F1"/>
                </a:solidFill>
                <a:latin typeface="Calibri"/>
                <a:ea typeface="Calibri"/>
                <a:cs typeface="Calibri"/>
              </a:defRPr>
            </a:lvl4pPr>
            <a:lvl5pPr>
              <a:defRPr sz="2025" b="0">
                <a:solidFill>
                  <a:srgbClr val="F9F7F1"/>
                </a:solidFill>
                <a:latin typeface="Calibri"/>
                <a:ea typeface="Calibri"/>
                <a:cs typeface="Calibri"/>
              </a:defRPr>
            </a:lvl5pPr>
            <a:lvl6pPr>
              <a:defRPr sz="2025" b="0">
                <a:solidFill>
                  <a:srgbClr val="F9F7F1"/>
                </a:solidFill>
                <a:latin typeface="Calibri"/>
                <a:ea typeface="Calibri"/>
                <a:cs typeface="Calibri"/>
              </a:defRPr>
            </a:lvl6pPr>
            <a:lvl7pPr>
              <a:defRPr sz="2025" b="0">
                <a:solidFill>
                  <a:srgbClr val="F9F7F1"/>
                </a:solidFill>
                <a:latin typeface="Calibri"/>
                <a:ea typeface="Calibri"/>
                <a:cs typeface="Calibri"/>
              </a:defRPr>
            </a:lvl7pPr>
            <a:lvl8pPr>
              <a:defRPr sz="2025" b="0">
                <a:solidFill>
                  <a:srgbClr val="F9F7F1"/>
                </a:solidFill>
                <a:latin typeface="Calibri"/>
                <a:ea typeface="Calibri"/>
                <a:cs typeface="Calibri"/>
              </a:defRPr>
            </a:lvl8pPr>
            <a:lvl9pPr>
              <a:defRPr sz="2025" b="0">
                <a:solidFill>
                  <a:srgbClr val="F9F7F1"/>
                </a:solidFill>
                <a:latin typeface="Calibri"/>
                <a:ea typeface="Calibri"/>
                <a:cs typeface="Calibri"/>
              </a:defRPr>
            </a:lvl9pPr>
          </a:lstStyle>
          <a:p xmlns:a="http://schemas.openxmlformats.org/drawingml/2006/main">
            <a:pPr>
              <a:defRPr sz="2025" b="0">
                <a:solidFill>
                  <a:srgbClr val="F9F7F1"/>
                </a:solidFill>
                <a:latin typeface="Calibri"/>
                <a:ea typeface="Calibri"/>
                <a:cs typeface="Calibri"/>
              </a:defRPr>
            </a:pPr>
            <a:r>
              <a:rPr sz="2025" b="0">
                <a:solidFill>
                  <a:srgbClr val="F9F7F1"/>
                </a:solidFill>
                <a:latin typeface="Calibri"/>
                <a:ea typeface="Calibri"/>
                <a:cs typeface="Calibri"/>
              </a:rPr>
              <a:t>Choose one token and append it</a:t>
            </a:r>
          </a:p>
        </p:txBody>
      </p:sp>
      <p:sp>
        <p:nvSpPr>
          <p:cNvPr id="7" name="body">
            <a:extLst xmlns:a="http://schemas.openxmlformats.org/drawingml/2006/main">
              <a:ext uri="{FF2B5EF4-FFF2-40B4-BE49-F238E27FC236}">
                <a16:creationId xmlns:a16="http://schemas.microsoft.com/office/drawing/2014/main" id="{BD931CC1-4CCB-46A2-9370-0ECEDA5F2D45}"/>
              </a:ext>
            </a:extLst>
          </p:cNvPr>
          <p:cNvSpPr>
            <a:spLocks xmlns:a="http://schemas.openxmlformats.org/drawingml/2006/main" noGrp="1"/>
          </p:cNvSpPr>
          <p:nvPr/>
        </p:nvSpPr>
        <p:spPr>
          <a:xfrm xmlns:a="http://schemas.openxmlformats.org/drawingml/2006/main">
            <a:off x="685800" y="476250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F9F7F1"/>
                </a:solidFill>
                <a:latin typeface="Calibri"/>
                <a:ea typeface="Calibri"/>
                <a:cs typeface="Calibri"/>
              </a:defRPr>
            </a:defPPr>
            <a:lvl1pPr>
              <a:defRPr sz="2025" b="0">
                <a:solidFill>
                  <a:srgbClr val="F9F7F1"/>
                </a:solidFill>
                <a:latin typeface="Calibri"/>
                <a:ea typeface="Calibri"/>
                <a:cs typeface="Calibri"/>
              </a:defRPr>
            </a:lvl1pPr>
            <a:lvl2pPr>
              <a:defRPr sz="2025" b="0">
                <a:solidFill>
                  <a:srgbClr val="F9F7F1"/>
                </a:solidFill>
                <a:latin typeface="Calibri"/>
                <a:ea typeface="Calibri"/>
                <a:cs typeface="Calibri"/>
              </a:defRPr>
            </a:lvl2pPr>
            <a:lvl3pPr>
              <a:defRPr sz="2025" b="0">
                <a:solidFill>
                  <a:srgbClr val="F9F7F1"/>
                </a:solidFill>
                <a:latin typeface="Calibri"/>
                <a:ea typeface="Calibri"/>
                <a:cs typeface="Calibri"/>
              </a:defRPr>
            </a:lvl3pPr>
            <a:lvl4pPr>
              <a:defRPr sz="2025" b="0">
                <a:solidFill>
                  <a:srgbClr val="F9F7F1"/>
                </a:solidFill>
                <a:latin typeface="Calibri"/>
                <a:ea typeface="Calibri"/>
                <a:cs typeface="Calibri"/>
              </a:defRPr>
            </a:lvl4pPr>
            <a:lvl5pPr>
              <a:defRPr sz="2025" b="0">
                <a:solidFill>
                  <a:srgbClr val="F9F7F1"/>
                </a:solidFill>
                <a:latin typeface="Calibri"/>
                <a:ea typeface="Calibri"/>
                <a:cs typeface="Calibri"/>
              </a:defRPr>
            </a:lvl5pPr>
            <a:lvl6pPr>
              <a:defRPr sz="2025" b="0">
                <a:solidFill>
                  <a:srgbClr val="F9F7F1"/>
                </a:solidFill>
                <a:latin typeface="Calibri"/>
                <a:ea typeface="Calibri"/>
                <a:cs typeface="Calibri"/>
              </a:defRPr>
            </a:lvl6pPr>
            <a:lvl7pPr>
              <a:defRPr sz="2025" b="0">
                <a:solidFill>
                  <a:srgbClr val="F9F7F1"/>
                </a:solidFill>
                <a:latin typeface="Calibri"/>
                <a:ea typeface="Calibri"/>
                <a:cs typeface="Calibri"/>
              </a:defRPr>
            </a:lvl7pPr>
            <a:lvl8pPr>
              <a:defRPr sz="2025" b="0">
                <a:solidFill>
                  <a:srgbClr val="F9F7F1"/>
                </a:solidFill>
                <a:latin typeface="Calibri"/>
                <a:ea typeface="Calibri"/>
                <a:cs typeface="Calibri"/>
              </a:defRPr>
            </a:lvl8pPr>
            <a:lvl9pPr>
              <a:defRPr sz="2025" b="0">
                <a:solidFill>
                  <a:srgbClr val="F9F7F1"/>
                </a:solidFill>
                <a:latin typeface="Calibri"/>
                <a:ea typeface="Calibri"/>
                <a:cs typeface="Calibri"/>
              </a:defRPr>
            </a:lvl9pPr>
          </a:lstStyle>
          <a:p xmlns:a="http://schemas.openxmlformats.org/drawingml/2006/main">
            <a:pPr>
              <a:defRPr sz="2025" b="0">
                <a:solidFill>
                  <a:srgbClr val="F9F7F1"/>
                </a:solidFill>
                <a:latin typeface="Calibri"/>
                <a:ea typeface="Calibri"/>
                <a:cs typeface="Calibri"/>
              </a:defRPr>
            </a:pPr>
            <a:r>
              <a:rPr sz="2025" b="0">
                <a:solidFill>
                  <a:srgbClr val="F9F7F1"/>
                </a:solidFill>
                <a:latin typeface="Calibri"/>
                <a:ea typeface="Calibri"/>
                <a:cs typeface="Calibri"/>
              </a:rPr>
              <a:t>Repeat until &lt;EOS&gt; or an explicit limit</a:t>
            </a:r>
          </a:p>
        </p:txBody>
      </p:sp>
      <p:sp>
        <p:nvSpPr>
          <p:cNvPr id="8" name="body">
            <a:extLst xmlns:a="http://schemas.openxmlformats.org/drawingml/2006/main">
              <a:ext uri="{FF2B5EF4-FFF2-40B4-BE49-F238E27FC236}">
                <a16:creationId xmlns:a16="http://schemas.microsoft.com/office/drawing/2014/main" id="{21B989CC-4842-4EC0-B5AE-BE6E08C652EE}"/>
              </a:ext>
            </a:extLst>
          </p:cNvPr>
          <p:cNvSpPr>
            <a:spLocks xmlns:a="http://schemas.openxmlformats.org/drawingml/2006/main" noGrp="1"/>
          </p:cNvSpPr>
          <p:nvPr/>
        </p:nvSpPr>
        <p:spPr>
          <a:xfrm xmlns:a="http://schemas.openxmlformats.org/drawingml/2006/main">
            <a:off x="6429375" y="302895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F9F7F1"/>
                </a:solidFill>
                <a:latin typeface="Calibri"/>
                <a:ea typeface="Calibri"/>
                <a:cs typeface="Calibri"/>
              </a:defRPr>
            </a:defPPr>
            <a:lvl1pPr>
              <a:defRPr sz="2025" b="0">
                <a:solidFill>
                  <a:srgbClr val="F9F7F1"/>
                </a:solidFill>
                <a:latin typeface="Calibri"/>
                <a:ea typeface="Calibri"/>
                <a:cs typeface="Calibri"/>
              </a:defRPr>
            </a:lvl1pPr>
            <a:lvl2pPr>
              <a:defRPr sz="2025" b="0">
                <a:solidFill>
                  <a:srgbClr val="F9F7F1"/>
                </a:solidFill>
                <a:latin typeface="Calibri"/>
                <a:ea typeface="Calibri"/>
                <a:cs typeface="Calibri"/>
              </a:defRPr>
            </a:lvl2pPr>
            <a:lvl3pPr>
              <a:defRPr sz="2025" b="0">
                <a:solidFill>
                  <a:srgbClr val="F9F7F1"/>
                </a:solidFill>
                <a:latin typeface="Calibri"/>
                <a:ea typeface="Calibri"/>
                <a:cs typeface="Calibri"/>
              </a:defRPr>
            </a:lvl3pPr>
            <a:lvl4pPr>
              <a:defRPr sz="2025" b="0">
                <a:solidFill>
                  <a:srgbClr val="F9F7F1"/>
                </a:solidFill>
                <a:latin typeface="Calibri"/>
                <a:ea typeface="Calibri"/>
                <a:cs typeface="Calibri"/>
              </a:defRPr>
            </a:lvl4pPr>
            <a:lvl5pPr>
              <a:defRPr sz="2025" b="0">
                <a:solidFill>
                  <a:srgbClr val="F9F7F1"/>
                </a:solidFill>
                <a:latin typeface="Calibri"/>
                <a:ea typeface="Calibri"/>
                <a:cs typeface="Calibri"/>
              </a:defRPr>
            </a:lvl5pPr>
            <a:lvl6pPr>
              <a:defRPr sz="2025" b="0">
                <a:solidFill>
                  <a:srgbClr val="F9F7F1"/>
                </a:solidFill>
                <a:latin typeface="Calibri"/>
                <a:ea typeface="Calibri"/>
                <a:cs typeface="Calibri"/>
              </a:defRPr>
            </a:lvl6pPr>
            <a:lvl7pPr>
              <a:defRPr sz="2025" b="0">
                <a:solidFill>
                  <a:srgbClr val="F9F7F1"/>
                </a:solidFill>
                <a:latin typeface="Calibri"/>
                <a:ea typeface="Calibri"/>
                <a:cs typeface="Calibri"/>
              </a:defRPr>
            </a:lvl7pPr>
            <a:lvl8pPr>
              <a:defRPr sz="2025" b="0">
                <a:solidFill>
                  <a:srgbClr val="F9F7F1"/>
                </a:solidFill>
                <a:latin typeface="Calibri"/>
                <a:ea typeface="Calibri"/>
                <a:cs typeface="Calibri"/>
              </a:defRPr>
            </a:lvl8pPr>
            <a:lvl9pPr>
              <a:defRPr sz="2025" b="0">
                <a:solidFill>
                  <a:srgbClr val="F9F7F1"/>
                </a:solidFill>
                <a:latin typeface="Calibri"/>
                <a:ea typeface="Calibri"/>
                <a:cs typeface="Calibri"/>
              </a:defRPr>
            </a:lvl9pPr>
          </a:lstStyle>
          <a:p xmlns:a="http://schemas.openxmlformats.org/drawingml/2006/main">
            <a:pPr>
              <a:defRPr sz="2025" b="0">
                <a:solidFill>
                  <a:srgbClr val="F9F7F1"/>
                </a:solidFill>
                <a:latin typeface="Calibri"/>
                <a:ea typeface="Calibri"/>
                <a:cs typeface="Calibri"/>
              </a:defRPr>
            </a:pPr>
            <a:r>
              <a:rPr sz="2025" b="0">
                <a:solidFill>
                  <a:srgbClr val="F9F7F1"/>
                </a:solidFill>
                <a:latin typeface="Calibri"/>
                <a:ea typeface="Calibri"/>
                <a:cs typeface="Calibri"/>
              </a:rPr>
              <a:t>pᵢ = exp(zᵢ / T) / Σⱼ exp(zⱼ / T)</a:t>
            </a:r>
          </a:p>
        </p:txBody>
      </p:sp>
      <p:sp>
        <p:nvSpPr>
          <p:cNvPr id="9" name="body">
            <a:extLst xmlns:a="http://schemas.openxmlformats.org/drawingml/2006/main">
              <a:ext uri="{FF2B5EF4-FFF2-40B4-BE49-F238E27FC236}">
                <a16:creationId xmlns:a16="http://schemas.microsoft.com/office/drawing/2014/main" id="{61C18C59-57D6-46D5-805C-199AAC59A83A}"/>
              </a:ext>
            </a:extLst>
          </p:cNvPr>
          <p:cNvSpPr>
            <a:spLocks xmlns:a="http://schemas.openxmlformats.org/drawingml/2006/main" noGrp="1"/>
          </p:cNvSpPr>
          <p:nvPr/>
        </p:nvSpPr>
        <p:spPr>
          <a:xfrm xmlns:a="http://schemas.openxmlformats.org/drawingml/2006/main">
            <a:off x="6429375" y="3895725"/>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F9F7F1"/>
                </a:solidFill>
                <a:latin typeface="Calibri"/>
                <a:ea typeface="Calibri"/>
                <a:cs typeface="Calibri"/>
              </a:defRPr>
            </a:defPPr>
            <a:lvl1pPr>
              <a:defRPr sz="2025" b="0">
                <a:solidFill>
                  <a:srgbClr val="F9F7F1"/>
                </a:solidFill>
                <a:latin typeface="Calibri"/>
                <a:ea typeface="Calibri"/>
                <a:cs typeface="Calibri"/>
              </a:defRPr>
            </a:lvl1pPr>
            <a:lvl2pPr>
              <a:defRPr sz="2025" b="0">
                <a:solidFill>
                  <a:srgbClr val="F9F7F1"/>
                </a:solidFill>
                <a:latin typeface="Calibri"/>
                <a:ea typeface="Calibri"/>
                <a:cs typeface="Calibri"/>
              </a:defRPr>
            </a:lvl2pPr>
            <a:lvl3pPr>
              <a:defRPr sz="2025" b="0">
                <a:solidFill>
                  <a:srgbClr val="F9F7F1"/>
                </a:solidFill>
                <a:latin typeface="Calibri"/>
                <a:ea typeface="Calibri"/>
                <a:cs typeface="Calibri"/>
              </a:defRPr>
            </a:lvl3pPr>
            <a:lvl4pPr>
              <a:defRPr sz="2025" b="0">
                <a:solidFill>
                  <a:srgbClr val="F9F7F1"/>
                </a:solidFill>
                <a:latin typeface="Calibri"/>
                <a:ea typeface="Calibri"/>
                <a:cs typeface="Calibri"/>
              </a:defRPr>
            </a:lvl4pPr>
            <a:lvl5pPr>
              <a:defRPr sz="2025" b="0">
                <a:solidFill>
                  <a:srgbClr val="F9F7F1"/>
                </a:solidFill>
                <a:latin typeface="Calibri"/>
                <a:ea typeface="Calibri"/>
                <a:cs typeface="Calibri"/>
              </a:defRPr>
            </a:lvl5pPr>
            <a:lvl6pPr>
              <a:defRPr sz="2025" b="0">
                <a:solidFill>
                  <a:srgbClr val="F9F7F1"/>
                </a:solidFill>
                <a:latin typeface="Calibri"/>
                <a:ea typeface="Calibri"/>
                <a:cs typeface="Calibri"/>
              </a:defRPr>
            </a:lvl6pPr>
            <a:lvl7pPr>
              <a:defRPr sz="2025" b="0">
                <a:solidFill>
                  <a:srgbClr val="F9F7F1"/>
                </a:solidFill>
                <a:latin typeface="Calibri"/>
                <a:ea typeface="Calibri"/>
                <a:cs typeface="Calibri"/>
              </a:defRPr>
            </a:lvl7pPr>
            <a:lvl8pPr>
              <a:defRPr sz="2025" b="0">
                <a:solidFill>
                  <a:srgbClr val="F9F7F1"/>
                </a:solidFill>
                <a:latin typeface="Calibri"/>
                <a:ea typeface="Calibri"/>
                <a:cs typeface="Calibri"/>
              </a:defRPr>
            </a:lvl8pPr>
            <a:lvl9pPr>
              <a:defRPr sz="2025" b="0">
                <a:solidFill>
                  <a:srgbClr val="F9F7F1"/>
                </a:solidFill>
                <a:latin typeface="Calibri"/>
                <a:ea typeface="Calibri"/>
                <a:cs typeface="Calibri"/>
              </a:defRPr>
            </a:lvl9pPr>
          </a:lstStyle>
          <a:p xmlns:a="http://schemas.openxmlformats.org/drawingml/2006/main">
            <a:pPr>
              <a:defRPr sz="2025" b="0">
                <a:solidFill>
                  <a:srgbClr val="F9F7F1"/>
                </a:solidFill>
                <a:latin typeface="Calibri"/>
                <a:ea typeface="Calibri"/>
                <a:cs typeface="Calibri"/>
              </a:defRPr>
            </a:pPr>
            <a:r>
              <a:rPr sz="2025" b="0">
                <a:solidFill>
                  <a:srgbClr val="F9F7F1"/>
                </a:solidFill>
                <a:latin typeface="Calibri"/>
                <a:ea typeface="Calibri"/>
                <a:cs typeface="Calibri"/>
              </a:rPr>
              <a:t>Lower T concentrates probability on larger logits</a:t>
            </a:r>
          </a:p>
        </p:txBody>
      </p:sp>
      <p:sp>
        <p:nvSpPr>
          <p:cNvPr id="10" name="body">
            <a:extLst xmlns:a="http://schemas.openxmlformats.org/drawingml/2006/main">
              <a:ext uri="{FF2B5EF4-FFF2-40B4-BE49-F238E27FC236}">
                <a16:creationId xmlns:a16="http://schemas.microsoft.com/office/drawing/2014/main" id="{980E882E-CAEE-4E16-BF27-DE8178213651}"/>
              </a:ext>
            </a:extLst>
          </p:cNvPr>
          <p:cNvSpPr>
            <a:spLocks xmlns:a="http://schemas.openxmlformats.org/drawingml/2006/main" noGrp="1"/>
          </p:cNvSpPr>
          <p:nvPr/>
        </p:nvSpPr>
        <p:spPr>
          <a:xfrm xmlns:a="http://schemas.openxmlformats.org/drawingml/2006/main">
            <a:off x="6429375" y="476250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F9F7F1"/>
                </a:solidFill>
                <a:latin typeface="Calibri"/>
                <a:ea typeface="Calibri"/>
                <a:cs typeface="Calibri"/>
              </a:defRPr>
            </a:defPPr>
            <a:lvl1pPr>
              <a:defRPr sz="2025" b="0">
                <a:solidFill>
                  <a:srgbClr val="F9F7F1"/>
                </a:solidFill>
                <a:latin typeface="Calibri"/>
                <a:ea typeface="Calibri"/>
                <a:cs typeface="Calibri"/>
              </a:defRPr>
            </a:lvl1pPr>
            <a:lvl2pPr>
              <a:defRPr sz="2025" b="0">
                <a:solidFill>
                  <a:srgbClr val="F9F7F1"/>
                </a:solidFill>
                <a:latin typeface="Calibri"/>
                <a:ea typeface="Calibri"/>
                <a:cs typeface="Calibri"/>
              </a:defRPr>
            </a:lvl2pPr>
            <a:lvl3pPr>
              <a:defRPr sz="2025" b="0">
                <a:solidFill>
                  <a:srgbClr val="F9F7F1"/>
                </a:solidFill>
                <a:latin typeface="Calibri"/>
                <a:ea typeface="Calibri"/>
                <a:cs typeface="Calibri"/>
              </a:defRPr>
            </a:lvl3pPr>
            <a:lvl4pPr>
              <a:defRPr sz="2025" b="0">
                <a:solidFill>
                  <a:srgbClr val="F9F7F1"/>
                </a:solidFill>
                <a:latin typeface="Calibri"/>
                <a:ea typeface="Calibri"/>
                <a:cs typeface="Calibri"/>
              </a:defRPr>
            </a:lvl4pPr>
            <a:lvl5pPr>
              <a:defRPr sz="2025" b="0">
                <a:solidFill>
                  <a:srgbClr val="F9F7F1"/>
                </a:solidFill>
                <a:latin typeface="Calibri"/>
                <a:ea typeface="Calibri"/>
                <a:cs typeface="Calibri"/>
              </a:defRPr>
            </a:lvl5pPr>
            <a:lvl6pPr>
              <a:defRPr sz="2025" b="0">
                <a:solidFill>
                  <a:srgbClr val="F9F7F1"/>
                </a:solidFill>
                <a:latin typeface="Calibri"/>
                <a:ea typeface="Calibri"/>
                <a:cs typeface="Calibri"/>
              </a:defRPr>
            </a:lvl6pPr>
            <a:lvl7pPr>
              <a:defRPr sz="2025" b="0">
                <a:solidFill>
                  <a:srgbClr val="F9F7F1"/>
                </a:solidFill>
                <a:latin typeface="Calibri"/>
                <a:ea typeface="Calibri"/>
                <a:cs typeface="Calibri"/>
              </a:defRPr>
            </a:lvl7pPr>
            <a:lvl8pPr>
              <a:defRPr sz="2025" b="0">
                <a:solidFill>
                  <a:srgbClr val="F9F7F1"/>
                </a:solidFill>
                <a:latin typeface="Calibri"/>
                <a:ea typeface="Calibri"/>
                <a:cs typeface="Calibri"/>
              </a:defRPr>
            </a:lvl8pPr>
            <a:lvl9pPr>
              <a:defRPr sz="2025" b="0">
                <a:solidFill>
                  <a:srgbClr val="F9F7F1"/>
                </a:solidFill>
                <a:latin typeface="Calibri"/>
                <a:ea typeface="Calibri"/>
                <a:cs typeface="Calibri"/>
              </a:defRPr>
            </a:lvl9pPr>
          </a:lstStyle>
          <a:p xmlns:a="http://schemas.openxmlformats.org/drawingml/2006/main">
            <a:pPr>
              <a:defRPr sz="2025" b="0">
                <a:solidFill>
                  <a:srgbClr val="F9F7F1"/>
                </a:solidFill>
                <a:latin typeface="Calibri"/>
                <a:ea typeface="Calibri"/>
                <a:cs typeface="Calibri"/>
              </a:defRPr>
            </a:pPr>
            <a:r>
              <a:rPr sz="2025" b="0">
                <a:solidFill>
                  <a:srgbClr val="F9F7F1"/>
                </a:solidFill>
                <a:latin typeface="Calibri"/>
                <a:ea typeface="Calibri"/>
                <a:cs typeface="Calibri"/>
              </a:rPr>
              <a:t>Greedy argmax is unchanged for every T &gt; 0</a:t>
            </a:r>
          </a:p>
        </p:txBody>
      </p:sp>
      <p:sp>
        <p:nvSpPr>
          <p:cNvPr id="11" name="body">
            <a:extLst xmlns:a="http://schemas.openxmlformats.org/drawingml/2006/main">
              <a:ext uri="{FF2B5EF4-FFF2-40B4-BE49-F238E27FC236}">
                <a16:creationId xmlns:a16="http://schemas.microsoft.com/office/drawing/2014/main" id="{4CCE1210-3011-4B33-A4CE-912250484E56}"/>
              </a:ext>
            </a:extLst>
          </p:cNvPr>
          <p:cNvSpPr>
            <a:spLocks xmlns:a="http://schemas.openxmlformats.org/drawingml/2006/main" noGrp="1"/>
          </p:cNvSpPr>
          <p:nvPr/>
        </p:nvSpPr>
        <p:spPr>
          <a:xfrm xmlns:a="http://schemas.openxmlformats.org/drawingml/2006/main">
            <a:off x="685800" y="59817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CAD7D8"/>
                </a:solidFill>
                <a:latin typeface="Calibri"/>
                <a:ea typeface="Calibri"/>
                <a:cs typeface="Calibri"/>
              </a:defRPr>
            </a:defPPr>
            <a:lvl1pPr>
              <a:defRPr sz="1650" b="0">
                <a:solidFill>
                  <a:srgbClr val="CAD7D8"/>
                </a:solidFill>
                <a:latin typeface="Calibri"/>
                <a:ea typeface="Calibri"/>
                <a:cs typeface="Calibri"/>
              </a:defRPr>
            </a:lvl1pPr>
            <a:lvl2pPr>
              <a:defRPr sz="1650" b="0">
                <a:solidFill>
                  <a:srgbClr val="CAD7D8"/>
                </a:solidFill>
                <a:latin typeface="Calibri"/>
                <a:ea typeface="Calibri"/>
                <a:cs typeface="Calibri"/>
              </a:defRPr>
            </a:lvl2pPr>
            <a:lvl3pPr>
              <a:defRPr sz="1650" b="0">
                <a:solidFill>
                  <a:srgbClr val="CAD7D8"/>
                </a:solidFill>
                <a:latin typeface="Calibri"/>
                <a:ea typeface="Calibri"/>
                <a:cs typeface="Calibri"/>
              </a:defRPr>
            </a:lvl3pPr>
            <a:lvl4pPr>
              <a:defRPr sz="1650" b="0">
                <a:solidFill>
                  <a:srgbClr val="CAD7D8"/>
                </a:solidFill>
                <a:latin typeface="Calibri"/>
                <a:ea typeface="Calibri"/>
                <a:cs typeface="Calibri"/>
              </a:defRPr>
            </a:lvl4pPr>
            <a:lvl5pPr>
              <a:defRPr sz="1650" b="0">
                <a:solidFill>
                  <a:srgbClr val="CAD7D8"/>
                </a:solidFill>
                <a:latin typeface="Calibri"/>
                <a:ea typeface="Calibri"/>
                <a:cs typeface="Calibri"/>
              </a:defRPr>
            </a:lvl5pPr>
            <a:lvl6pPr>
              <a:defRPr sz="1650" b="0">
                <a:solidFill>
                  <a:srgbClr val="CAD7D8"/>
                </a:solidFill>
                <a:latin typeface="Calibri"/>
                <a:ea typeface="Calibri"/>
                <a:cs typeface="Calibri"/>
              </a:defRPr>
            </a:lvl6pPr>
            <a:lvl7pPr>
              <a:defRPr sz="1650" b="0">
                <a:solidFill>
                  <a:srgbClr val="CAD7D8"/>
                </a:solidFill>
                <a:latin typeface="Calibri"/>
                <a:ea typeface="Calibri"/>
                <a:cs typeface="Calibri"/>
              </a:defRPr>
            </a:lvl7pPr>
            <a:lvl8pPr>
              <a:defRPr sz="1650" b="0">
                <a:solidFill>
                  <a:srgbClr val="CAD7D8"/>
                </a:solidFill>
                <a:latin typeface="Calibri"/>
                <a:ea typeface="Calibri"/>
                <a:cs typeface="Calibri"/>
              </a:defRPr>
            </a:lvl8pPr>
            <a:lvl9pPr>
              <a:defRPr sz="1650" b="0">
                <a:solidFill>
                  <a:srgbClr val="CAD7D8"/>
                </a:solidFill>
                <a:latin typeface="Calibri"/>
                <a:ea typeface="Calibri"/>
                <a:cs typeface="Calibri"/>
              </a:defRPr>
            </a:lvl9pPr>
          </a:lstStyle>
          <a:p xmlns:a="http://schemas.openxmlformats.org/drawingml/2006/main">
            <a:pPr>
              <a:defRPr sz="1650" b="0">
                <a:solidFill>
                  <a:srgbClr val="CAD7D8"/>
                </a:solidFill>
                <a:latin typeface="Calibri"/>
                <a:ea typeface="Calibri"/>
                <a:cs typeface="Calibri"/>
              </a:defRPr>
            </a:pPr>
            <a:r>
              <a:rPr sz="1650" b="0">
                <a:solidFill>
                  <a:srgbClr val="CAD7D8"/>
                </a:solidFill>
                <a:latin typeface="Calibri"/>
                <a:ea typeface="Calibri"/>
                <a:cs typeface="Calibri"/>
              </a:rPr>
              <a:t>A temperature experiment must hold the sampling method constant</a:t>
            </a:r>
          </a:p>
        </p:txBody>
      </p:sp>
    </p:spTree>
    <p:extLst>
      <p:ext uri="{BB962C8B-B14F-4D97-AF65-F5344CB8AC3E}">
        <p14:creationId xmlns:p14="http://schemas.microsoft.com/office/powerpoint/2010/main" val="1170522625"/>
      </p:ext>
    </p:extLst>
  </p:cSld>
</p:sld>
</file>

<file path=ppt/slides/slide1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A1FBEA8E-ED97-4918-A5D7-F730CAF0FBF4}"/>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The Mitra baseline comparison</a:t>
            </a:r>
          </a:p>
        </p:txBody>
      </p:sp>
      <p:sp>
        <p:nvSpPr>
          <p:cNvPr id="2" name="subtitle">
            <a:extLst xmlns:a="http://schemas.openxmlformats.org/drawingml/2006/main">
              <a:ext uri="{FF2B5EF4-FFF2-40B4-BE49-F238E27FC236}">
                <a16:creationId xmlns:a16="http://schemas.microsoft.com/office/drawing/2014/main" id="{9A0B6F4A-E240-4382-8A2C-E7713B42BC4D}"/>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Planned experiments on the same frozen data split</a:t>
            </a:r>
          </a:p>
        </p:txBody>
      </p:sp>
      <p:sp>
        <p:nvSpPr>
          <p:cNvPr id="3" name="page-number">
            <a:extLst xmlns:a="http://schemas.openxmlformats.org/drawingml/2006/main">
              <a:ext uri="{FF2B5EF4-FFF2-40B4-BE49-F238E27FC236}">
                <a16:creationId xmlns:a16="http://schemas.microsoft.com/office/drawing/2014/main" id="{D62D4544-4145-40E5-9B0D-28068A49629E}"/>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17</a:t>
            </a:r>
          </a:p>
        </p:txBody>
      </p:sp>
      <p:graphicFrame>
        <p:nvGraphicFramePr>
          <p:cNvPr id="4" name="">
            <a:extLst xmlns:a="http://schemas.openxmlformats.org/drawingml/2006/main">
              <a:ext uri="{FF2B5EF4-FFF2-40B4-BE49-F238E27FC236}">
                <a16:creationId xmlns:a16="http://schemas.microsoft.com/office/drawing/2014/main" id="{8B69C686-2281-4FCD-ADF4-7A8E5C73543D}"/>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1143000"/>
                <a:gridCol w="5048250"/>
                <a:gridCol w="4629150"/>
              </a:tblGrid>
              <a:tr h="742950">
                <a:tc>
                  <a:txBody>
                    <a:bodyPr/>
                    <a:lstStyle/>
                    <a:p>
                      <a:r>
                        <a:rPr sz="1650" b="1">
                          <a:solidFill>
                            <a:srgbClr val="F9F7F1"/>
                          </a:solidFill>
                          <a:latin typeface="Calibri"/>
                          <a:ea typeface="Calibri"/>
                          <a:cs typeface="Calibri"/>
                        </a:rPr>
                        <a:t>Model</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Architecture</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Question</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A</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Token + position embeddings, linear head</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How far can local output patterns go?</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B</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One causal attention head with residual</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What does access to source context add?</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C</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Two complete decoder blocks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What does the full small GPT add?</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Rules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Deterministic structured redaction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How does the learning model compare on this task?</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5FDF3760-E932-4B4B-B7B1-0F01FA4A2152}"/>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Report parameter counts, training budget, validation selection and full-sequence outputs</a:t>
            </a:r>
          </a:p>
        </p:txBody>
      </p:sp>
    </p:spTree>
    <p:extLst>
      <p:ext uri="{BB962C8B-B14F-4D97-AF65-F5344CB8AC3E}">
        <p14:creationId xmlns:p14="http://schemas.microsoft.com/office/powerpoint/2010/main" val="808678933"/>
      </p:ext>
    </p:extLst>
  </p:cSld>
</p:sld>
</file>

<file path=ppt/slides/slide1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EE73C699-A938-424B-8B40-CF4E33A932E5}"/>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Week 5: a modest measured improvement</a:t>
            </a:r>
          </a:p>
        </p:txBody>
      </p:sp>
      <p:sp>
        <p:nvSpPr>
          <p:cNvPr id="2" name="subtitle">
            <a:extLst xmlns:a="http://schemas.openxmlformats.org/drawingml/2006/main">
              <a:ext uri="{FF2B5EF4-FFF2-40B4-BE49-F238E27FC236}">
                <a16:creationId xmlns:a16="http://schemas.microsoft.com/office/drawing/2014/main" id="{0BCEDA35-3D01-4A42-BA1B-93D59725CA2A}"/>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Saved next-token evaluation on synthetic workflow sequences</a:t>
            </a:r>
          </a:p>
        </p:txBody>
      </p:sp>
      <p:sp>
        <p:nvSpPr>
          <p:cNvPr id="3" name="page-number">
            <a:extLst xmlns:a="http://schemas.openxmlformats.org/drawingml/2006/main">
              <a:ext uri="{FF2B5EF4-FFF2-40B4-BE49-F238E27FC236}">
                <a16:creationId xmlns:a16="http://schemas.microsoft.com/office/drawing/2014/main" id="{5F0D5C2E-9CF8-4E78-A06A-BF8E5ECA6832}"/>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18</a:t>
            </a:r>
          </a:p>
        </p:txBody>
      </p:sp>
      <p:graphicFrame>
        <p:nvGraphicFramePr>
          <p:cNvPr id="4" name="">
            <a:extLst xmlns:a="http://schemas.openxmlformats.org/drawingml/2006/main">
              <a:ext uri="{FF2B5EF4-FFF2-40B4-BE49-F238E27FC236}">
                <a16:creationId xmlns:a16="http://schemas.microsoft.com/office/drawing/2014/main" id="{6A05C3E1-9861-4F33-9404-E8613661C7BC}"/>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3143250"/>
                <a:gridCol w="1714500"/>
                <a:gridCol w="2190750"/>
                <a:gridCol w="1905000"/>
                <a:gridCol w="1866900"/>
              </a:tblGrid>
              <a:tr h="742950">
                <a:tc>
                  <a:txBody>
                    <a:bodyPr/>
                    <a:lstStyle/>
                    <a:p>
                      <a:r>
                        <a:rPr sz="1650" b="1">
                          <a:solidFill>
                            <a:srgbClr val="F9F7F1"/>
                          </a:solidFill>
                          <a:latin typeface="Calibri"/>
                          <a:ea typeface="Calibri"/>
                          <a:cs typeface="Calibri"/>
                        </a:rPr>
                        <a:t>Architecture</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Parameters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Accuracy: mean ± SD</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Test loss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Macro F1</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A: embedding + linear</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1,911</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69.69% ± 0.77</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1.547</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0.407</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B: one attention head</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4,239</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64.06% ± 3.56</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2.073</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0.355</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C: four attention heads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4,239</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62.81% ± 3.62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2.234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0.326</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D: two full blocks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16,215</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70.94% ± 1.25</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1.478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0.442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60F97A00-F24A-405D-8C8D-3FE0150C36F0}"/>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5 initialization seeds, one split, 64 scored test tokens per run. These are Week 5 results</a:t>
            </a:r>
          </a:p>
        </p:txBody>
      </p:sp>
    </p:spTree>
    <p:extLst>
      <p:ext uri="{BB962C8B-B14F-4D97-AF65-F5344CB8AC3E}">
        <p14:creationId xmlns:p14="http://schemas.microsoft.com/office/powerpoint/2010/main" val="1234734712"/>
      </p:ext>
    </p:extLst>
  </p:cSld>
</p:sld>
</file>

<file path=ppt/slides/slide1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082FD589-28C5-4960-AF6C-FFF9A176EFB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Week 5: component trade-offs</a:t>
            </a:r>
          </a:p>
        </p:txBody>
      </p:sp>
      <p:sp>
        <p:nvSpPr>
          <p:cNvPr id="2" name="subtitle">
            <a:extLst xmlns:a="http://schemas.openxmlformats.org/drawingml/2006/main">
              <a:ext uri="{FF2B5EF4-FFF2-40B4-BE49-F238E27FC236}">
                <a16:creationId xmlns:a16="http://schemas.microsoft.com/office/drawing/2014/main" id="{240387F1-8A9B-4DBF-98F9-6FB9A229A126}"/>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metric chosen changes the comparison</a:t>
            </a:r>
          </a:p>
        </p:txBody>
      </p:sp>
      <p:sp>
        <p:nvSpPr>
          <p:cNvPr id="3" name="page-number">
            <a:extLst xmlns:a="http://schemas.openxmlformats.org/drawingml/2006/main">
              <a:ext uri="{FF2B5EF4-FFF2-40B4-BE49-F238E27FC236}">
                <a16:creationId xmlns:a16="http://schemas.microsoft.com/office/drawing/2014/main" id="{A8DB8DA0-1A68-44B2-9E07-4CA8FE94290C}"/>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19</a:t>
            </a:r>
          </a:p>
        </p:txBody>
      </p:sp>
      <p:graphicFrame>
        <p:nvGraphicFramePr>
          <p:cNvPr id="4" name="">
            <a:extLst xmlns:a="http://schemas.openxmlformats.org/drawingml/2006/main">
              <a:ext uri="{FF2B5EF4-FFF2-40B4-BE49-F238E27FC236}">
                <a16:creationId xmlns:a16="http://schemas.microsoft.com/office/drawing/2014/main" id="{6F98C266-E18A-4AA4-8F22-517F6DAF1BF9}"/>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857500"/>
                <a:gridCol w="2000250"/>
                <a:gridCol w="1809750"/>
                <a:gridCol w="4152900"/>
              </a:tblGrid>
              <a:tr h="742950">
                <a:tc>
                  <a:txBody>
                    <a:bodyPr/>
                    <a:lstStyle/>
                    <a:p>
                      <a:r>
                        <a:rPr sz="1650" b="1">
                          <a:solidFill>
                            <a:srgbClr val="F9F7F1"/>
                          </a:solidFill>
                          <a:latin typeface="Calibri"/>
                          <a:ea typeface="Calibri"/>
                          <a:cs typeface="Calibri"/>
                        </a:rPr>
                        <a:t>Variant</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Test accuracy</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Test loss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Observed limitation</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Full model</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70.94%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1.478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Reference comparison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Without FFN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70.94%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1.694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Same accuracy, worse loss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Without LayerNorm</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68.13%</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1.816</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Lower accuracy, worse loss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Without residuals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67.81%</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1.473</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Lower accuracy, slightly lower loss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4592B192-B9DE-4A89-A260-1CC8E9045EB2}"/>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The no-FFN branch also removes its associated LayerNorm in this implementation</a:t>
            </a:r>
          </a:p>
        </p:txBody>
      </p:sp>
    </p:spTree>
    <p:extLst>
      <p:ext uri="{BB962C8B-B14F-4D97-AF65-F5344CB8AC3E}">
        <p14:creationId xmlns:p14="http://schemas.microsoft.com/office/powerpoint/2010/main" val="1766398496"/>
      </p:ext>
    </p:extLst>
  </p:cSld>
</p:sld>
</file>

<file path=ppt/slides/slide2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0D45F22C-BCF9-4956-8FCB-12C25882578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Generalization requires distinct test conditions</a:t>
            </a:r>
          </a:p>
        </p:txBody>
      </p:sp>
      <p:sp>
        <p:nvSpPr>
          <p:cNvPr id="2" name="subtitle">
            <a:extLst xmlns:a="http://schemas.openxmlformats.org/drawingml/2006/main">
              <a:ext uri="{FF2B5EF4-FFF2-40B4-BE49-F238E27FC236}">
                <a16:creationId xmlns:a16="http://schemas.microsoft.com/office/drawing/2014/main" id="{D6548A23-072E-48F0-8A6F-AB2EA6B8CEF0}"/>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Names, layouts and vocabulary coverage test different capabilities</a:t>
            </a:r>
          </a:p>
        </p:txBody>
      </p:sp>
      <p:sp>
        <p:nvSpPr>
          <p:cNvPr id="3" name="page-number">
            <a:extLst xmlns:a="http://schemas.openxmlformats.org/drawingml/2006/main">
              <a:ext uri="{FF2B5EF4-FFF2-40B4-BE49-F238E27FC236}">
                <a16:creationId xmlns:a16="http://schemas.microsoft.com/office/drawing/2014/main" id="{E620D877-07B4-4D74-8D1B-1C94C73405E2}"/>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20</a:t>
            </a:r>
          </a:p>
        </p:txBody>
      </p:sp>
      <p:graphicFrame>
        <p:nvGraphicFramePr>
          <p:cNvPr id="4" name="">
            <a:extLst xmlns:a="http://schemas.openxmlformats.org/drawingml/2006/main">
              <a:ext uri="{FF2B5EF4-FFF2-40B4-BE49-F238E27FC236}">
                <a16:creationId xmlns:a16="http://schemas.microsoft.com/office/drawing/2014/main" id="{2AFF530C-60C1-4E1F-92C2-5976312D0B6B}"/>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381250"/>
                <a:gridCol w="4000500"/>
                <a:gridCol w="4438650"/>
              </a:tblGrid>
              <a:tr h="742950">
                <a:tc>
                  <a:txBody>
                    <a:bodyPr/>
                    <a:lstStyle/>
                    <a:p>
                      <a:r>
                        <a:rPr sz="1650" b="1">
                          <a:solidFill>
                            <a:srgbClr val="F9F7F1"/>
                          </a:solidFill>
                          <a:latin typeface="Calibri"/>
                          <a:ea typeface="Calibri"/>
                          <a:cs typeface="Calibri"/>
                        </a:rPr>
                        <a:t>Test partition</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What changes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What it can establish</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Familiar distribution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New examples from known templates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Basic task fit and complete generation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Unseen identifiers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Held-out names and exact IDs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Behavior beyond training identifiers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Unseen templates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Held-out field order or sentence pattern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Transfer beyond a memorized layout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Combined holdout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New identifiers and a new template</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 harder joint generalization check</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859C4156-889D-4117-8172-B66B77AE3BD2}"/>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Deduplicate pairs, fit vocabulary on training only, and retain an untouched final test set</a:t>
            </a:r>
          </a:p>
        </p:txBody>
      </p:sp>
    </p:spTree>
    <p:extLst>
      <p:ext uri="{BB962C8B-B14F-4D97-AF65-F5344CB8AC3E}">
        <p14:creationId xmlns:p14="http://schemas.microsoft.com/office/powerpoint/2010/main" val="1873228702"/>
      </p:ext>
    </p:extLst>
  </p:cSld>
</p:sld>
</file>

<file path=ppt/slides/slide2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264445E1-B019-4AE6-9186-68C236B54C2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Mitra needs task-specific evaluation</a:t>
            </a:r>
          </a:p>
        </p:txBody>
      </p:sp>
      <p:sp>
        <p:nvSpPr>
          <p:cNvPr id="2" name="subtitle">
            <a:extLst xmlns:a="http://schemas.openxmlformats.org/drawingml/2006/main">
              <a:ext uri="{FF2B5EF4-FFF2-40B4-BE49-F238E27FC236}">
                <a16:creationId xmlns:a16="http://schemas.microsoft.com/office/drawing/2014/main" id="{481942B2-3B7E-4304-9D87-25B4BBD28BE1}"/>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Teacher-forced token accuracy alone cannot describe generated redaction quality</a:t>
            </a:r>
          </a:p>
        </p:txBody>
      </p:sp>
      <p:sp>
        <p:nvSpPr>
          <p:cNvPr id="3" name="page-number">
            <a:extLst xmlns:a="http://schemas.openxmlformats.org/drawingml/2006/main">
              <a:ext uri="{FF2B5EF4-FFF2-40B4-BE49-F238E27FC236}">
                <a16:creationId xmlns:a16="http://schemas.microsoft.com/office/drawing/2014/main" id="{0A0D363F-379B-45F3-A10D-DB8B73A89148}"/>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21</a:t>
            </a:r>
          </a:p>
        </p:txBody>
      </p:sp>
      <p:graphicFrame>
        <p:nvGraphicFramePr>
          <p:cNvPr id="4" name="">
            <a:extLst xmlns:a="http://schemas.openxmlformats.org/drawingml/2006/main">
              <a:ext uri="{FF2B5EF4-FFF2-40B4-BE49-F238E27FC236}">
                <a16:creationId xmlns:a16="http://schemas.microsoft.com/office/drawing/2014/main" id="{D6AFAF4E-48C5-49A5-875F-8B29A1907A3A}"/>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2619375"/>
                <a:gridCol w="4810125"/>
                <a:gridCol w="3390900"/>
              </a:tblGrid>
              <a:tr h="650875">
                <a:tc>
                  <a:txBody>
                    <a:bodyPr/>
                    <a:lstStyle/>
                    <a:p>
                      <a:r>
                        <a:rPr sz="1650" b="1">
                          <a:solidFill>
                            <a:srgbClr val="F9F7F1"/>
                          </a:solidFill>
                          <a:latin typeface="Calibri"/>
                          <a:ea typeface="Calibri"/>
                          <a:cs typeface="Calibri"/>
                        </a:rPr>
                        <a:t>Metric</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Definition</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Failure it reveals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Exact match</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Entire generated target equals reference</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Missing, extra or reordered content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Identifier leakage</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Generated outputs retaining a source identifier / outputs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Under-redaction, even beside a placeholder</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Aligned placeholder P / R</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Correct replacements / generated or required replacements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Wrong type, wrong location, over-redaction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Clinical preservation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Required clinical facts retained / required facts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Lost or altered content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Termination and validity</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EOS, length limits, malformed outputs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Incomplete or uncontrolled generation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849203560"/>
      </p:ext>
    </p:extLst>
  </p:cSld>
</p:sld>
</file>

<file path=ppt/slides/slide2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1029D8F0-6B6D-45D6-963C-1947D30C48C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The demonstration should answer four questions</a:t>
            </a:r>
          </a:p>
        </p:txBody>
      </p:sp>
      <p:sp>
        <p:nvSpPr>
          <p:cNvPr id="2" name="subtitle">
            <a:extLst xmlns:a="http://schemas.openxmlformats.org/drawingml/2006/main">
              <a:ext uri="{FF2B5EF4-FFF2-40B4-BE49-F238E27FC236}">
                <a16:creationId xmlns:a16="http://schemas.microsoft.com/office/drawing/2014/main" id="{DD0B394D-7762-4FD0-B23B-D50AA063C37E}"/>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Planned demonstrations, with recorded outputs retained as a fallback</a:t>
            </a:r>
          </a:p>
        </p:txBody>
      </p:sp>
      <p:sp>
        <p:nvSpPr>
          <p:cNvPr id="3" name="page-number">
            <a:extLst xmlns:a="http://schemas.openxmlformats.org/drawingml/2006/main">
              <a:ext uri="{FF2B5EF4-FFF2-40B4-BE49-F238E27FC236}">
                <a16:creationId xmlns:a16="http://schemas.microsoft.com/office/drawing/2014/main" id="{DDE7A380-5470-486F-B035-BA05A7EAAE28}"/>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22</a:t>
            </a:r>
          </a:p>
        </p:txBody>
      </p:sp>
      <p:graphicFrame>
        <p:nvGraphicFramePr>
          <p:cNvPr id="4" name="">
            <a:extLst xmlns:a="http://schemas.openxmlformats.org/drawingml/2006/main">
              <a:ext uri="{FF2B5EF4-FFF2-40B4-BE49-F238E27FC236}">
                <a16:creationId xmlns:a16="http://schemas.microsoft.com/office/drawing/2014/main" id="{D489701C-0684-4F62-A303-FDD2FC74E99D}"/>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190750"/>
                <a:gridCol w="4248150"/>
                <a:gridCol w="4381500"/>
              </a:tblGrid>
              <a:tr h="742950">
                <a:tc>
                  <a:txBody>
                    <a:bodyPr/>
                    <a:lstStyle/>
                    <a:p>
                      <a:r>
                        <a:rPr sz="1650" b="1">
                          <a:solidFill>
                            <a:srgbClr val="F9F7F1"/>
                          </a:solidFill>
                          <a:latin typeface="Calibri"/>
                          <a:ea typeface="Calibri"/>
                          <a:cs typeface="Calibri"/>
                        </a:rPr>
                        <a:t>Demonstration</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What to show</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Evidence required</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Complete generation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 fresh synthetic note, token by token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Actual output, EOS and preserved fields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Context matters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NSCLC / ASTHMA source pair</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Changed probability at a matched output prefix</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Temperature</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Sampling at 0.1, 0.7 and 1.2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Same checkpoint and decoding method</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Failure and interpretation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One failure plus an inspected attention row</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 counterfactual or ablation that tests the story</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00672438"/>
      </p:ext>
    </p:extLst>
  </p:cSld>
</p:sld>
</file>

<file path=ppt/slides/slide2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081C950F-8ECC-44A0-9216-F4C12FA2D71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Work remaining before the final presentation</a:t>
            </a:r>
          </a:p>
        </p:txBody>
      </p:sp>
      <p:sp>
        <p:nvSpPr>
          <p:cNvPr id="2" name="subtitle">
            <a:extLst xmlns:a="http://schemas.openxmlformats.org/drawingml/2006/main">
              <a:ext uri="{FF2B5EF4-FFF2-40B4-BE49-F238E27FC236}">
                <a16:creationId xmlns:a16="http://schemas.microsoft.com/office/drawing/2014/main" id="{BAD30E94-8FE5-4D09-A9DE-24F28ECC7E17}"/>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Friday, October 23, 2026</a:t>
            </a:r>
          </a:p>
        </p:txBody>
      </p:sp>
      <p:sp>
        <p:nvSpPr>
          <p:cNvPr id="3" name="page-number">
            <a:extLst xmlns:a="http://schemas.openxmlformats.org/drawingml/2006/main">
              <a:ext uri="{FF2B5EF4-FFF2-40B4-BE49-F238E27FC236}">
                <a16:creationId xmlns:a16="http://schemas.microsoft.com/office/drawing/2014/main" id="{95E768AC-C754-4069-8ABD-1A3B2BD22507}"/>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23</a:t>
            </a:r>
          </a:p>
        </p:txBody>
      </p:sp>
      <p:graphicFrame>
        <p:nvGraphicFramePr>
          <p:cNvPr id="4" name="">
            <a:extLst xmlns:a="http://schemas.openxmlformats.org/drawingml/2006/main">
              <a:ext uri="{FF2B5EF4-FFF2-40B4-BE49-F238E27FC236}">
                <a16:creationId xmlns:a16="http://schemas.microsoft.com/office/drawing/2014/main" id="{72CD9ECE-1575-442B-8C6F-DE3FA862610E}"/>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2476500"/>
                <a:gridCol w="6667500"/>
                <a:gridCol w="1676400"/>
              </a:tblGrid>
              <a:tr h="650875">
                <a:tc>
                  <a:txBody>
                    <a:bodyPr/>
                    <a:lstStyle/>
                    <a:p>
                      <a:r>
                        <a:rPr sz="1650" b="1">
                          <a:solidFill>
                            <a:srgbClr val="F9F7F1"/>
                          </a:solidFill>
                          <a:latin typeface="Calibri"/>
                          <a:ea typeface="Calibri"/>
                          <a:cs typeface="Calibri"/>
                        </a:rPr>
                        <a:t>Stage</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Concrete evidence to finish</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Priority</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Data and correctness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Verified splits, masks, tokenizer coverage, tiny-batch learning</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Required</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A / B / C training</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Saved checkpoints, config, seeds and validation selection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Required</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Evaluation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Generated outputs, task metrics and held-out partitions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Required</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Experiments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Context, temperature, failure and attention intervention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Required</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Presentation finish</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Measured result slides, recorded demo, timed rehearsal</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Required</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317166323"/>
      </p:ext>
    </p:extLst>
  </p:cSld>
</p:sld>
</file>

<file path=ppt/slides/slide24.xml><?xml version="1.0" encoding="utf-8"?>
<p:sld xmlns:p="http://schemas.openxmlformats.org/presentationml/2006/main">
  <p:cSld>
    <p:bg>
      <p:bgPr>
        <a:solidFill xmlns:a="http://schemas.openxmlformats.org/drawingml/2006/main">
          <a:srgbClr val="142D3C"/>
        </a:solidFill>
      </p:bgPr>
    </p:bg>
    <p:spTree>
      <p:nvGrpSpPr>
        <p:cNvPr id="1" name=""/>
        <p:cNvGrpSpPr/>
        <p:nvPr/>
      </p:nvGrpSpPr>
      <p:grpSpPr>
        <a:xfrm xmlns:a="http://schemas.openxmlformats.org/drawingml/2006/main"/>
      </p:grpSpPr>
      <p:sp>
        <p:nvSpPr>
          <p:cNvPr id="11" name="heading">
            <a:extLst xmlns:a="http://schemas.openxmlformats.org/drawingml/2006/main">
              <a:ext uri="{FF2B5EF4-FFF2-40B4-BE49-F238E27FC236}">
                <a16:creationId xmlns:a16="http://schemas.microsoft.com/office/drawing/2014/main" id="{B3B33415-FE7F-4447-BFB8-362E1FA0A2B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F9F7F1"/>
                </a:solidFill>
                <a:latin typeface="Calibri"/>
                <a:ea typeface="Calibri"/>
                <a:cs typeface="Calibri"/>
              </a:defRPr>
            </a:defPPr>
            <a:lvl1pPr>
              <a:defRPr sz="3225" b="1">
                <a:solidFill>
                  <a:srgbClr val="F9F7F1"/>
                </a:solidFill>
                <a:latin typeface="Calibri"/>
                <a:ea typeface="Calibri"/>
                <a:cs typeface="Calibri"/>
              </a:defRPr>
            </a:lvl1pPr>
            <a:lvl2pPr>
              <a:defRPr sz="3225" b="1">
                <a:solidFill>
                  <a:srgbClr val="F9F7F1"/>
                </a:solidFill>
                <a:latin typeface="Calibri"/>
                <a:ea typeface="Calibri"/>
                <a:cs typeface="Calibri"/>
              </a:defRPr>
            </a:lvl2pPr>
            <a:lvl3pPr>
              <a:defRPr sz="3225" b="1">
                <a:solidFill>
                  <a:srgbClr val="F9F7F1"/>
                </a:solidFill>
                <a:latin typeface="Calibri"/>
                <a:ea typeface="Calibri"/>
                <a:cs typeface="Calibri"/>
              </a:defRPr>
            </a:lvl3pPr>
            <a:lvl4pPr>
              <a:defRPr sz="3225" b="1">
                <a:solidFill>
                  <a:srgbClr val="F9F7F1"/>
                </a:solidFill>
                <a:latin typeface="Calibri"/>
                <a:ea typeface="Calibri"/>
                <a:cs typeface="Calibri"/>
              </a:defRPr>
            </a:lvl4pPr>
            <a:lvl5pPr>
              <a:defRPr sz="3225" b="1">
                <a:solidFill>
                  <a:srgbClr val="F9F7F1"/>
                </a:solidFill>
                <a:latin typeface="Calibri"/>
                <a:ea typeface="Calibri"/>
                <a:cs typeface="Calibri"/>
              </a:defRPr>
            </a:lvl5pPr>
            <a:lvl6pPr>
              <a:defRPr sz="3225" b="1">
                <a:solidFill>
                  <a:srgbClr val="F9F7F1"/>
                </a:solidFill>
                <a:latin typeface="Calibri"/>
                <a:ea typeface="Calibri"/>
                <a:cs typeface="Calibri"/>
              </a:defRPr>
            </a:lvl6pPr>
            <a:lvl7pPr>
              <a:defRPr sz="3225" b="1">
                <a:solidFill>
                  <a:srgbClr val="F9F7F1"/>
                </a:solidFill>
                <a:latin typeface="Calibri"/>
                <a:ea typeface="Calibri"/>
                <a:cs typeface="Calibri"/>
              </a:defRPr>
            </a:lvl7pPr>
            <a:lvl8pPr>
              <a:defRPr sz="3225" b="1">
                <a:solidFill>
                  <a:srgbClr val="F9F7F1"/>
                </a:solidFill>
                <a:latin typeface="Calibri"/>
                <a:ea typeface="Calibri"/>
                <a:cs typeface="Calibri"/>
              </a:defRPr>
            </a:lvl8pPr>
            <a:lvl9pPr>
              <a:defRPr sz="3225" b="1">
                <a:solidFill>
                  <a:srgbClr val="F9F7F1"/>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F9F7F1"/>
                </a:solidFill>
                <a:latin typeface="Calibri"/>
                <a:ea typeface="Calibri"/>
                <a:cs typeface="Calibri"/>
              </a:rPr>
              <a:t>What this work teaches us</a:t>
            </a:r>
          </a:p>
        </p:txBody>
      </p:sp>
      <p:sp>
        <p:nvSpPr>
          <p:cNvPr id="2" name="subtitle">
            <a:extLst xmlns:a="http://schemas.openxmlformats.org/drawingml/2006/main">
              <a:ext uri="{FF2B5EF4-FFF2-40B4-BE49-F238E27FC236}">
                <a16:creationId xmlns:a16="http://schemas.microsoft.com/office/drawing/2014/main" id="{0321C530-390C-45E3-89C3-3F856B98EF1E}"/>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CAD7D8"/>
                </a:solidFill>
                <a:latin typeface="Calibri"/>
                <a:ea typeface="Calibri"/>
                <a:cs typeface="Calibri"/>
              </a:defRPr>
            </a:defPPr>
            <a:lvl1pPr>
              <a:defRPr sz="1800" b="0">
                <a:solidFill>
                  <a:srgbClr val="CAD7D8"/>
                </a:solidFill>
                <a:latin typeface="Calibri"/>
                <a:ea typeface="Calibri"/>
                <a:cs typeface="Calibri"/>
              </a:defRPr>
            </a:lvl1pPr>
            <a:lvl2pPr>
              <a:defRPr sz="1800" b="0">
                <a:solidFill>
                  <a:srgbClr val="CAD7D8"/>
                </a:solidFill>
                <a:latin typeface="Calibri"/>
                <a:ea typeface="Calibri"/>
                <a:cs typeface="Calibri"/>
              </a:defRPr>
            </a:lvl2pPr>
            <a:lvl3pPr>
              <a:defRPr sz="1800" b="0">
                <a:solidFill>
                  <a:srgbClr val="CAD7D8"/>
                </a:solidFill>
                <a:latin typeface="Calibri"/>
                <a:ea typeface="Calibri"/>
                <a:cs typeface="Calibri"/>
              </a:defRPr>
            </a:lvl3pPr>
            <a:lvl4pPr>
              <a:defRPr sz="1800" b="0">
                <a:solidFill>
                  <a:srgbClr val="CAD7D8"/>
                </a:solidFill>
                <a:latin typeface="Calibri"/>
                <a:ea typeface="Calibri"/>
                <a:cs typeface="Calibri"/>
              </a:defRPr>
            </a:lvl4pPr>
            <a:lvl5pPr>
              <a:defRPr sz="1800" b="0">
                <a:solidFill>
                  <a:srgbClr val="CAD7D8"/>
                </a:solidFill>
                <a:latin typeface="Calibri"/>
                <a:ea typeface="Calibri"/>
                <a:cs typeface="Calibri"/>
              </a:defRPr>
            </a:lvl5pPr>
            <a:lvl6pPr>
              <a:defRPr sz="1800" b="0">
                <a:solidFill>
                  <a:srgbClr val="CAD7D8"/>
                </a:solidFill>
                <a:latin typeface="Calibri"/>
                <a:ea typeface="Calibri"/>
                <a:cs typeface="Calibri"/>
              </a:defRPr>
            </a:lvl6pPr>
            <a:lvl7pPr>
              <a:defRPr sz="1800" b="0">
                <a:solidFill>
                  <a:srgbClr val="CAD7D8"/>
                </a:solidFill>
                <a:latin typeface="Calibri"/>
                <a:ea typeface="Calibri"/>
                <a:cs typeface="Calibri"/>
              </a:defRPr>
            </a:lvl7pPr>
            <a:lvl8pPr>
              <a:defRPr sz="1800" b="0">
                <a:solidFill>
                  <a:srgbClr val="CAD7D8"/>
                </a:solidFill>
                <a:latin typeface="Calibri"/>
                <a:ea typeface="Calibri"/>
                <a:cs typeface="Calibri"/>
              </a:defRPr>
            </a:lvl8pPr>
            <a:lvl9pPr>
              <a:defRPr sz="1800" b="0">
                <a:solidFill>
                  <a:srgbClr val="CAD7D8"/>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CAD7D8"/>
                </a:solidFill>
                <a:latin typeface="Calibri"/>
                <a:ea typeface="Calibri"/>
                <a:cs typeface="Calibri"/>
              </a:rPr>
              <a:t>A GPT learns parameters that turn a prefix into the next-token distribution</a:t>
            </a:r>
          </a:p>
        </p:txBody>
      </p:sp>
      <p:sp>
        <p:nvSpPr>
          <p:cNvPr id="3" name="page-number">
            <a:extLst xmlns:a="http://schemas.openxmlformats.org/drawingml/2006/main">
              <a:ext uri="{FF2B5EF4-FFF2-40B4-BE49-F238E27FC236}">
                <a16:creationId xmlns:a16="http://schemas.microsoft.com/office/drawing/2014/main" id="{93E39A19-47AE-4DF2-9230-869340C1339A}"/>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CAD7D8"/>
                </a:solidFill>
                <a:latin typeface="Calibri"/>
                <a:ea typeface="Calibri"/>
                <a:cs typeface="Calibri"/>
              </a:defRPr>
            </a:defPPr>
            <a:lvl1pPr>
              <a:defRPr sz="1350" b="0">
                <a:solidFill>
                  <a:srgbClr val="CAD7D8"/>
                </a:solidFill>
                <a:latin typeface="Calibri"/>
                <a:ea typeface="Calibri"/>
                <a:cs typeface="Calibri"/>
              </a:defRPr>
            </a:lvl1pPr>
            <a:lvl2pPr>
              <a:defRPr sz="1350" b="0">
                <a:solidFill>
                  <a:srgbClr val="CAD7D8"/>
                </a:solidFill>
                <a:latin typeface="Calibri"/>
                <a:ea typeface="Calibri"/>
                <a:cs typeface="Calibri"/>
              </a:defRPr>
            </a:lvl2pPr>
            <a:lvl3pPr>
              <a:defRPr sz="1350" b="0">
                <a:solidFill>
                  <a:srgbClr val="CAD7D8"/>
                </a:solidFill>
                <a:latin typeface="Calibri"/>
                <a:ea typeface="Calibri"/>
                <a:cs typeface="Calibri"/>
              </a:defRPr>
            </a:lvl3pPr>
            <a:lvl4pPr>
              <a:defRPr sz="1350" b="0">
                <a:solidFill>
                  <a:srgbClr val="CAD7D8"/>
                </a:solidFill>
                <a:latin typeface="Calibri"/>
                <a:ea typeface="Calibri"/>
                <a:cs typeface="Calibri"/>
              </a:defRPr>
            </a:lvl4pPr>
            <a:lvl5pPr>
              <a:defRPr sz="1350" b="0">
                <a:solidFill>
                  <a:srgbClr val="CAD7D8"/>
                </a:solidFill>
                <a:latin typeface="Calibri"/>
                <a:ea typeface="Calibri"/>
                <a:cs typeface="Calibri"/>
              </a:defRPr>
            </a:lvl5pPr>
            <a:lvl6pPr>
              <a:defRPr sz="1350" b="0">
                <a:solidFill>
                  <a:srgbClr val="CAD7D8"/>
                </a:solidFill>
                <a:latin typeface="Calibri"/>
                <a:ea typeface="Calibri"/>
                <a:cs typeface="Calibri"/>
              </a:defRPr>
            </a:lvl6pPr>
            <a:lvl7pPr>
              <a:defRPr sz="1350" b="0">
                <a:solidFill>
                  <a:srgbClr val="CAD7D8"/>
                </a:solidFill>
                <a:latin typeface="Calibri"/>
                <a:ea typeface="Calibri"/>
                <a:cs typeface="Calibri"/>
              </a:defRPr>
            </a:lvl7pPr>
            <a:lvl8pPr>
              <a:defRPr sz="1350" b="0">
                <a:solidFill>
                  <a:srgbClr val="CAD7D8"/>
                </a:solidFill>
                <a:latin typeface="Calibri"/>
                <a:ea typeface="Calibri"/>
                <a:cs typeface="Calibri"/>
              </a:defRPr>
            </a:lvl8pPr>
            <a:lvl9pPr>
              <a:defRPr sz="1350" b="0">
                <a:solidFill>
                  <a:srgbClr val="CAD7D8"/>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CAD7D8"/>
                </a:solidFill>
                <a:latin typeface="Calibri"/>
                <a:ea typeface="Calibri"/>
                <a:cs typeface="Calibri"/>
              </a:rPr>
              <a:t>24</a:t>
            </a:r>
          </a:p>
        </p:txBody>
      </p:sp>
      <p:sp>
        <p:nvSpPr>
          <p:cNvPr id="4" name="body">
            <a:extLst xmlns:a="http://schemas.openxmlformats.org/drawingml/2006/main">
              <a:ext uri="{FF2B5EF4-FFF2-40B4-BE49-F238E27FC236}">
                <a16:creationId xmlns:a16="http://schemas.microsoft.com/office/drawing/2014/main" id="{2029637B-5011-4122-A344-7A66B4F943EF}"/>
              </a:ext>
            </a:extLst>
          </p:cNvPr>
          <p:cNvSpPr>
            <a:spLocks xmlns:a="http://schemas.openxmlformats.org/drawingml/2006/main" noGrp="1"/>
          </p:cNvSpPr>
          <p:nvPr/>
        </p:nvSpPr>
        <p:spPr>
          <a:xfrm xmlns:a="http://schemas.openxmlformats.org/drawingml/2006/main">
            <a:off x="685800" y="242887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AB58F"/>
                </a:solidFill>
                <a:latin typeface="Calibri"/>
                <a:ea typeface="Calibri"/>
                <a:cs typeface="Calibri"/>
              </a:defRPr>
            </a:defPPr>
            <a:lvl1pPr>
              <a:defRPr sz="2100" b="1">
                <a:solidFill>
                  <a:srgbClr val="DAB58F"/>
                </a:solidFill>
                <a:latin typeface="Calibri"/>
                <a:ea typeface="Calibri"/>
                <a:cs typeface="Calibri"/>
              </a:defRPr>
            </a:lvl1pPr>
            <a:lvl2pPr>
              <a:defRPr sz="2100" b="1">
                <a:solidFill>
                  <a:srgbClr val="DAB58F"/>
                </a:solidFill>
                <a:latin typeface="Calibri"/>
                <a:ea typeface="Calibri"/>
                <a:cs typeface="Calibri"/>
              </a:defRPr>
            </a:lvl2pPr>
            <a:lvl3pPr>
              <a:defRPr sz="2100" b="1">
                <a:solidFill>
                  <a:srgbClr val="DAB58F"/>
                </a:solidFill>
                <a:latin typeface="Calibri"/>
                <a:ea typeface="Calibri"/>
                <a:cs typeface="Calibri"/>
              </a:defRPr>
            </a:lvl3pPr>
            <a:lvl4pPr>
              <a:defRPr sz="2100" b="1">
                <a:solidFill>
                  <a:srgbClr val="DAB58F"/>
                </a:solidFill>
                <a:latin typeface="Calibri"/>
                <a:ea typeface="Calibri"/>
                <a:cs typeface="Calibri"/>
              </a:defRPr>
            </a:lvl4pPr>
            <a:lvl5pPr>
              <a:defRPr sz="2100" b="1">
                <a:solidFill>
                  <a:srgbClr val="DAB58F"/>
                </a:solidFill>
                <a:latin typeface="Calibri"/>
                <a:ea typeface="Calibri"/>
                <a:cs typeface="Calibri"/>
              </a:defRPr>
            </a:lvl5pPr>
            <a:lvl6pPr>
              <a:defRPr sz="2100" b="1">
                <a:solidFill>
                  <a:srgbClr val="DAB58F"/>
                </a:solidFill>
                <a:latin typeface="Calibri"/>
                <a:ea typeface="Calibri"/>
                <a:cs typeface="Calibri"/>
              </a:defRPr>
            </a:lvl6pPr>
            <a:lvl7pPr>
              <a:defRPr sz="2100" b="1">
                <a:solidFill>
                  <a:srgbClr val="DAB58F"/>
                </a:solidFill>
                <a:latin typeface="Calibri"/>
                <a:ea typeface="Calibri"/>
                <a:cs typeface="Calibri"/>
              </a:defRPr>
            </a:lvl7pPr>
            <a:lvl8pPr>
              <a:defRPr sz="2100" b="1">
                <a:solidFill>
                  <a:srgbClr val="DAB58F"/>
                </a:solidFill>
                <a:latin typeface="Calibri"/>
                <a:ea typeface="Calibri"/>
                <a:cs typeface="Calibri"/>
              </a:defRPr>
            </a:lvl8pPr>
            <a:lvl9pPr>
              <a:defRPr sz="2100" b="1">
                <a:solidFill>
                  <a:srgbClr val="DAB58F"/>
                </a:solidFill>
                <a:latin typeface="Calibri"/>
                <a:ea typeface="Calibri"/>
                <a:cs typeface="Calibri"/>
              </a:defRPr>
            </a:lvl9pPr>
          </a:lstStyle>
          <a:p xmlns:a="http://schemas.openxmlformats.org/drawingml/2006/main">
            <a:pPr>
              <a:defRPr sz="2100" b="1">
                <a:solidFill>
                  <a:srgbClr val="DAB58F"/>
                </a:solidFill>
                <a:latin typeface="Calibri"/>
                <a:ea typeface="Calibri"/>
                <a:cs typeface="Calibri"/>
              </a:defRPr>
            </a:pPr>
            <a:r>
              <a:rPr sz="2100" b="1">
                <a:solidFill>
                  <a:srgbClr val="DAB58F"/>
                </a:solidFill>
                <a:latin typeface="Calibri"/>
                <a:ea typeface="Calibri"/>
                <a:cs typeface="Calibri"/>
              </a:rPr>
              <a:t>Mechanism</a:t>
            </a:r>
          </a:p>
        </p:txBody>
      </p:sp>
      <p:sp>
        <p:nvSpPr>
          <p:cNvPr id="5" name="body">
            <a:extLst xmlns:a="http://schemas.openxmlformats.org/drawingml/2006/main">
              <a:ext uri="{FF2B5EF4-FFF2-40B4-BE49-F238E27FC236}">
                <a16:creationId xmlns:a16="http://schemas.microsoft.com/office/drawing/2014/main" id="{E91E7FF8-6716-47A0-B491-44F89F0A98AA}"/>
              </a:ext>
            </a:extLst>
          </p:cNvPr>
          <p:cNvSpPr>
            <a:spLocks xmlns:a="http://schemas.openxmlformats.org/drawingml/2006/main" noGrp="1"/>
          </p:cNvSpPr>
          <p:nvPr/>
        </p:nvSpPr>
        <p:spPr>
          <a:xfrm xmlns:a="http://schemas.openxmlformats.org/drawingml/2006/main">
            <a:off x="3714750" y="2428875"/>
            <a:ext cx="7791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9F7F1"/>
                </a:solidFill>
                <a:latin typeface="Calibri"/>
                <a:ea typeface="Calibri"/>
                <a:cs typeface="Calibri"/>
              </a:defRPr>
            </a:defPPr>
            <a:lvl1pPr>
              <a:defRPr sz="2250" b="0">
                <a:solidFill>
                  <a:srgbClr val="F9F7F1"/>
                </a:solidFill>
                <a:latin typeface="Calibri"/>
                <a:ea typeface="Calibri"/>
                <a:cs typeface="Calibri"/>
              </a:defRPr>
            </a:lvl1pPr>
            <a:lvl2pPr>
              <a:defRPr sz="2250" b="0">
                <a:solidFill>
                  <a:srgbClr val="F9F7F1"/>
                </a:solidFill>
                <a:latin typeface="Calibri"/>
                <a:ea typeface="Calibri"/>
                <a:cs typeface="Calibri"/>
              </a:defRPr>
            </a:lvl2pPr>
            <a:lvl3pPr>
              <a:defRPr sz="2250" b="0">
                <a:solidFill>
                  <a:srgbClr val="F9F7F1"/>
                </a:solidFill>
                <a:latin typeface="Calibri"/>
                <a:ea typeface="Calibri"/>
                <a:cs typeface="Calibri"/>
              </a:defRPr>
            </a:lvl3pPr>
            <a:lvl4pPr>
              <a:defRPr sz="2250" b="0">
                <a:solidFill>
                  <a:srgbClr val="F9F7F1"/>
                </a:solidFill>
                <a:latin typeface="Calibri"/>
                <a:ea typeface="Calibri"/>
                <a:cs typeface="Calibri"/>
              </a:defRPr>
            </a:lvl4pPr>
            <a:lvl5pPr>
              <a:defRPr sz="2250" b="0">
                <a:solidFill>
                  <a:srgbClr val="F9F7F1"/>
                </a:solidFill>
                <a:latin typeface="Calibri"/>
                <a:ea typeface="Calibri"/>
                <a:cs typeface="Calibri"/>
              </a:defRPr>
            </a:lvl5pPr>
            <a:lvl6pPr>
              <a:defRPr sz="2250" b="0">
                <a:solidFill>
                  <a:srgbClr val="F9F7F1"/>
                </a:solidFill>
                <a:latin typeface="Calibri"/>
                <a:ea typeface="Calibri"/>
                <a:cs typeface="Calibri"/>
              </a:defRPr>
            </a:lvl6pPr>
            <a:lvl7pPr>
              <a:defRPr sz="2250" b="0">
                <a:solidFill>
                  <a:srgbClr val="F9F7F1"/>
                </a:solidFill>
                <a:latin typeface="Calibri"/>
                <a:ea typeface="Calibri"/>
                <a:cs typeface="Calibri"/>
              </a:defRPr>
            </a:lvl7pPr>
            <a:lvl8pPr>
              <a:defRPr sz="2250" b="0">
                <a:solidFill>
                  <a:srgbClr val="F9F7F1"/>
                </a:solidFill>
                <a:latin typeface="Calibri"/>
                <a:ea typeface="Calibri"/>
                <a:cs typeface="Calibri"/>
              </a:defRPr>
            </a:lvl8pPr>
            <a:lvl9pPr>
              <a:defRPr sz="2250" b="0">
                <a:solidFill>
                  <a:srgbClr val="F9F7F1"/>
                </a:solidFill>
                <a:latin typeface="Calibri"/>
                <a:ea typeface="Calibri"/>
                <a:cs typeface="Calibri"/>
              </a:defRPr>
            </a:lvl9pPr>
          </a:lstStyle>
          <a:p xmlns:a="http://schemas.openxmlformats.org/drawingml/2006/main">
            <a:pPr>
              <a:defRPr sz="2250" b="0">
                <a:solidFill>
                  <a:srgbClr val="F9F7F1"/>
                </a:solidFill>
                <a:latin typeface="Calibri"/>
                <a:ea typeface="Calibri"/>
                <a:cs typeface="Calibri"/>
              </a:defRPr>
            </a:pPr>
            <a:r>
              <a:rPr sz="2250" b="0">
                <a:solidFill>
                  <a:srgbClr val="F9F7F1"/>
                </a:solidFill>
                <a:latin typeface="Calibri"/>
                <a:ea typeface="Calibri"/>
                <a:cs typeface="Calibri"/>
              </a:rPr>
              <a:t>Embeddings, attention and FFNs transform the supplied prefix</a:t>
            </a:r>
          </a:p>
        </p:txBody>
      </p:sp>
      <p:sp>
        <p:nvSpPr>
          <p:cNvPr id="6" name="body">
            <a:extLst xmlns:a="http://schemas.openxmlformats.org/drawingml/2006/main">
              <a:ext uri="{FF2B5EF4-FFF2-40B4-BE49-F238E27FC236}">
                <a16:creationId xmlns:a16="http://schemas.microsoft.com/office/drawing/2014/main" id="{4743390C-FA4D-4A0C-BED8-39571FDCD5F4}"/>
              </a:ext>
            </a:extLst>
          </p:cNvPr>
          <p:cNvSpPr>
            <a:spLocks xmlns:a="http://schemas.openxmlformats.org/drawingml/2006/main" noGrp="1"/>
          </p:cNvSpPr>
          <p:nvPr/>
        </p:nvSpPr>
        <p:spPr>
          <a:xfrm xmlns:a="http://schemas.openxmlformats.org/drawingml/2006/main">
            <a:off x="685800" y="34766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AB58F"/>
                </a:solidFill>
                <a:latin typeface="Calibri"/>
                <a:ea typeface="Calibri"/>
                <a:cs typeface="Calibri"/>
              </a:defRPr>
            </a:defPPr>
            <a:lvl1pPr>
              <a:defRPr sz="2100" b="1">
                <a:solidFill>
                  <a:srgbClr val="DAB58F"/>
                </a:solidFill>
                <a:latin typeface="Calibri"/>
                <a:ea typeface="Calibri"/>
                <a:cs typeface="Calibri"/>
              </a:defRPr>
            </a:lvl1pPr>
            <a:lvl2pPr>
              <a:defRPr sz="2100" b="1">
                <a:solidFill>
                  <a:srgbClr val="DAB58F"/>
                </a:solidFill>
                <a:latin typeface="Calibri"/>
                <a:ea typeface="Calibri"/>
                <a:cs typeface="Calibri"/>
              </a:defRPr>
            </a:lvl2pPr>
            <a:lvl3pPr>
              <a:defRPr sz="2100" b="1">
                <a:solidFill>
                  <a:srgbClr val="DAB58F"/>
                </a:solidFill>
                <a:latin typeface="Calibri"/>
                <a:ea typeface="Calibri"/>
                <a:cs typeface="Calibri"/>
              </a:defRPr>
            </a:lvl3pPr>
            <a:lvl4pPr>
              <a:defRPr sz="2100" b="1">
                <a:solidFill>
                  <a:srgbClr val="DAB58F"/>
                </a:solidFill>
                <a:latin typeface="Calibri"/>
                <a:ea typeface="Calibri"/>
                <a:cs typeface="Calibri"/>
              </a:defRPr>
            </a:lvl4pPr>
            <a:lvl5pPr>
              <a:defRPr sz="2100" b="1">
                <a:solidFill>
                  <a:srgbClr val="DAB58F"/>
                </a:solidFill>
                <a:latin typeface="Calibri"/>
                <a:ea typeface="Calibri"/>
                <a:cs typeface="Calibri"/>
              </a:defRPr>
            </a:lvl5pPr>
            <a:lvl6pPr>
              <a:defRPr sz="2100" b="1">
                <a:solidFill>
                  <a:srgbClr val="DAB58F"/>
                </a:solidFill>
                <a:latin typeface="Calibri"/>
                <a:ea typeface="Calibri"/>
                <a:cs typeface="Calibri"/>
              </a:defRPr>
            </a:lvl6pPr>
            <a:lvl7pPr>
              <a:defRPr sz="2100" b="1">
                <a:solidFill>
                  <a:srgbClr val="DAB58F"/>
                </a:solidFill>
                <a:latin typeface="Calibri"/>
                <a:ea typeface="Calibri"/>
                <a:cs typeface="Calibri"/>
              </a:defRPr>
            </a:lvl7pPr>
            <a:lvl8pPr>
              <a:defRPr sz="2100" b="1">
                <a:solidFill>
                  <a:srgbClr val="DAB58F"/>
                </a:solidFill>
                <a:latin typeface="Calibri"/>
                <a:ea typeface="Calibri"/>
                <a:cs typeface="Calibri"/>
              </a:defRPr>
            </a:lvl8pPr>
            <a:lvl9pPr>
              <a:defRPr sz="2100" b="1">
                <a:solidFill>
                  <a:srgbClr val="DAB58F"/>
                </a:solidFill>
                <a:latin typeface="Calibri"/>
                <a:ea typeface="Calibri"/>
                <a:cs typeface="Calibri"/>
              </a:defRPr>
            </a:lvl9pPr>
          </a:lstStyle>
          <a:p xmlns:a="http://schemas.openxmlformats.org/drawingml/2006/main">
            <a:pPr>
              <a:defRPr sz="2100" b="1">
                <a:solidFill>
                  <a:srgbClr val="DAB58F"/>
                </a:solidFill>
                <a:latin typeface="Calibri"/>
                <a:ea typeface="Calibri"/>
                <a:cs typeface="Calibri"/>
              </a:defRPr>
            </a:pPr>
            <a:r>
              <a:rPr sz="2100" b="1">
                <a:solidFill>
                  <a:srgbClr val="DAB58F"/>
                </a:solidFill>
                <a:latin typeface="Calibri"/>
                <a:ea typeface="Calibri"/>
                <a:cs typeface="Calibri"/>
              </a:rPr>
              <a:t>Evidence</a:t>
            </a:r>
          </a:p>
        </p:txBody>
      </p:sp>
      <p:sp>
        <p:nvSpPr>
          <p:cNvPr id="7" name="body">
            <a:extLst xmlns:a="http://schemas.openxmlformats.org/drawingml/2006/main">
              <a:ext uri="{FF2B5EF4-FFF2-40B4-BE49-F238E27FC236}">
                <a16:creationId xmlns:a16="http://schemas.microsoft.com/office/drawing/2014/main" id="{9F79BE18-BD90-48F5-B4B8-3BFFE46A13A9}"/>
              </a:ext>
            </a:extLst>
          </p:cNvPr>
          <p:cNvSpPr>
            <a:spLocks xmlns:a="http://schemas.openxmlformats.org/drawingml/2006/main" noGrp="1"/>
          </p:cNvSpPr>
          <p:nvPr/>
        </p:nvSpPr>
        <p:spPr>
          <a:xfrm xmlns:a="http://schemas.openxmlformats.org/drawingml/2006/main">
            <a:off x="3714750" y="3476625"/>
            <a:ext cx="7791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9F7F1"/>
                </a:solidFill>
                <a:latin typeface="Calibri"/>
                <a:ea typeface="Calibri"/>
                <a:cs typeface="Calibri"/>
              </a:defRPr>
            </a:defPPr>
            <a:lvl1pPr>
              <a:defRPr sz="2250" b="0">
                <a:solidFill>
                  <a:srgbClr val="F9F7F1"/>
                </a:solidFill>
                <a:latin typeface="Calibri"/>
                <a:ea typeface="Calibri"/>
                <a:cs typeface="Calibri"/>
              </a:defRPr>
            </a:lvl1pPr>
            <a:lvl2pPr>
              <a:defRPr sz="2250" b="0">
                <a:solidFill>
                  <a:srgbClr val="F9F7F1"/>
                </a:solidFill>
                <a:latin typeface="Calibri"/>
                <a:ea typeface="Calibri"/>
                <a:cs typeface="Calibri"/>
              </a:defRPr>
            </a:lvl2pPr>
            <a:lvl3pPr>
              <a:defRPr sz="2250" b="0">
                <a:solidFill>
                  <a:srgbClr val="F9F7F1"/>
                </a:solidFill>
                <a:latin typeface="Calibri"/>
                <a:ea typeface="Calibri"/>
                <a:cs typeface="Calibri"/>
              </a:defRPr>
            </a:lvl3pPr>
            <a:lvl4pPr>
              <a:defRPr sz="2250" b="0">
                <a:solidFill>
                  <a:srgbClr val="F9F7F1"/>
                </a:solidFill>
                <a:latin typeface="Calibri"/>
                <a:ea typeface="Calibri"/>
                <a:cs typeface="Calibri"/>
              </a:defRPr>
            </a:lvl4pPr>
            <a:lvl5pPr>
              <a:defRPr sz="2250" b="0">
                <a:solidFill>
                  <a:srgbClr val="F9F7F1"/>
                </a:solidFill>
                <a:latin typeface="Calibri"/>
                <a:ea typeface="Calibri"/>
                <a:cs typeface="Calibri"/>
              </a:defRPr>
            </a:lvl5pPr>
            <a:lvl6pPr>
              <a:defRPr sz="2250" b="0">
                <a:solidFill>
                  <a:srgbClr val="F9F7F1"/>
                </a:solidFill>
                <a:latin typeface="Calibri"/>
                <a:ea typeface="Calibri"/>
                <a:cs typeface="Calibri"/>
              </a:defRPr>
            </a:lvl6pPr>
            <a:lvl7pPr>
              <a:defRPr sz="2250" b="0">
                <a:solidFill>
                  <a:srgbClr val="F9F7F1"/>
                </a:solidFill>
                <a:latin typeface="Calibri"/>
                <a:ea typeface="Calibri"/>
                <a:cs typeface="Calibri"/>
              </a:defRPr>
            </a:lvl7pPr>
            <a:lvl8pPr>
              <a:defRPr sz="2250" b="0">
                <a:solidFill>
                  <a:srgbClr val="F9F7F1"/>
                </a:solidFill>
                <a:latin typeface="Calibri"/>
                <a:ea typeface="Calibri"/>
                <a:cs typeface="Calibri"/>
              </a:defRPr>
            </a:lvl8pPr>
            <a:lvl9pPr>
              <a:defRPr sz="2250" b="0">
                <a:solidFill>
                  <a:srgbClr val="F9F7F1"/>
                </a:solidFill>
                <a:latin typeface="Calibri"/>
                <a:ea typeface="Calibri"/>
                <a:cs typeface="Calibri"/>
              </a:defRPr>
            </a:lvl9pPr>
          </a:lstStyle>
          <a:p xmlns:a="http://schemas.openxmlformats.org/drawingml/2006/main">
            <a:pPr>
              <a:defRPr sz="2250" b="0">
                <a:solidFill>
                  <a:srgbClr val="F9F7F1"/>
                </a:solidFill>
                <a:latin typeface="Calibri"/>
                <a:ea typeface="Calibri"/>
                <a:cs typeface="Calibri"/>
              </a:defRPr>
            </a:pPr>
            <a:r>
              <a:rPr sz="2250" b="0">
                <a:solidFill>
                  <a:srgbClr val="F9F7F1"/>
                </a:solidFill>
                <a:latin typeface="Calibri"/>
                <a:ea typeface="Calibri"/>
                <a:cs typeface="Calibri"/>
              </a:rPr>
              <a:t>Baselines and held-out tests reveal which capabilities emerged</a:t>
            </a:r>
          </a:p>
        </p:txBody>
      </p:sp>
      <p:sp>
        <p:nvSpPr>
          <p:cNvPr id="8" name="body">
            <a:extLst xmlns:a="http://schemas.openxmlformats.org/drawingml/2006/main">
              <a:ext uri="{FF2B5EF4-FFF2-40B4-BE49-F238E27FC236}">
                <a16:creationId xmlns:a16="http://schemas.microsoft.com/office/drawing/2014/main" id="{BA8E5377-8FC0-4823-B7A1-85D1CA832EFA}"/>
              </a:ext>
            </a:extLst>
          </p:cNvPr>
          <p:cNvSpPr>
            <a:spLocks xmlns:a="http://schemas.openxmlformats.org/drawingml/2006/main" noGrp="1"/>
          </p:cNvSpPr>
          <p:nvPr/>
        </p:nvSpPr>
        <p:spPr>
          <a:xfrm xmlns:a="http://schemas.openxmlformats.org/drawingml/2006/main">
            <a:off x="685800" y="452437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AB58F"/>
                </a:solidFill>
                <a:latin typeface="Calibri"/>
                <a:ea typeface="Calibri"/>
                <a:cs typeface="Calibri"/>
              </a:defRPr>
            </a:defPPr>
            <a:lvl1pPr>
              <a:defRPr sz="2100" b="1">
                <a:solidFill>
                  <a:srgbClr val="DAB58F"/>
                </a:solidFill>
                <a:latin typeface="Calibri"/>
                <a:ea typeface="Calibri"/>
                <a:cs typeface="Calibri"/>
              </a:defRPr>
            </a:lvl1pPr>
            <a:lvl2pPr>
              <a:defRPr sz="2100" b="1">
                <a:solidFill>
                  <a:srgbClr val="DAB58F"/>
                </a:solidFill>
                <a:latin typeface="Calibri"/>
                <a:ea typeface="Calibri"/>
                <a:cs typeface="Calibri"/>
              </a:defRPr>
            </a:lvl2pPr>
            <a:lvl3pPr>
              <a:defRPr sz="2100" b="1">
                <a:solidFill>
                  <a:srgbClr val="DAB58F"/>
                </a:solidFill>
                <a:latin typeface="Calibri"/>
                <a:ea typeface="Calibri"/>
                <a:cs typeface="Calibri"/>
              </a:defRPr>
            </a:lvl3pPr>
            <a:lvl4pPr>
              <a:defRPr sz="2100" b="1">
                <a:solidFill>
                  <a:srgbClr val="DAB58F"/>
                </a:solidFill>
                <a:latin typeface="Calibri"/>
                <a:ea typeface="Calibri"/>
                <a:cs typeface="Calibri"/>
              </a:defRPr>
            </a:lvl4pPr>
            <a:lvl5pPr>
              <a:defRPr sz="2100" b="1">
                <a:solidFill>
                  <a:srgbClr val="DAB58F"/>
                </a:solidFill>
                <a:latin typeface="Calibri"/>
                <a:ea typeface="Calibri"/>
                <a:cs typeface="Calibri"/>
              </a:defRPr>
            </a:lvl5pPr>
            <a:lvl6pPr>
              <a:defRPr sz="2100" b="1">
                <a:solidFill>
                  <a:srgbClr val="DAB58F"/>
                </a:solidFill>
                <a:latin typeface="Calibri"/>
                <a:ea typeface="Calibri"/>
                <a:cs typeface="Calibri"/>
              </a:defRPr>
            </a:lvl6pPr>
            <a:lvl7pPr>
              <a:defRPr sz="2100" b="1">
                <a:solidFill>
                  <a:srgbClr val="DAB58F"/>
                </a:solidFill>
                <a:latin typeface="Calibri"/>
                <a:ea typeface="Calibri"/>
                <a:cs typeface="Calibri"/>
              </a:defRPr>
            </a:lvl7pPr>
            <a:lvl8pPr>
              <a:defRPr sz="2100" b="1">
                <a:solidFill>
                  <a:srgbClr val="DAB58F"/>
                </a:solidFill>
                <a:latin typeface="Calibri"/>
                <a:ea typeface="Calibri"/>
                <a:cs typeface="Calibri"/>
              </a:defRPr>
            </a:lvl8pPr>
            <a:lvl9pPr>
              <a:defRPr sz="2100" b="1">
                <a:solidFill>
                  <a:srgbClr val="DAB58F"/>
                </a:solidFill>
                <a:latin typeface="Calibri"/>
                <a:ea typeface="Calibri"/>
                <a:cs typeface="Calibri"/>
              </a:defRPr>
            </a:lvl9pPr>
          </a:lstStyle>
          <a:p xmlns:a="http://schemas.openxmlformats.org/drawingml/2006/main">
            <a:pPr>
              <a:defRPr sz="2100" b="1">
                <a:solidFill>
                  <a:srgbClr val="DAB58F"/>
                </a:solidFill>
                <a:latin typeface="Calibri"/>
                <a:ea typeface="Calibri"/>
                <a:cs typeface="Calibri"/>
              </a:defRPr>
            </a:pPr>
            <a:r>
              <a:rPr sz="2100" b="1">
                <a:solidFill>
                  <a:srgbClr val="DAB58F"/>
                </a:solidFill>
                <a:latin typeface="Calibri"/>
                <a:ea typeface="Calibri"/>
                <a:cs typeface="Calibri"/>
              </a:rPr>
              <a:t>Engineering judgment</a:t>
            </a:r>
          </a:p>
        </p:txBody>
      </p:sp>
      <p:sp>
        <p:nvSpPr>
          <p:cNvPr id="9" name="body">
            <a:extLst xmlns:a="http://schemas.openxmlformats.org/drawingml/2006/main">
              <a:ext uri="{FF2B5EF4-FFF2-40B4-BE49-F238E27FC236}">
                <a16:creationId xmlns:a16="http://schemas.microsoft.com/office/drawing/2014/main" id="{FBA3CC75-B483-4166-B13C-AA6F26478A42}"/>
              </a:ext>
            </a:extLst>
          </p:cNvPr>
          <p:cNvSpPr>
            <a:spLocks xmlns:a="http://schemas.openxmlformats.org/drawingml/2006/main" noGrp="1"/>
          </p:cNvSpPr>
          <p:nvPr/>
        </p:nvSpPr>
        <p:spPr>
          <a:xfrm xmlns:a="http://schemas.openxmlformats.org/drawingml/2006/main">
            <a:off x="3714750" y="4524375"/>
            <a:ext cx="7791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9F7F1"/>
                </a:solidFill>
                <a:latin typeface="Calibri"/>
                <a:ea typeface="Calibri"/>
                <a:cs typeface="Calibri"/>
              </a:defRPr>
            </a:defPPr>
            <a:lvl1pPr>
              <a:defRPr sz="2250" b="0">
                <a:solidFill>
                  <a:srgbClr val="F9F7F1"/>
                </a:solidFill>
                <a:latin typeface="Calibri"/>
                <a:ea typeface="Calibri"/>
                <a:cs typeface="Calibri"/>
              </a:defRPr>
            </a:lvl1pPr>
            <a:lvl2pPr>
              <a:defRPr sz="2250" b="0">
                <a:solidFill>
                  <a:srgbClr val="F9F7F1"/>
                </a:solidFill>
                <a:latin typeface="Calibri"/>
                <a:ea typeface="Calibri"/>
                <a:cs typeface="Calibri"/>
              </a:defRPr>
            </a:lvl2pPr>
            <a:lvl3pPr>
              <a:defRPr sz="2250" b="0">
                <a:solidFill>
                  <a:srgbClr val="F9F7F1"/>
                </a:solidFill>
                <a:latin typeface="Calibri"/>
                <a:ea typeface="Calibri"/>
                <a:cs typeface="Calibri"/>
              </a:defRPr>
            </a:lvl3pPr>
            <a:lvl4pPr>
              <a:defRPr sz="2250" b="0">
                <a:solidFill>
                  <a:srgbClr val="F9F7F1"/>
                </a:solidFill>
                <a:latin typeface="Calibri"/>
                <a:ea typeface="Calibri"/>
                <a:cs typeface="Calibri"/>
              </a:defRPr>
            </a:lvl4pPr>
            <a:lvl5pPr>
              <a:defRPr sz="2250" b="0">
                <a:solidFill>
                  <a:srgbClr val="F9F7F1"/>
                </a:solidFill>
                <a:latin typeface="Calibri"/>
                <a:ea typeface="Calibri"/>
                <a:cs typeface="Calibri"/>
              </a:defRPr>
            </a:lvl5pPr>
            <a:lvl6pPr>
              <a:defRPr sz="2250" b="0">
                <a:solidFill>
                  <a:srgbClr val="F9F7F1"/>
                </a:solidFill>
                <a:latin typeface="Calibri"/>
                <a:ea typeface="Calibri"/>
                <a:cs typeface="Calibri"/>
              </a:defRPr>
            </a:lvl6pPr>
            <a:lvl7pPr>
              <a:defRPr sz="2250" b="0">
                <a:solidFill>
                  <a:srgbClr val="F9F7F1"/>
                </a:solidFill>
                <a:latin typeface="Calibri"/>
                <a:ea typeface="Calibri"/>
                <a:cs typeface="Calibri"/>
              </a:defRPr>
            </a:lvl7pPr>
            <a:lvl8pPr>
              <a:defRPr sz="2250" b="0">
                <a:solidFill>
                  <a:srgbClr val="F9F7F1"/>
                </a:solidFill>
                <a:latin typeface="Calibri"/>
                <a:ea typeface="Calibri"/>
                <a:cs typeface="Calibri"/>
              </a:defRPr>
            </a:lvl8pPr>
            <a:lvl9pPr>
              <a:defRPr sz="2250" b="0">
                <a:solidFill>
                  <a:srgbClr val="F9F7F1"/>
                </a:solidFill>
                <a:latin typeface="Calibri"/>
                <a:ea typeface="Calibri"/>
                <a:cs typeface="Calibri"/>
              </a:defRPr>
            </a:lvl9pPr>
          </a:lstStyle>
          <a:p xmlns:a="http://schemas.openxmlformats.org/drawingml/2006/main">
            <a:pPr>
              <a:defRPr sz="2250" b="0">
                <a:solidFill>
                  <a:srgbClr val="F9F7F1"/>
                </a:solidFill>
                <a:latin typeface="Calibri"/>
                <a:ea typeface="Calibri"/>
                <a:cs typeface="Calibri"/>
              </a:defRPr>
            </a:pPr>
            <a:r>
              <a:rPr sz="2250" b="0">
                <a:solidFill>
                  <a:srgbClr val="F9F7F1"/>
                </a:solidFill>
                <a:latin typeface="Calibri"/>
                <a:ea typeface="Calibri"/>
                <a:cs typeface="Calibri"/>
              </a:rPr>
              <a:t>The task, tokenizer and evaluation determine what results mean</a:t>
            </a:r>
          </a:p>
        </p:txBody>
      </p:sp>
      <p:sp>
        <p:nvSpPr>
          <p:cNvPr id="10" name="body">
            <a:extLst xmlns:a="http://schemas.openxmlformats.org/drawingml/2006/main">
              <a:ext uri="{FF2B5EF4-FFF2-40B4-BE49-F238E27FC236}">
                <a16:creationId xmlns:a16="http://schemas.microsoft.com/office/drawing/2014/main" id="{C74815DF-7097-4716-B514-9F25FD1EB379}"/>
              </a:ext>
            </a:extLst>
          </p:cNvPr>
          <p:cNvSpPr>
            <a:spLocks xmlns:a="http://schemas.openxmlformats.org/drawingml/2006/main" noGrp="1"/>
          </p:cNvSpPr>
          <p:nvPr/>
        </p:nvSpPr>
        <p:spPr>
          <a:xfrm xmlns:a="http://schemas.openxmlformats.org/drawingml/2006/main">
            <a:off x="685800" y="59817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CAD7D8"/>
                </a:solidFill>
                <a:latin typeface="Calibri"/>
                <a:ea typeface="Calibri"/>
                <a:cs typeface="Calibri"/>
              </a:defRPr>
            </a:defPPr>
            <a:lvl1pPr>
              <a:defRPr sz="1650" b="0">
                <a:solidFill>
                  <a:srgbClr val="CAD7D8"/>
                </a:solidFill>
                <a:latin typeface="Calibri"/>
                <a:ea typeface="Calibri"/>
                <a:cs typeface="Calibri"/>
              </a:defRPr>
            </a:lvl1pPr>
            <a:lvl2pPr>
              <a:defRPr sz="1650" b="0">
                <a:solidFill>
                  <a:srgbClr val="CAD7D8"/>
                </a:solidFill>
                <a:latin typeface="Calibri"/>
                <a:ea typeface="Calibri"/>
                <a:cs typeface="Calibri"/>
              </a:defRPr>
            </a:lvl2pPr>
            <a:lvl3pPr>
              <a:defRPr sz="1650" b="0">
                <a:solidFill>
                  <a:srgbClr val="CAD7D8"/>
                </a:solidFill>
                <a:latin typeface="Calibri"/>
                <a:ea typeface="Calibri"/>
                <a:cs typeface="Calibri"/>
              </a:defRPr>
            </a:lvl3pPr>
            <a:lvl4pPr>
              <a:defRPr sz="1650" b="0">
                <a:solidFill>
                  <a:srgbClr val="CAD7D8"/>
                </a:solidFill>
                <a:latin typeface="Calibri"/>
                <a:ea typeface="Calibri"/>
                <a:cs typeface="Calibri"/>
              </a:defRPr>
            </a:lvl4pPr>
            <a:lvl5pPr>
              <a:defRPr sz="1650" b="0">
                <a:solidFill>
                  <a:srgbClr val="CAD7D8"/>
                </a:solidFill>
                <a:latin typeface="Calibri"/>
                <a:ea typeface="Calibri"/>
                <a:cs typeface="Calibri"/>
              </a:defRPr>
            </a:lvl5pPr>
            <a:lvl6pPr>
              <a:defRPr sz="1650" b="0">
                <a:solidFill>
                  <a:srgbClr val="CAD7D8"/>
                </a:solidFill>
                <a:latin typeface="Calibri"/>
                <a:ea typeface="Calibri"/>
                <a:cs typeface="Calibri"/>
              </a:defRPr>
            </a:lvl6pPr>
            <a:lvl7pPr>
              <a:defRPr sz="1650" b="0">
                <a:solidFill>
                  <a:srgbClr val="CAD7D8"/>
                </a:solidFill>
                <a:latin typeface="Calibri"/>
                <a:ea typeface="Calibri"/>
                <a:cs typeface="Calibri"/>
              </a:defRPr>
            </a:lvl7pPr>
            <a:lvl8pPr>
              <a:defRPr sz="1650" b="0">
                <a:solidFill>
                  <a:srgbClr val="CAD7D8"/>
                </a:solidFill>
                <a:latin typeface="Calibri"/>
                <a:ea typeface="Calibri"/>
                <a:cs typeface="Calibri"/>
              </a:defRPr>
            </a:lvl8pPr>
            <a:lvl9pPr>
              <a:defRPr sz="1650" b="0">
                <a:solidFill>
                  <a:srgbClr val="CAD7D8"/>
                </a:solidFill>
                <a:latin typeface="Calibri"/>
                <a:ea typeface="Calibri"/>
                <a:cs typeface="Calibri"/>
              </a:defRPr>
            </a:lvl9pPr>
          </a:lstStyle>
          <a:p xmlns:a="http://schemas.openxmlformats.org/drawingml/2006/main">
            <a:pPr>
              <a:defRPr sz="1650" b="0">
                <a:solidFill>
                  <a:srgbClr val="CAD7D8"/>
                </a:solidFill>
                <a:latin typeface="Calibri"/>
                <a:ea typeface="Calibri"/>
                <a:cs typeface="Calibri"/>
              </a:defRPr>
            </a:pPr>
            <a:r>
              <a:rPr sz="1650" b="0">
                <a:solidFill>
                  <a:srgbClr val="CAD7D8"/>
                </a:solidFill>
                <a:latin typeface="Calibri"/>
                <a:ea typeface="Calibri"/>
                <a:cs typeface="Calibri"/>
              </a:rPr>
              <a:t>The final Mitra claim must answer: what generalized, what memorized, and what still failed?</a:t>
            </a:r>
          </a:p>
        </p:txBody>
      </p:sp>
    </p:spTree>
    <p:extLst>
      <p:ext uri="{BB962C8B-B14F-4D97-AF65-F5344CB8AC3E}">
        <p14:creationId xmlns:p14="http://schemas.microsoft.com/office/powerpoint/2010/main" val="1298460427"/>
      </p:ext>
    </p:extLst>
  </p:cSld>
</p:sld>
</file>

<file path=ppt/slides/slide2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57CF38FE-D544-45C9-A6A9-A412A8D2E5B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attention with small numbers</a:t>
            </a:r>
          </a:p>
        </p:txBody>
      </p:sp>
      <p:sp>
        <p:nvSpPr>
          <p:cNvPr id="2" name="subtitle">
            <a:extLst xmlns:a="http://schemas.openxmlformats.org/drawingml/2006/main">
              <a:ext uri="{FF2B5EF4-FFF2-40B4-BE49-F238E27FC236}">
                <a16:creationId xmlns:a16="http://schemas.microsoft.com/office/drawing/2014/main" id="{FBA1E814-AB22-42D3-AE5C-395D51FD0BF2}"/>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Illustrative arithmetic, not an observed attention head</a:t>
            </a:r>
          </a:p>
        </p:txBody>
      </p:sp>
      <p:sp>
        <p:nvSpPr>
          <p:cNvPr id="3" name="page-number">
            <a:extLst xmlns:a="http://schemas.openxmlformats.org/drawingml/2006/main">
              <a:ext uri="{FF2B5EF4-FFF2-40B4-BE49-F238E27FC236}">
                <a16:creationId xmlns:a16="http://schemas.microsoft.com/office/drawing/2014/main" id="{84A58F7D-346C-4DF0-B97C-EDEA860B791C}"/>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25</a:t>
            </a:r>
          </a:p>
        </p:txBody>
      </p:sp>
      <p:graphicFrame>
        <p:nvGraphicFramePr>
          <p:cNvPr id="4" name="">
            <a:extLst xmlns:a="http://schemas.openxmlformats.org/drawingml/2006/main">
              <a:ext uri="{FF2B5EF4-FFF2-40B4-BE49-F238E27FC236}">
                <a16:creationId xmlns:a16="http://schemas.microsoft.com/office/drawing/2014/main" id="{DB2F2ABB-8D96-49AF-B51C-37294CE98C16}"/>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2333625"/>
                <a:gridCol w="5676900"/>
                <a:gridCol w="2809875"/>
              </a:tblGrid>
              <a:tr h="650875">
                <a:tc>
                  <a:txBody>
                    <a:bodyPr/>
                    <a:lstStyle/>
                    <a:p>
                      <a:r>
                        <a:rPr sz="1650" b="1">
                          <a:solidFill>
                            <a:srgbClr val="F9F7F1"/>
                          </a:solidFill>
                          <a:latin typeface="Calibri"/>
                          <a:ea typeface="Calibri"/>
                          <a:cs typeface="Calibri"/>
                        </a:rPr>
                        <a:t>Step</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Calculation</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Result</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Query and keys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q = [1, 0], k₁ = [1, 0], k₂ = [0, 1]</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Head width dₕ = 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Scaled scores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[q·k₁, q·k₂] / √2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[0.7071, 0.0000]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Softmax weights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[exp(0.7071), exp(0)] / sum</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[0.6698, 0.3302]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Value vectors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v₁ = [2, 0], v₂ = [0, 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Two vectors of width 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Weighted context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a₁ × v₁ + a₂ × v₂, using unrounded weights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[1.3395, 1.3210]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032587388"/>
      </p:ext>
    </p:extLst>
  </p:cSld>
</p:sld>
</file>

<file path=ppt/slides/slide2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2FA0D322-3483-45CD-9A69-D8008D6F91CE}"/>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normalization and the FFN</a:t>
            </a:r>
          </a:p>
        </p:txBody>
      </p:sp>
      <p:sp>
        <p:nvSpPr>
          <p:cNvPr id="2" name="subtitle">
            <a:extLst xmlns:a="http://schemas.openxmlformats.org/drawingml/2006/main">
              <a:ext uri="{FF2B5EF4-FFF2-40B4-BE49-F238E27FC236}">
                <a16:creationId xmlns:a16="http://schemas.microsoft.com/office/drawing/2014/main" id="{AFE2C6DF-D0BF-43F5-B5C7-99EDBF62D4E6}"/>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Operations within a token representation</a:t>
            </a:r>
          </a:p>
        </p:txBody>
      </p:sp>
      <p:sp>
        <p:nvSpPr>
          <p:cNvPr id="3" name="page-number">
            <a:extLst xmlns:a="http://schemas.openxmlformats.org/drawingml/2006/main">
              <a:ext uri="{FF2B5EF4-FFF2-40B4-BE49-F238E27FC236}">
                <a16:creationId xmlns:a16="http://schemas.microsoft.com/office/drawing/2014/main" id="{672C9359-6BC8-4E2E-A080-541B675838AC}"/>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26</a:t>
            </a:r>
          </a:p>
        </p:txBody>
      </p:sp>
      <p:sp>
        <p:nvSpPr>
          <p:cNvPr id="4" name="body">
            <a:extLst xmlns:a="http://schemas.openxmlformats.org/drawingml/2006/main">
              <a:ext uri="{FF2B5EF4-FFF2-40B4-BE49-F238E27FC236}">
                <a16:creationId xmlns:a16="http://schemas.microsoft.com/office/drawing/2014/main" id="{DA85AAC7-F54C-4B2A-9FD4-EA767D9DACF0}"/>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LN(x) = γ ⊙ (x − μ) / √(σ² + ε) + β</a:t>
            </a:r>
          </a:p>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FFN(x) = GELU(xW₁ + b₁)W₂ + b₂</a:t>
            </a:r>
          </a:p>
        </p:txBody>
      </p:sp>
      <p:sp>
        <p:nvSpPr>
          <p:cNvPr id="5" name="body">
            <a:extLst xmlns:a="http://schemas.openxmlformats.org/drawingml/2006/main">
              <a:ext uri="{FF2B5EF4-FFF2-40B4-BE49-F238E27FC236}">
                <a16:creationId xmlns:a16="http://schemas.microsoft.com/office/drawing/2014/main" id="{72E29A8C-1DAB-44C6-BFE2-34619BBD7827}"/>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μ, σ²</a:t>
            </a:r>
          </a:p>
        </p:txBody>
      </p:sp>
      <p:sp>
        <p:nvSpPr>
          <p:cNvPr id="6" name="body">
            <a:extLst xmlns:a="http://schemas.openxmlformats.org/drawingml/2006/main">
              <a:ext uri="{FF2B5EF4-FFF2-40B4-BE49-F238E27FC236}">
                <a16:creationId xmlns:a16="http://schemas.microsoft.com/office/drawing/2014/main" id="{7B9E9503-3DC4-4BCE-B143-B2632B969B40}"/>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Mean and variance across the features of one token</a:t>
            </a:r>
          </a:p>
        </p:txBody>
      </p:sp>
      <p:sp>
        <p:nvSpPr>
          <p:cNvPr id="7" name="body">
            <a:extLst xmlns:a="http://schemas.openxmlformats.org/drawingml/2006/main">
              <a:ext uri="{FF2B5EF4-FFF2-40B4-BE49-F238E27FC236}">
                <a16:creationId xmlns:a16="http://schemas.microsoft.com/office/drawing/2014/main" id="{B4F64ED8-BB40-47EA-AE87-9F4FC229C70E}"/>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γ, β, ε</a:t>
            </a:r>
          </a:p>
        </p:txBody>
      </p:sp>
      <p:sp>
        <p:nvSpPr>
          <p:cNvPr id="8" name="body">
            <a:extLst xmlns:a="http://schemas.openxmlformats.org/drawingml/2006/main">
              <a:ext uri="{FF2B5EF4-FFF2-40B4-BE49-F238E27FC236}">
                <a16:creationId xmlns:a16="http://schemas.microsoft.com/office/drawing/2014/main" id="{AA358436-B203-4BA6-BAFC-3953B59170B3}"/>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scale, learned offset, small denominator constant</a:t>
            </a:r>
          </a:p>
        </p:txBody>
      </p:sp>
      <p:sp>
        <p:nvSpPr>
          <p:cNvPr id="9" name="body">
            <a:extLst xmlns:a="http://schemas.openxmlformats.org/drawingml/2006/main">
              <a:ext uri="{FF2B5EF4-FFF2-40B4-BE49-F238E27FC236}">
                <a16:creationId xmlns:a16="http://schemas.microsoft.com/office/drawing/2014/main" id="{E627E098-16AA-4532-99EB-6EB69EDCE832}"/>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W₁, W₂</a:t>
            </a:r>
          </a:p>
        </p:txBody>
      </p:sp>
      <p:sp>
        <p:nvSpPr>
          <p:cNvPr id="10" name="body">
            <a:extLst xmlns:a="http://schemas.openxmlformats.org/drawingml/2006/main">
              <a:ext uri="{FF2B5EF4-FFF2-40B4-BE49-F238E27FC236}">
                <a16:creationId xmlns:a16="http://schemas.microsoft.com/office/drawing/2014/main" id="{AE77A058-35AF-435C-8C37-6B31F0D168D9}"/>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Project 64 features to 192, then back to 64</a:t>
            </a:r>
          </a:p>
        </p:txBody>
      </p:sp>
      <p:sp>
        <p:nvSpPr>
          <p:cNvPr id="11" name="body">
            <a:extLst xmlns:a="http://schemas.openxmlformats.org/drawingml/2006/main">
              <a:ext uri="{FF2B5EF4-FFF2-40B4-BE49-F238E27FC236}">
                <a16:creationId xmlns:a16="http://schemas.microsoft.com/office/drawing/2014/main" id="{81AEE006-92CD-403E-B6A0-3ED99C46E55E}"/>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GELU, ⊙</a:t>
            </a:r>
          </a:p>
        </p:txBody>
      </p:sp>
      <p:sp>
        <p:nvSpPr>
          <p:cNvPr id="12" name="body">
            <a:extLst xmlns:a="http://schemas.openxmlformats.org/drawingml/2006/main">
              <a:ext uri="{FF2B5EF4-FFF2-40B4-BE49-F238E27FC236}">
                <a16:creationId xmlns:a16="http://schemas.microsoft.com/office/drawing/2014/main" id="{0D6AD3C6-4298-4943-A785-6FE7B328CB67}"/>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Nonlinear activation, and element-wise multiplication</a:t>
            </a:r>
          </a:p>
        </p:txBody>
      </p:sp>
      <p:sp>
        <p:nvSpPr>
          <p:cNvPr id="13" name="body">
            <a:extLst xmlns:a="http://schemas.openxmlformats.org/drawingml/2006/main">
              <a:ext uri="{FF2B5EF4-FFF2-40B4-BE49-F238E27FC236}">
                <a16:creationId xmlns:a16="http://schemas.microsoft.com/office/drawing/2014/main" id="{13214CA6-B7A1-438E-99C2-69EA8E74CB3A}"/>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The same FFN parameters apply to every position within a block</a:t>
            </a:r>
          </a:p>
        </p:txBody>
      </p:sp>
    </p:spTree>
    <p:extLst>
      <p:ext uri="{BB962C8B-B14F-4D97-AF65-F5344CB8AC3E}">
        <p14:creationId xmlns:p14="http://schemas.microsoft.com/office/powerpoint/2010/main" val="1336546173"/>
      </p:ext>
    </p:extLst>
  </p:cSld>
</p:sld>
</file>

<file path=ppt/slides/slide2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BCAF3110-E54B-4B0A-B35F-E9DF114B0A6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the loss-mask boundary</a:t>
            </a:r>
          </a:p>
        </p:txBody>
      </p:sp>
      <p:sp>
        <p:nvSpPr>
          <p:cNvPr id="2" name="subtitle">
            <a:extLst xmlns:a="http://schemas.openxmlformats.org/drawingml/2006/main">
              <a:ext uri="{FF2B5EF4-FFF2-40B4-BE49-F238E27FC236}">
                <a16:creationId xmlns:a16="http://schemas.microsoft.com/office/drawing/2014/main" id="{ACC8F39C-76A1-4A58-93C0-E712B232804E}"/>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position holding &lt;OUTPUT&gt; predicts the first output token</a:t>
            </a:r>
          </a:p>
        </p:txBody>
      </p:sp>
      <p:sp>
        <p:nvSpPr>
          <p:cNvPr id="3" name="page-number">
            <a:extLst xmlns:a="http://schemas.openxmlformats.org/drawingml/2006/main">
              <a:ext uri="{FF2B5EF4-FFF2-40B4-BE49-F238E27FC236}">
                <a16:creationId xmlns:a16="http://schemas.microsoft.com/office/drawing/2014/main" id="{46D1D4C0-C35F-4512-BB1D-A7084D9D7BAD}"/>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27</a:t>
            </a:r>
          </a:p>
        </p:txBody>
      </p:sp>
      <p:graphicFrame>
        <p:nvGraphicFramePr>
          <p:cNvPr id="4" name="">
            <a:extLst xmlns:a="http://schemas.openxmlformats.org/drawingml/2006/main">
              <a:ext uri="{FF2B5EF4-FFF2-40B4-BE49-F238E27FC236}">
                <a16:creationId xmlns:a16="http://schemas.microsoft.com/office/drawing/2014/main" id="{588DEFD7-5604-4B5C-891B-A41F3CD2DC09}"/>
              </a:ext>
            </a:extLst>
          </p:cNvPr>
          <p:cNvGraphicFramePr/>
          <p:nvPr/>
        </p:nvGraphicFramePr>
        <p:xfrm>
          <a:off xmlns:a="http://schemas.openxmlformats.org/drawingml/2006/main" x="685800" y="2076450"/>
          <a:ext xmlns:a="http://schemas.openxmlformats.org/drawingml/2006/main" cx="10820400" cy="4000500"/>
        </p:xfrm>
        <a:graphic xmlns:a="http://schemas.openxmlformats.org/drawingml/2006/main">
          <a:graphicData uri="http://schemas.openxmlformats.org/drawingml/2006/table">
            <a:tbl>
              <a:tblPr firstRow="0" bandRow="0"/>
              <a:tblGrid>
                <a:gridCol w="2857500"/>
                <a:gridCol w="2667000"/>
                <a:gridCol w="1524000"/>
                <a:gridCol w="3771900"/>
              </a:tblGrid>
              <a:tr h="571500">
                <a:tc>
                  <a:txBody>
                    <a:bodyPr/>
                    <a:lstStyle/>
                    <a:p>
                      <a:r>
                        <a:rPr sz="1650" b="1">
                          <a:solidFill>
                            <a:srgbClr val="F9F7F1"/>
                          </a:solidFill>
                          <a:latin typeface="Calibri"/>
                          <a:ea typeface="Calibri"/>
                          <a:cs typeface="Calibri"/>
                        </a:rPr>
                        <a:t>Input position token</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Next target</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Loss mask</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Reason</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571500">
                <a:tc>
                  <a:txBody>
                    <a:bodyPr/>
                    <a:lstStyle/>
                    <a:p>
                      <a:r>
                        <a:rPr sz="1725">
                          <a:solidFill>
                            <a:srgbClr val="142D3C"/>
                          </a:solidFill>
                          <a:latin typeface="Calibri"/>
                          <a:ea typeface="Calibri"/>
                          <a:cs typeface="Calibri"/>
                        </a:rPr>
                        <a:t>&lt;INPUT&gt;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PATIENT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Part of source prediction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NSCLC</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&lt;OUTPUT&gt;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Task boundary target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&lt;OUTPUT&gt;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PATIENT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First output token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PATIENT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[NAME]</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Output placeholder</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Final output NSCLC</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&lt;EOS&gt;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Learn termination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&lt;PAD&gt;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&lt;PAD&gt;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Filler only</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422434517"/>
      </p:ext>
    </p:extLst>
  </p:cSld>
</p:sld>
</file>

<file path=ppt/slides/slide2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74832109-96B8-438A-BDAC-E5DC26070DF5}"/>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an illustrative parameter budget</a:t>
            </a:r>
          </a:p>
        </p:txBody>
      </p:sp>
      <p:sp>
        <p:nvSpPr>
          <p:cNvPr id="2" name="subtitle">
            <a:extLst xmlns:a="http://schemas.openxmlformats.org/drawingml/2006/main">
              <a:ext uri="{FF2B5EF4-FFF2-40B4-BE49-F238E27FC236}">
                <a16:creationId xmlns:a16="http://schemas.microsoft.com/office/drawing/2014/main" id="{041F914E-256C-43E7-861E-2FBDDD46C1D1}"/>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Two blocks, d = 64, d_ff = 192, context = 96, untied embeddings</a:t>
            </a:r>
          </a:p>
        </p:txBody>
      </p:sp>
      <p:sp>
        <p:nvSpPr>
          <p:cNvPr id="3" name="page-number">
            <a:extLst xmlns:a="http://schemas.openxmlformats.org/drawingml/2006/main">
              <a:ext uri="{FF2B5EF4-FFF2-40B4-BE49-F238E27FC236}">
                <a16:creationId xmlns:a16="http://schemas.microsoft.com/office/drawing/2014/main" id="{4982F4E8-67CB-4DA4-93DF-4F916B2D7B60}"/>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28</a:t>
            </a:r>
          </a:p>
        </p:txBody>
      </p:sp>
      <p:graphicFrame>
        <p:nvGraphicFramePr>
          <p:cNvPr id="4" name="">
            <a:extLst xmlns:a="http://schemas.openxmlformats.org/drawingml/2006/main">
              <a:ext uri="{FF2B5EF4-FFF2-40B4-BE49-F238E27FC236}">
                <a16:creationId xmlns:a16="http://schemas.microsoft.com/office/drawing/2014/main" id="{41AE00BC-6D18-42D8-B639-183F604E9B77}"/>
              </a:ext>
            </a:extLst>
          </p:cNvPr>
          <p:cNvGraphicFramePr/>
          <p:nvPr/>
        </p:nvGraphicFramePr>
        <p:xfrm>
          <a:off xmlns:a="http://schemas.openxmlformats.org/drawingml/2006/main" x="685800" y="2076450"/>
          <a:ext xmlns:a="http://schemas.openxmlformats.org/drawingml/2006/main" cx="10820400" cy="4000500"/>
        </p:xfrm>
        <a:graphic xmlns:a="http://schemas.openxmlformats.org/drawingml/2006/main">
          <a:graphicData uri="http://schemas.openxmlformats.org/drawingml/2006/table">
            <a:tbl>
              <a:tblPr firstRow="0" bandRow="0"/>
              <a:tblGrid>
                <a:gridCol w="4152900"/>
                <a:gridCol w="4857750"/>
                <a:gridCol w="1809750"/>
              </a:tblGrid>
              <a:tr h="571500">
                <a:tc>
                  <a:txBody>
                    <a:bodyPr/>
                    <a:lstStyle/>
                    <a:p>
                      <a:r>
                        <a:rPr sz="1650" b="1">
                          <a:solidFill>
                            <a:srgbClr val="F9F7F1"/>
                          </a:solidFill>
                          <a:latin typeface="Calibri"/>
                          <a:ea typeface="Calibri"/>
                          <a:cs typeface="Calibri"/>
                        </a:rPr>
                        <a:t>Component</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Count formula</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If V = 128</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571500">
                <a:tc>
                  <a:txBody>
                    <a:bodyPr/>
                    <a:lstStyle/>
                    <a:p>
                      <a:r>
                        <a:rPr sz="1725">
                          <a:solidFill>
                            <a:srgbClr val="142D3C"/>
                          </a:solidFill>
                          <a:latin typeface="Calibri"/>
                          <a:ea typeface="Calibri"/>
                          <a:cs typeface="Calibri"/>
                        </a:rPr>
                        <a:t>Token embedding + output head</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 × V × 64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16,384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Position embedding</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96 × 64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6,144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Attention projections, two blocks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 × 4 × 64²</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32,768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FFNs with biases, two blocks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 × (2 × 64 × 192 + 192 + 64)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49,664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Block and final LayerNorms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 × 4 × 64 + 2 × 64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640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Total</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128V + 89,216</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105,600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000945625"/>
      </p:ext>
    </p:extLst>
  </p:cSld>
</p:sld>
</file>

<file path=ppt/slides/slide2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6C9C278B-100A-44A5-A645-A301D66DE54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the autoregressive loop</a:t>
            </a:r>
          </a:p>
        </p:txBody>
      </p:sp>
      <p:sp>
        <p:nvSpPr>
          <p:cNvPr id="2" name="subtitle">
            <a:extLst xmlns:a="http://schemas.openxmlformats.org/drawingml/2006/main">
              <a:ext uri="{FF2B5EF4-FFF2-40B4-BE49-F238E27FC236}">
                <a16:creationId xmlns:a16="http://schemas.microsoft.com/office/drawing/2014/main" id="{0D056ACB-703D-458B-AD69-B3D3C18BA830}"/>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Conceptual pseudocode, not a recorded run</a:t>
            </a:r>
          </a:p>
        </p:txBody>
      </p:sp>
      <p:sp>
        <p:nvSpPr>
          <p:cNvPr id="3" name="page-number">
            <a:extLst xmlns:a="http://schemas.openxmlformats.org/drawingml/2006/main">
              <a:ext uri="{FF2B5EF4-FFF2-40B4-BE49-F238E27FC236}">
                <a16:creationId xmlns:a16="http://schemas.microsoft.com/office/drawing/2014/main" id="{C8F53D17-23B6-4923-BC34-05E7F35CA57D}"/>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29</a:t>
            </a:r>
          </a:p>
        </p:txBody>
      </p:sp>
      <p:sp>
        <p:nvSpPr>
          <p:cNvPr id="4" name="body">
            <a:extLst xmlns:a="http://schemas.openxmlformats.org/drawingml/2006/main">
              <a:ext uri="{FF2B5EF4-FFF2-40B4-BE49-F238E27FC236}">
                <a16:creationId xmlns:a16="http://schemas.microsoft.com/office/drawing/2014/main" id="{7E3B5E8C-FE13-467D-B326-7F29BEC0619A}"/>
              </a:ext>
            </a:extLst>
          </p:cNvPr>
          <p:cNvSpPr>
            <a:spLocks xmlns:a="http://schemas.openxmlformats.org/drawingml/2006/main" noGrp="1"/>
          </p:cNvSpPr>
          <p:nvPr/>
        </p:nvSpPr>
        <p:spPr>
          <a:xfrm xmlns:a="http://schemas.openxmlformats.org/drawingml/2006/main">
            <a:off x="685800" y="2143125"/>
            <a:ext cx="108204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42D3C"/>
                </a:solidFill>
                <a:latin typeface="Calibri"/>
                <a:ea typeface="Calibri"/>
                <a:cs typeface="Calibri"/>
              </a:defRPr>
            </a:defPPr>
            <a:lvl1pPr>
              <a:defRPr sz="2325" b="0">
                <a:solidFill>
                  <a:srgbClr val="142D3C"/>
                </a:solidFill>
                <a:latin typeface="Calibri"/>
                <a:ea typeface="Calibri"/>
                <a:cs typeface="Calibri"/>
              </a:defRPr>
            </a:lvl1pPr>
            <a:lvl2pPr>
              <a:defRPr sz="2325" b="0">
                <a:solidFill>
                  <a:srgbClr val="142D3C"/>
                </a:solidFill>
                <a:latin typeface="Calibri"/>
                <a:ea typeface="Calibri"/>
                <a:cs typeface="Calibri"/>
              </a:defRPr>
            </a:lvl2pPr>
            <a:lvl3pPr>
              <a:defRPr sz="2325" b="0">
                <a:solidFill>
                  <a:srgbClr val="142D3C"/>
                </a:solidFill>
                <a:latin typeface="Calibri"/>
                <a:ea typeface="Calibri"/>
                <a:cs typeface="Calibri"/>
              </a:defRPr>
            </a:lvl3pPr>
            <a:lvl4pPr>
              <a:defRPr sz="2325" b="0">
                <a:solidFill>
                  <a:srgbClr val="142D3C"/>
                </a:solidFill>
                <a:latin typeface="Calibri"/>
                <a:ea typeface="Calibri"/>
                <a:cs typeface="Calibri"/>
              </a:defRPr>
            </a:lvl4pPr>
            <a:lvl5pPr>
              <a:defRPr sz="2325" b="0">
                <a:solidFill>
                  <a:srgbClr val="142D3C"/>
                </a:solidFill>
                <a:latin typeface="Calibri"/>
                <a:ea typeface="Calibri"/>
                <a:cs typeface="Calibri"/>
              </a:defRPr>
            </a:lvl5pPr>
            <a:lvl6pPr>
              <a:defRPr sz="2325" b="0">
                <a:solidFill>
                  <a:srgbClr val="142D3C"/>
                </a:solidFill>
                <a:latin typeface="Calibri"/>
                <a:ea typeface="Calibri"/>
                <a:cs typeface="Calibri"/>
              </a:defRPr>
            </a:lvl6pPr>
            <a:lvl7pPr>
              <a:defRPr sz="2325" b="0">
                <a:solidFill>
                  <a:srgbClr val="142D3C"/>
                </a:solidFill>
                <a:latin typeface="Calibri"/>
                <a:ea typeface="Calibri"/>
                <a:cs typeface="Calibri"/>
              </a:defRPr>
            </a:lvl7pPr>
            <a:lvl8pPr>
              <a:defRPr sz="2325" b="0">
                <a:solidFill>
                  <a:srgbClr val="142D3C"/>
                </a:solidFill>
                <a:latin typeface="Calibri"/>
                <a:ea typeface="Calibri"/>
                <a:cs typeface="Calibri"/>
              </a:defRPr>
            </a:lvl8pPr>
            <a:lvl9pPr>
              <a:defRPr sz="2325" b="0">
                <a:solidFill>
                  <a:srgbClr val="142D3C"/>
                </a:solidFill>
                <a:latin typeface="Calibri"/>
                <a:ea typeface="Calibri"/>
                <a:cs typeface="Calibri"/>
              </a:defRPr>
            </a:lvl9pPr>
          </a:lstStyle>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ids = encode(source_prompt_through_OUTPUT)</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while generated_count &lt; limit:</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logits = model(ids)</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next_logits = logits[:, -1, :]</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next_id = argmax(next_logits)       # explicit greedy mode</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ids = append(ids, next_id)</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if next_id == EOS:</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break</a:t>
            </a:r>
          </a:p>
        </p:txBody>
      </p:sp>
      <p:sp>
        <p:nvSpPr>
          <p:cNvPr id="5" name="body">
            <a:extLst xmlns:a="http://schemas.openxmlformats.org/drawingml/2006/main">
              <a:ext uri="{FF2B5EF4-FFF2-40B4-BE49-F238E27FC236}">
                <a16:creationId xmlns:a16="http://schemas.microsoft.com/office/drawing/2014/main" id="{F40C17E9-1378-47BF-9AD4-52FD3D12CE91}"/>
              </a:ext>
            </a:extLst>
          </p:cNvPr>
          <p:cNvSpPr>
            <a:spLocks xmlns:a="http://schemas.openxmlformats.org/drawingml/2006/main" noGrp="1"/>
          </p:cNvSpPr>
          <p:nvPr/>
        </p:nvSpPr>
        <p:spPr>
          <a:xfrm xmlns:a="http://schemas.openxmlformats.org/drawingml/2006/main">
            <a:off x="685800" y="59817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A separate sampling mode applies softmax(logits / temperature) and samples from it</a:t>
            </a:r>
          </a:p>
        </p:txBody>
      </p:sp>
    </p:spTree>
    <p:extLst>
      <p:ext uri="{BB962C8B-B14F-4D97-AF65-F5344CB8AC3E}">
        <p14:creationId xmlns:p14="http://schemas.microsoft.com/office/powerpoint/2010/main" val="363613038"/>
      </p:ext>
    </p:extLst>
  </p:cSld>
</p:sld>
</file>

<file path=ppt/slides/slide3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E2F0435E-01E4-45E6-9903-C240EC68E4E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starter issues to resolve</a:t>
            </a:r>
          </a:p>
        </p:txBody>
      </p:sp>
      <p:sp>
        <p:nvSpPr>
          <p:cNvPr id="2" name="subtitle">
            <a:extLst xmlns:a="http://schemas.openxmlformats.org/drawingml/2006/main">
              <a:ext uri="{FF2B5EF4-FFF2-40B4-BE49-F238E27FC236}">
                <a16:creationId xmlns:a16="http://schemas.microsoft.com/office/drawing/2014/main" id="{BEAF08D3-7367-4F72-8BF7-1DCC4E4DB114}"/>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Code inspection identifies work, not experimental results</a:t>
            </a:r>
          </a:p>
        </p:txBody>
      </p:sp>
      <p:sp>
        <p:nvSpPr>
          <p:cNvPr id="3" name="page-number">
            <a:extLst xmlns:a="http://schemas.openxmlformats.org/drawingml/2006/main">
              <a:ext uri="{FF2B5EF4-FFF2-40B4-BE49-F238E27FC236}">
                <a16:creationId xmlns:a16="http://schemas.microsoft.com/office/drawing/2014/main" id="{7FAC98DF-6910-408C-89BA-A806541F76A7}"/>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30</a:t>
            </a:r>
          </a:p>
        </p:txBody>
      </p:sp>
      <p:graphicFrame>
        <p:nvGraphicFramePr>
          <p:cNvPr id="4" name="">
            <a:extLst xmlns:a="http://schemas.openxmlformats.org/drawingml/2006/main">
              <a:ext uri="{FF2B5EF4-FFF2-40B4-BE49-F238E27FC236}">
                <a16:creationId xmlns:a16="http://schemas.microsoft.com/office/drawing/2014/main" id="{5AB86554-2259-4D75-97B6-5223FF1A0021}"/>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2190750"/>
                <a:gridCol w="4286250"/>
                <a:gridCol w="4343400"/>
              </a:tblGrid>
              <a:tr h="650875">
                <a:tc>
                  <a:txBody>
                    <a:bodyPr/>
                    <a:lstStyle/>
                    <a:p>
                      <a:r>
                        <a:rPr sz="1650" b="1">
                          <a:solidFill>
                            <a:srgbClr val="F9F7F1"/>
                          </a:solidFill>
                          <a:latin typeface="Calibri"/>
                          <a:ea typeface="Calibri"/>
                          <a:cs typeface="Calibri"/>
                        </a:rPr>
                        <a:t>Issue</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Observed starter behavior</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Required change or disclosure</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Template holdout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 four templates occur across splits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Add a genuinely held-out layout partition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ID isolation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MRN and phone use random sampling</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Guarantee exact identifier disjointness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Metrics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Placeholder counts ignore field alignment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Add alignment and direct leakage checks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Decoding</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Temperature threshold switches selection mode</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Separate greedy and sampled generation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Context length</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Dataset and generation truncate sequences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Reject or handle overflow with explicit reporting</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934661170"/>
      </p:ext>
    </p:extLst>
  </p:cSld>
</p:sld>
</file>

<file path=ppt/slides/slide3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5314EFE7-9891-4ACF-A9A0-C2A397706875}"/>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questions for the technical discussion</a:t>
            </a:r>
          </a:p>
        </p:txBody>
      </p:sp>
      <p:sp>
        <p:nvSpPr>
          <p:cNvPr id="2" name="page-number">
            <a:extLst xmlns:a="http://schemas.openxmlformats.org/drawingml/2006/main">
              <a:ext uri="{FF2B5EF4-FFF2-40B4-BE49-F238E27FC236}">
                <a16:creationId xmlns:a16="http://schemas.microsoft.com/office/drawing/2014/main" id="{C4B8FBB8-B42C-44D5-8566-AADC8F03FABE}"/>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31</a:t>
            </a:r>
          </a:p>
        </p:txBody>
      </p:sp>
      <p:sp>
        <p:nvSpPr>
          <p:cNvPr id="3" name="body">
            <a:extLst xmlns:a="http://schemas.openxmlformats.org/drawingml/2006/main">
              <a:ext uri="{FF2B5EF4-FFF2-40B4-BE49-F238E27FC236}">
                <a16:creationId xmlns:a16="http://schemas.microsoft.com/office/drawing/2014/main" id="{4AB36030-42E9-4625-81E6-1567FE0FB08A}"/>
              </a:ext>
            </a:extLst>
          </p:cNvPr>
          <p:cNvSpPr>
            <a:spLocks xmlns:a="http://schemas.openxmlformats.org/drawingml/2006/main" noGrp="1"/>
          </p:cNvSpPr>
          <p:nvPr/>
        </p:nvSpPr>
        <p:spPr>
          <a:xfrm xmlns:a="http://schemas.openxmlformats.org/drawingml/2006/main">
            <a:off x="685800" y="2143125"/>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Mechanism and learning</a:t>
            </a:r>
          </a:p>
        </p:txBody>
      </p:sp>
      <p:sp>
        <p:nvSpPr>
          <p:cNvPr id="4" name="body">
            <a:extLst xmlns:a="http://schemas.openxmlformats.org/drawingml/2006/main">
              <a:ext uri="{FF2B5EF4-FFF2-40B4-BE49-F238E27FC236}">
                <a16:creationId xmlns:a16="http://schemas.microsoft.com/office/drawing/2014/main" id="{1630FC48-25E5-4224-B857-51181E2E1E0C}"/>
              </a:ext>
            </a:extLst>
          </p:cNvPr>
          <p:cNvSpPr>
            <a:spLocks xmlns:a="http://schemas.openxmlformats.org/drawingml/2006/main" noGrp="1"/>
          </p:cNvSpPr>
          <p:nvPr/>
        </p:nvSpPr>
        <p:spPr>
          <a:xfrm xmlns:a="http://schemas.openxmlformats.org/drawingml/2006/main">
            <a:off x="6429375" y="2143125"/>
            <a:ext cx="50768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Evidence and engineering</a:t>
            </a:r>
          </a:p>
        </p:txBody>
      </p:sp>
      <p:sp>
        <p:nvSpPr>
          <p:cNvPr id="5" name="body">
            <a:extLst xmlns:a="http://schemas.openxmlformats.org/drawingml/2006/main">
              <a:ext uri="{FF2B5EF4-FFF2-40B4-BE49-F238E27FC236}">
                <a16:creationId xmlns:a16="http://schemas.microsoft.com/office/drawing/2014/main" id="{DA93ACCC-FA42-46A8-A766-28B4F0DE5CBF}"/>
              </a:ext>
            </a:extLst>
          </p:cNvPr>
          <p:cNvSpPr>
            <a:spLocks xmlns:a="http://schemas.openxmlformats.org/drawingml/2006/main" noGrp="1"/>
          </p:cNvSpPr>
          <p:nvPr/>
        </p:nvSpPr>
        <p:spPr>
          <a:xfrm xmlns:a="http://schemas.openxmlformats.org/drawingml/2006/main">
            <a:off x="685800" y="302895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How does the loss mask train source representations?</a:t>
            </a:r>
          </a:p>
        </p:txBody>
      </p:sp>
      <p:sp>
        <p:nvSpPr>
          <p:cNvPr id="6" name="body">
            <a:extLst xmlns:a="http://schemas.openxmlformats.org/drawingml/2006/main">
              <a:ext uri="{FF2B5EF4-FFF2-40B4-BE49-F238E27FC236}">
                <a16:creationId xmlns:a16="http://schemas.microsoft.com/office/drawing/2014/main" id="{22E221A1-A70C-4DC0-A818-9E417D795D9E}"/>
              </a:ext>
            </a:extLst>
          </p:cNvPr>
          <p:cNvSpPr>
            <a:spLocks xmlns:a="http://schemas.openxmlformats.org/drawingml/2006/main" noGrp="1"/>
          </p:cNvSpPr>
          <p:nvPr/>
        </p:nvSpPr>
        <p:spPr>
          <a:xfrm xmlns:a="http://schemas.openxmlformats.org/drawingml/2006/main">
            <a:off x="685800" y="389572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Why can Model A score well but fail the context pair?</a:t>
            </a:r>
          </a:p>
        </p:txBody>
      </p:sp>
      <p:sp>
        <p:nvSpPr>
          <p:cNvPr id="7" name="body">
            <a:extLst xmlns:a="http://schemas.openxmlformats.org/drawingml/2006/main">
              <a:ext uri="{FF2B5EF4-FFF2-40B4-BE49-F238E27FC236}">
                <a16:creationId xmlns:a16="http://schemas.microsoft.com/office/drawing/2014/main" id="{DB6884DA-7C3C-4E12-BF00-D3979DDC76F3}"/>
              </a:ext>
            </a:extLst>
          </p:cNvPr>
          <p:cNvSpPr>
            <a:spLocks xmlns:a="http://schemas.openxmlformats.org/drawingml/2006/main" noGrp="1"/>
          </p:cNvSpPr>
          <p:nvPr/>
        </p:nvSpPr>
        <p:spPr>
          <a:xfrm xmlns:a="http://schemas.openxmlformats.org/drawingml/2006/main">
            <a:off x="685800" y="476250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Why do additional heads not guarantee better results?</a:t>
            </a:r>
          </a:p>
        </p:txBody>
      </p:sp>
      <p:sp>
        <p:nvSpPr>
          <p:cNvPr id="8" name="body">
            <a:extLst xmlns:a="http://schemas.openxmlformats.org/drawingml/2006/main">
              <a:ext uri="{FF2B5EF4-FFF2-40B4-BE49-F238E27FC236}">
                <a16:creationId xmlns:a16="http://schemas.microsoft.com/office/drawing/2014/main" id="{4C208F04-C205-458F-8B40-53D2366859A6}"/>
              </a:ext>
            </a:extLst>
          </p:cNvPr>
          <p:cNvSpPr>
            <a:spLocks xmlns:a="http://schemas.openxmlformats.org/drawingml/2006/main" noGrp="1"/>
          </p:cNvSpPr>
          <p:nvPr/>
        </p:nvSpPr>
        <p:spPr>
          <a:xfrm xmlns:a="http://schemas.openxmlformats.org/drawingml/2006/main">
            <a:off x="6429375" y="302895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Could the tokenizer make zero leakage inevitable?</a:t>
            </a:r>
          </a:p>
        </p:txBody>
      </p:sp>
      <p:sp>
        <p:nvSpPr>
          <p:cNvPr id="9" name="body">
            <a:extLst xmlns:a="http://schemas.openxmlformats.org/drawingml/2006/main">
              <a:ext uri="{FF2B5EF4-FFF2-40B4-BE49-F238E27FC236}">
                <a16:creationId xmlns:a16="http://schemas.microsoft.com/office/drawing/2014/main" id="{3239CFFF-0A88-419B-B9A7-51043D3E360E}"/>
              </a:ext>
            </a:extLst>
          </p:cNvPr>
          <p:cNvSpPr>
            <a:spLocks xmlns:a="http://schemas.openxmlformats.org/drawingml/2006/main" noGrp="1"/>
          </p:cNvSpPr>
          <p:nvPr/>
        </p:nvSpPr>
        <p:spPr>
          <a:xfrm xmlns:a="http://schemas.openxmlformats.org/drawingml/2006/main">
            <a:off x="6429375" y="3895725"/>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Which split proves unseen-template behavior?</a:t>
            </a:r>
          </a:p>
        </p:txBody>
      </p:sp>
      <p:sp>
        <p:nvSpPr>
          <p:cNvPr id="10" name="body">
            <a:extLst xmlns:a="http://schemas.openxmlformats.org/drawingml/2006/main">
              <a:ext uri="{FF2B5EF4-FFF2-40B4-BE49-F238E27FC236}">
                <a16:creationId xmlns:a16="http://schemas.microsoft.com/office/drawing/2014/main" id="{EE8A0310-20D2-4937-A49B-70A409F787CF}"/>
              </a:ext>
            </a:extLst>
          </p:cNvPr>
          <p:cNvSpPr>
            <a:spLocks xmlns:a="http://schemas.openxmlformats.org/drawingml/2006/main" noGrp="1"/>
          </p:cNvSpPr>
          <p:nvPr/>
        </p:nvSpPr>
        <p:spPr>
          <a:xfrm xmlns:a="http://schemas.openxmlformats.org/drawingml/2006/main">
            <a:off x="6429375" y="476250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What does the full GPT add over a rules baseline?</a:t>
            </a:r>
          </a:p>
        </p:txBody>
      </p:sp>
      <p:sp>
        <p:nvSpPr>
          <p:cNvPr id="11" name="body">
            <a:extLst xmlns:a="http://schemas.openxmlformats.org/drawingml/2006/main">
              <a:ext uri="{FF2B5EF4-FFF2-40B4-BE49-F238E27FC236}">
                <a16:creationId xmlns:a16="http://schemas.microsoft.com/office/drawing/2014/main" id="{D5A50BE5-1849-4684-BA0D-64482BF34D49}"/>
              </a:ext>
            </a:extLst>
          </p:cNvPr>
          <p:cNvSpPr>
            <a:spLocks xmlns:a="http://schemas.openxmlformats.org/drawingml/2006/main" noGrp="1"/>
          </p:cNvSpPr>
          <p:nvPr/>
        </p:nvSpPr>
        <p:spPr>
          <a:xfrm xmlns:a="http://schemas.openxmlformats.org/drawingml/2006/main">
            <a:off x="685800" y="59817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Answers should refer to code, controlled tests and actual generated examples</a:t>
            </a:r>
          </a:p>
        </p:txBody>
      </p:sp>
    </p:spTree>
    <p:extLst>
      <p:ext uri="{BB962C8B-B14F-4D97-AF65-F5344CB8AC3E}">
        <p14:creationId xmlns:p14="http://schemas.microsoft.com/office/powerpoint/2010/main" val="452273265"/>
      </p:ext>
    </p:extLst>
  </p:cSld>
</p:sld>
</file>

<file path=ppt/slides/slide3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6" name="heading">
            <a:extLst xmlns:a="http://schemas.openxmlformats.org/drawingml/2006/main">
              <a:ext uri="{FF2B5EF4-FFF2-40B4-BE49-F238E27FC236}">
                <a16:creationId xmlns:a16="http://schemas.microsoft.com/office/drawing/2014/main" id="{CE86C6C7-719F-4D60-A9F4-57F278E0CE9E}"/>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evidence and references</a:t>
            </a:r>
          </a:p>
        </p:txBody>
      </p:sp>
      <p:sp>
        <p:nvSpPr>
          <p:cNvPr id="2" name="page-number">
            <a:extLst xmlns:a="http://schemas.openxmlformats.org/drawingml/2006/main">
              <a:ext uri="{FF2B5EF4-FFF2-40B4-BE49-F238E27FC236}">
                <a16:creationId xmlns:a16="http://schemas.microsoft.com/office/drawing/2014/main" id="{6669C5F8-D5A8-4C07-B541-E52AC4564C00}"/>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32</a:t>
            </a:r>
          </a:p>
        </p:txBody>
      </p:sp>
      <p:sp>
        <p:nvSpPr>
          <p:cNvPr id="3" name="body">
            <a:extLst xmlns:a="http://schemas.openxmlformats.org/drawingml/2006/main">
              <a:ext uri="{FF2B5EF4-FFF2-40B4-BE49-F238E27FC236}">
                <a16:creationId xmlns:a16="http://schemas.microsoft.com/office/drawing/2014/main" id="{3B04B46B-CFF5-410F-AA52-20B185090E5F}"/>
              </a:ext>
            </a:extLst>
          </p:cNvPr>
          <p:cNvSpPr>
            <a:spLocks xmlns:a="http://schemas.openxmlformats.org/drawingml/2006/main" noGrp="1"/>
          </p:cNvSpPr>
          <p:nvPr/>
        </p:nvSpPr>
        <p:spPr>
          <a:xfrm xmlns:a="http://schemas.openxmlformats.org/drawingml/2006/main">
            <a:off x="685800" y="198120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Project assignment</a:t>
            </a:r>
          </a:p>
        </p:txBody>
      </p:sp>
      <p:sp>
        <p:nvSpPr>
          <p:cNvPr id="4" name="body">
            <a:extLst xmlns:a="http://schemas.openxmlformats.org/drawingml/2006/main">
              <a:ext uri="{FF2B5EF4-FFF2-40B4-BE49-F238E27FC236}">
                <a16:creationId xmlns:a16="http://schemas.microsoft.com/office/drawing/2014/main" id="{3BAEAC5D-43C6-431E-B4D3-CF3B624A5C3F}"/>
              </a:ext>
            </a:extLst>
          </p:cNvPr>
          <p:cNvSpPr>
            <a:spLocks xmlns:a="http://schemas.openxmlformats.org/drawingml/2006/main" noGrp="1"/>
          </p:cNvSpPr>
          <p:nvPr/>
        </p:nvSpPr>
        <p:spPr>
          <a:xfrm xmlns:a="http://schemas.openxmlformats.org/drawingml/2006/main">
            <a:off x="3714750" y="1981200"/>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Week 6 Tiny-GPT exercise and Tiny Mitra task specification</a:t>
            </a:r>
          </a:p>
        </p:txBody>
      </p:sp>
      <p:sp>
        <p:nvSpPr>
          <p:cNvPr id="5" name="body">
            <a:extLst xmlns:a="http://schemas.openxmlformats.org/drawingml/2006/main">
              <a:ext uri="{FF2B5EF4-FFF2-40B4-BE49-F238E27FC236}">
                <a16:creationId xmlns:a16="http://schemas.microsoft.com/office/drawing/2014/main" id="{8CA1C23E-7CB9-4310-A4B4-223664DA1F8B}"/>
              </a:ext>
            </a:extLst>
          </p:cNvPr>
          <p:cNvSpPr>
            <a:spLocks xmlns:a="http://schemas.openxmlformats.org/drawingml/2006/main" noGrp="1"/>
          </p:cNvSpPr>
          <p:nvPr/>
        </p:nvSpPr>
        <p:spPr>
          <a:xfrm xmlns:a="http://schemas.openxmlformats.org/drawingml/2006/main">
            <a:off x="685800" y="26003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Completed experiment</a:t>
            </a:r>
          </a:p>
        </p:txBody>
      </p:sp>
      <p:sp>
        <p:nvSpPr>
          <p:cNvPr id="6" name="body">
            <a:extLst xmlns:a="http://schemas.openxmlformats.org/drawingml/2006/main">
              <a:ext uri="{FF2B5EF4-FFF2-40B4-BE49-F238E27FC236}">
                <a16:creationId xmlns:a16="http://schemas.microsoft.com/office/drawing/2014/main" id="{0BF3CE19-1C63-48AE-944F-A41EE7B3B3F0}"/>
              </a:ext>
            </a:extLst>
          </p:cNvPr>
          <p:cNvSpPr>
            <a:spLocks xmlns:a="http://schemas.openxmlformats.org/drawingml/2006/main" noGrp="1"/>
          </p:cNvSpPr>
          <p:nvPr/>
        </p:nvSpPr>
        <p:spPr>
          <a:xfrm xmlns:a="http://schemas.openxmlformats.org/drawingml/2006/main">
            <a:off x="3714750" y="2600325"/>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Week 5 arch_results.json and the NumPy training implementation</a:t>
            </a:r>
          </a:p>
        </p:txBody>
      </p:sp>
      <p:sp>
        <p:nvSpPr>
          <p:cNvPr id="7" name="body">
            <a:extLst xmlns:a="http://schemas.openxmlformats.org/drawingml/2006/main">
              <a:ext uri="{FF2B5EF4-FFF2-40B4-BE49-F238E27FC236}">
                <a16:creationId xmlns:a16="http://schemas.microsoft.com/office/drawing/2014/main" id="{F49C417A-1C1B-4781-AB0F-5BD6AE7BCA49}"/>
              </a:ext>
            </a:extLst>
          </p:cNvPr>
          <p:cNvSpPr>
            <a:spLocks xmlns:a="http://schemas.openxmlformats.org/drawingml/2006/main" noGrp="1"/>
          </p:cNvSpPr>
          <p:nvPr/>
        </p:nvSpPr>
        <p:spPr>
          <a:xfrm xmlns:a="http://schemas.openxmlformats.org/drawingml/2006/main">
            <a:off x="685800" y="321945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Mitra starter</a:t>
            </a:r>
          </a:p>
        </p:txBody>
      </p:sp>
      <p:sp>
        <p:nvSpPr>
          <p:cNvPr id="8" name="body">
            <a:extLst xmlns:a="http://schemas.openxmlformats.org/drawingml/2006/main">
              <a:ext uri="{FF2B5EF4-FFF2-40B4-BE49-F238E27FC236}">
                <a16:creationId xmlns:a16="http://schemas.microsoft.com/office/drawing/2014/main" id="{1D638666-6969-4AE4-A104-5ED39705B05B}"/>
              </a:ext>
            </a:extLst>
          </p:cNvPr>
          <p:cNvSpPr>
            <a:spLocks xmlns:a="http://schemas.openxmlformats.org/drawingml/2006/main" noGrp="1"/>
          </p:cNvSpPr>
          <p:nvPr/>
        </p:nvSpPr>
        <p:spPr>
          <a:xfrm xmlns:a="http://schemas.openxmlformats.org/drawingml/2006/main">
            <a:off x="3714750" y="3219450"/>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model.py, data.py, tokenizer.py, generation.py and metrics.py</a:t>
            </a:r>
          </a:p>
        </p:txBody>
      </p:sp>
      <p:sp>
        <p:nvSpPr>
          <p:cNvPr id="9" name="body">
            <a:extLst xmlns:a="http://schemas.openxmlformats.org/drawingml/2006/main">
              <a:ext uri="{FF2B5EF4-FFF2-40B4-BE49-F238E27FC236}">
                <a16:creationId xmlns:a16="http://schemas.microsoft.com/office/drawing/2014/main" id="{E3ADFE75-D3F8-4A73-9E4F-D678EEA5FCC6}"/>
              </a:ext>
            </a:extLst>
          </p:cNvPr>
          <p:cNvSpPr>
            <a:spLocks xmlns:a="http://schemas.openxmlformats.org/drawingml/2006/main" noGrp="1"/>
          </p:cNvSpPr>
          <p:nvPr/>
        </p:nvSpPr>
        <p:spPr>
          <a:xfrm xmlns:a="http://schemas.openxmlformats.org/drawingml/2006/main">
            <a:off x="685800" y="383857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Architecture</a:t>
            </a:r>
          </a:p>
        </p:txBody>
      </p:sp>
      <p:sp>
        <p:nvSpPr>
          <p:cNvPr id="10" name="body">
            <a:extLst xmlns:a="http://schemas.openxmlformats.org/drawingml/2006/main">
              <a:ext uri="{FF2B5EF4-FFF2-40B4-BE49-F238E27FC236}">
                <a16:creationId xmlns:a16="http://schemas.microsoft.com/office/drawing/2014/main" id="{02D939D6-BD30-4EA1-AF3F-49B32F8422B0}"/>
              </a:ext>
            </a:extLst>
          </p:cNvPr>
          <p:cNvSpPr>
            <a:spLocks xmlns:a="http://schemas.openxmlformats.org/drawingml/2006/main" noGrp="1"/>
          </p:cNvSpPr>
          <p:nvPr/>
        </p:nvSpPr>
        <p:spPr>
          <a:xfrm xmlns:a="http://schemas.openxmlformats.org/drawingml/2006/main">
            <a:off x="3714750" y="3838575"/>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Vaswani et al. (2017), Attention Is All You Need</a:t>
            </a:r>
          </a:p>
        </p:txBody>
      </p:sp>
      <p:sp>
        <p:nvSpPr>
          <p:cNvPr id="11" name="body">
            <a:extLst xmlns:a="http://schemas.openxmlformats.org/drawingml/2006/main">
              <a:ext uri="{FF2B5EF4-FFF2-40B4-BE49-F238E27FC236}">
                <a16:creationId xmlns:a16="http://schemas.microsoft.com/office/drawing/2014/main" id="{3741BAF4-7D1B-4321-9F38-92C354EAD873}"/>
              </a:ext>
            </a:extLst>
          </p:cNvPr>
          <p:cNvSpPr>
            <a:spLocks xmlns:a="http://schemas.openxmlformats.org/drawingml/2006/main" noGrp="1"/>
          </p:cNvSpPr>
          <p:nvPr/>
        </p:nvSpPr>
        <p:spPr>
          <a:xfrm xmlns:a="http://schemas.openxmlformats.org/drawingml/2006/main">
            <a:off x="685800" y="445770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Normalization</a:t>
            </a:r>
          </a:p>
        </p:txBody>
      </p:sp>
      <p:sp>
        <p:nvSpPr>
          <p:cNvPr id="12" name="body">
            <a:extLst xmlns:a="http://schemas.openxmlformats.org/drawingml/2006/main">
              <a:ext uri="{FF2B5EF4-FFF2-40B4-BE49-F238E27FC236}">
                <a16:creationId xmlns:a16="http://schemas.microsoft.com/office/drawing/2014/main" id="{BBCE20FC-BA43-4429-B268-19FCA39F2CA4}"/>
              </a:ext>
            </a:extLst>
          </p:cNvPr>
          <p:cNvSpPr>
            <a:spLocks xmlns:a="http://schemas.openxmlformats.org/drawingml/2006/main" noGrp="1"/>
          </p:cNvSpPr>
          <p:nvPr/>
        </p:nvSpPr>
        <p:spPr>
          <a:xfrm xmlns:a="http://schemas.openxmlformats.org/drawingml/2006/main">
            <a:off x="3714750" y="4457700"/>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Ba, Kiros and Hinton (2016), Layer Normalization</a:t>
            </a:r>
          </a:p>
        </p:txBody>
      </p:sp>
      <p:sp>
        <p:nvSpPr>
          <p:cNvPr id="13" name="body">
            <a:extLst xmlns:a="http://schemas.openxmlformats.org/drawingml/2006/main">
              <a:ext uri="{FF2B5EF4-FFF2-40B4-BE49-F238E27FC236}">
                <a16:creationId xmlns:a16="http://schemas.microsoft.com/office/drawing/2014/main" id="{89A21837-03A0-4F7A-882B-DC73A758F7A7}"/>
              </a:ext>
            </a:extLst>
          </p:cNvPr>
          <p:cNvSpPr>
            <a:spLocks xmlns:a="http://schemas.openxmlformats.org/drawingml/2006/main" noGrp="1"/>
          </p:cNvSpPr>
          <p:nvPr/>
        </p:nvSpPr>
        <p:spPr>
          <a:xfrm xmlns:a="http://schemas.openxmlformats.org/drawingml/2006/main">
            <a:off x="685800" y="50768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Attention interpretation</a:t>
            </a:r>
          </a:p>
        </p:txBody>
      </p:sp>
      <p:sp>
        <p:nvSpPr>
          <p:cNvPr id="14" name="body">
            <a:extLst xmlns:a="http://schemas.openxmlformats.org/drawingml/2006/main">
              <a:ext uri="{FF2B5EF4-FFF2-40B4-BE49-F238E27FC236}">
                <a16:creationId xmlns:a16="http://schemas.microsoft.com/office/drawing/2014/main" id="{E8593E92-3346-4C5B-9E08-D589DEDE4D5C}"/>
              </a:ext>
            </a:extLst>
          </p:cNvPr>
          <p:cNvSpPr>
            <a:spLocks xmlns:a="http://schemas.openxmlformats.org/drawingml/2006/main" noGrp="1"/>
          </p:cNvSpPr>
          <p:nvPr/>
        </p:nvSpPr>
        <p:spPr>
          <a:xfrm xmlns:a="http://schemas.openxmlformats.org/drawingml/2006/main">
            <a:off x="3714750" y="5076825"/>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Jain and Wallace (2019), Wiegreffe and Pinter (2019)</a:t>
            </a:r>
          </a:p>
        </p:txBody>
      </p:sp>
      <p:sp>
        <p:nvSpPr>
          <p:cNvPr id="15" name="body">
            <a:extLst xmlns:a="http://schemas.openxmlformats.org/drawingml/2006/main">
              <a:ext uri="{FF2B5EF4-FFF2-40B4-BE49-F238E27FC236}">
                <a16:creationId xmlns:a16="http://schemas.microsoft.com/office/drawing/2014/main" id="{C40E833F-095C-4A74-A90C-B8732C777A8C}"/>
              </a:ext>
            </a:extLst>
          </p:cNvPr>
          <p:cNvSpPr>
            <a:spLocks xmlns:a="http://schemas.openxmlformats.org/drawingml/2006/main" noGrp="1"/>
          </p:cNvSpPr>
          <p:nvPr/>
        </p:nvSpPr>
        <p:spPr>
          <a:xfrm xmlns:a="http://schemas.openxmlformats.org/drawingml/2006/main">
            <a:off x="685800" y="59817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Relevant local paths and source links appear in each slide’s speaker notes</a:t>
            </a:r>
          </a:p>
        </p:txBody>
      </p:sp>
    </p:spTree>
    <p:extLst>
      <p:ext uri="{BB962C8B-B14F-4D97-AF65-F5344CB8AC3E}">
        <p14:creationId xmlns:p14="http://schemas.microsoft.com/office/powerpoint/2010/main" val="11007648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2026-10-17T17:11:16.1680000Z</dcterms:created>
  <dcterms:modified xsi:type="dcterms:W3CDTF">2026-10-17T17:11:16.1680000Z</dcterms:modified>
</coreProperties>
</file>