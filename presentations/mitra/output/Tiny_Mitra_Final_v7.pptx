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af687b1023e421d" /><Relationship Type="http://schemas.openxmlformats.org/officeDocument/2006/relationships/extended-properties" Target="/docProps/app.xml" Id="Rfb3645e56c2b4654" /><Relationship Type="http://schemas.openxmlformats.org/officeDocument/2006/relationships/officeDocument" Target="/ppt/presentation.xml" Id="R544ab251b55444df" /></Relationships>
</file>

<file path=ppt/presentation.xml><?xml version="1.0" encoding="utf-8"?>
<p:presentation xmlns:p="http://schemas.openxmlformats.org/presentationml/2006/main">
  <p:sldMasterIdLst>
    <p:sldMasterId xmlns:r="http://schemas.openxmlformats.org/officeDocument/2006/relationships" id="2147483648" r:id="Rbce6bcfe79614669"/>
  </p:sldMasterIdLst>
  <p:notesMasterIdLst>
    <p:notesMasterId xmlns:r="http://schemas.openxmlformats.org/officeDocument/2006/relationships" r:id="Rdb058054a42e4194"/>
  </p:notesMasterIdLst>
  <p:sldIdLst>
    <p:sldId xmlns:r="http://schemas.openxmlformats.org/officeDocument/2006/relationships" id="256" r:id="R6454db5b71cb4285"/>
    <p:sldId xmlns:r="http://schemas.openxmlformats.org/officeDocument/2006/relationships" id="257" r:id="R073a11fb42394d07"/>
    <p:sldId xmlns:r="http://schemas.openxmlformats.org/officeDocument/2006/relationships" id="258" r:id="R4829caf8f9684f8d"/>
    <p:sldId xmlns:r="http://schemas.openxmlformats.org/officeDocument/2006/relationships" id="259" r:id="Rb3eaaab857cc4719"/>
    <p:sldId xmlns:r="http://schemas.openxmlformats.org/officeDocument/2006/relationships" id="260" r:id="Rb3ec05a1bb1c4928"/>
    <p:sldId xmlns:r="http://schemas.openxmlformats.org/officeDocument/2006/relationships" id="261" r:id="Rddfb0dae944e4583"/>
    <p:sldId xmlns:r="http://schemas.openxmlformats.org/officeDocument/2006/relationships" id="262" r:id="Rdca224b5ad964fd0"/>
    <p:sldId xmlns:r="http://schemas.openxmlformats.org/officeDocument/2006/relationships" id="263" r:id="Rfad86da72eef479c"/>
    <p:sldId xmlns:r="http://schemas.openxmlformats.org/officeDocument/2006/relationships" id="264" r:id="R745cc19cda144d3f"/>
    <p:sldId xmlns:r="http://schemas.openxmlformats.org/officeDocument/2006/relationships" id="265" r:id="Re19297310a534152"/>
    <p:sldId xmlns:r="http://schemas.openxmlformats.org/officeDocument/2006/relationships" id="266" r:id="R53cbd6dac01c4b35"/>
    <p:sldId xmlns:r="http://schemas.openxmlformats.org/officeDocument/2006/relationships" id="267" r:id="R4246d6c90a7d4202"/>
    <p:sldId xmlns:r="http://schemas.openxmlformats.org/officeDocument/2006/relationships" id="268" r:id="R6f887031544f49a6"/>
    <p:sldId xmlns:r="http://schemas.openxmlformats.org/officeDocument/2006/relationships" id="269" r:id="R872b7c1fe8764005"/>
    <p:sldId xmlns:r="http://schemas.openxmlformats.org/officeDocument/2006/relationships" id="270" r:id="Ra3b55dd7db294647"/>
    <p:sldId xmlns:r="http://schemas.openxmlformats.org/officeDocument/2006/relationships" id="271" r:id="Rd099082559464d98"/>
    <p:sldId xmlns:r="http://schemas.openxmlformats.org/officeDocument/2006/relationships" id="272" r:id="R6eb3ba82a1e94de9"/>
    <p:sldId xmlns:r="http://schemas.openxmlformats.org/officeDocument/2006/relationships" id="273" r:id="R19f7e0ed1de14e6b"/>
    <p:sldId xmlns:r="http://schemas.openxmlformats.org/officeDocument/2006/relationships" id="274" r:id="R1b5aa9f8bc6d4d0e"/>
    <p:sldId xmlns:r="http://schemas.openxmlformats.org/officeDocument/2006/relationships" id="275" r:id="R0be2aefc685e4cf7"/>
    <p:sldId xmlns:r="http://schemas.openxmlformats.org/officeDocument/2006/relationships" id="276" r:id="R4d59c4b191184a57"/>
    <p:sldId xmlns:r="http://schemas.openxmlformats.org/officeDocument/2006/relationships" id="277" r:id="R7b67390c91ee4b7c"/>
    <p:sldId xmlns:r="http://schemas.openxmlformats.org/officeDocument/2006/relationships" id="278" r:id="R163668b61fd44889"/>
    <p:sldId xmlns:r="http://schemas.openxmlformats.org/officeDocument/2006/relationships" id="279" r:id="R78f04326caa94d2a"/>
    <p:sldId xmlns:r="http://schemas.openxmlformats.org/officeDocument/2006/relationships" id="280" r:id="Rb5e4a4fa939d486a"/>
    <p:sldId xmlns:r="http://schemas.openxmlformats.org/officeDocument/2006/relationships" id="281" r:id="Re3960dbf15af4496"/>
    <p:sldId xmlns:r="http://schemas.openxmlformats.org/officeDocument/2006/relationships" id="282" r:id="R56ca5d64c26e48d3"/>
    <p:sldId xmlns:r="http://schemas.openxmlformats.org/officeDocument/2006/relationships" id="283" r:id="R153fcb4f0fed422d"/>
    <p:sldId xmlns:r="http://schemas.openxmlformats.org/officeDocument/2006/relationships" id="284" r:id="R35cb8ac3afda4818"/>
    <p:sldId xmlns:r="http://schemas.openxmlformats.org/officeDocument/2006/relationships" id="285" r:id="Rccd71f1d17144a80"/>
    <p:sldId xmlns:r="http://schemas.openxmlformats.org/officeDocument/2006/relationships" id="286" r:id="R5f2d18fa3ecd4309"/>
    <p:sldId xmlns:r="http://schemas.openxmlformats.org/officeDocument/2006/relationships" id="287" r:id="Rd027725821f841ec"/>
    <p:sldId xmlns:r="http://schemas.openxmlformats.org/officeDocument/2006/relationships" id="288" r:id="Re9f059a26ec04e4d"/>
    <p:sldId xmlns:r="http://schemas.openxmlformats.org/officeDocument/2006/relationships" id="289" r:id="Rfb31860b6b514443"/>
    <p:sldId xmlns:r="http://schemas.openxmlformats.org/officeDocument/2006/relationships" id="290" r:id="Rb5e55570bc2f4b61"/>
    <p:sldId xmlns:r="http://schemas.openxmlformats.org/officeDocument/2006/relationships" id="291" r:id="R63eef90998a44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be11ef2ed74d86" /><Relationship Type="http://schemas.openxmlformats.org/officeDocument/2006/relationships/slideMaster" Target="/ppt/slideMasters/slideMaster1.xml" Id="Rbce6bcfe79614669" /><Relationship Type="http://schemas.openxmlformats.org/officeDocument/2006/relationships/notesMaster" Target="/ppt/notesMasters/notesMaster1.xml" Id="Rdb058054a42e4194" /><Relationship Type="http://schemas.openxmlformats.org/officeDocument/2006/relationships/presProps" Target="/ppt/presProps.xml" Id="Rf2f4c3e921e145f3" /><Relationship Type="http://schemas.openxmlformats.org/officeDocument/2006/relationships/tableStyles" Target="/ppt/tableStyles.xml" Id="Rc52016a114754a6f" /><Relationship Type="http://schemas.openxmlformats.org/officeDocument/2006/relationships/slide" Target="/ppt/slides/slide1.xml" Id="R6454db5b71cb4285" /><Relationship Type="http://schemas.openxmlformats.org/officeDocument/2006/relationships/slide" Target="/ppt/slides/slide2.xml" Id="R073a11fb42394d07" /><Relationship Type="http://schemas.openxmlformats.org/officeDocument/2006/relationships/slide" Target="/ppt/slides/slide3.xml" Id="R4829caf8f9684f8d" /><Relationship Type="http://schemas.openxmlformats.org/officeDocument/2006/relationships/slide" Target="/ppt/slides/slide4.xml" Id="Rb3eaaab857cc4719" /><Relationship Type="http://schemas.openxmlformats.org/officeDocument/2006/relationships/slide" Target="/ppt/slides/slide5.xml" Id="Rb3ec05a1bb1c4928" /><Relationship Type="http://schemas.openxmlformats.org/officeDocument/2006/relationships/slide" Target="/ppt/slides/slide6.xml" Id="Rddfb0dae944e4583" /><Relationship Type="http://schemas.openxmlformats.org/officeDocument/2006/relationships/slide" Target="/ppt/slides/slide7.xml" Id="Rdca224b5ad964fd0" /><Relationship Type="http://schemas.openxmlformats.org/officeDocument/2006/relationships/slide" Target="/ppt/slides/slide8.xml" Id="Rfad86da72eef479c" /><Relationship Type="http://schemas.openxmlformats.org/officeDocument/2006/relationships/slide" Target="/ppt/slides/slide9.xml" Id="R745cc19cda144d3f" /><Relationship Type="http://schemas.openxmlformats.org/officeDocument/2006/relationships/slide" Target="/ppt/slides/slide10.xml" Id="Re19297310a534152" /><Relationship Type="http://schemas.openxmlformats.org/officeDocument/2006/relationships/slide" Target="/ppt/slides/slide11.xml" Id="R53cbd6dac01c4b35" /><Relationship Type="http://schemas.openxmlformats.org/officeDocument/2006/relationships/slide" Target="/ppt/slides/slide12.xml" Id="R4246d6c90a7d4202" /><Relationship Type="http://schemas.openxmlformats.org/officeDocument/2006/relationships/slide" Target="/ppt/slides/slide13.xml" Id="R6f887031544f49a6" /><Relationship Type="http://schemas.openxmlformats.org/officeDocument/2006/relationships/slide" Target="/ppt/slides/slide14.xml" Id="R872b7c1fe8764005" /><Relationship Type="http://schemas.openxmlformats.org/officeDocument/2006/relationships/slide" Target="/ppt/slides/slide15.xml" Id="Ra3b55dd7db294647" /><Relationship Type="http://schemas.openxmlformats.org/officeDocument/2006/relationships/slide" Target="/ppt/slides/slide16.xml" Id="Rd099082559464d98" /><Relationship Type="http://schemas.openxmlformats.org/officeDocument/2006/relationships/slide" Target="/ppt/slides/slide17.xml" Id="R6eb3ba82a1e94de9" /><Relationship Type="http://schemas.openxmlformats.org/officeDocument/2006/relationships/slide" Target="/ppt/slides/slide18.xml" Id="R19f7e0ed1de14e6b" /><Relationship Type="http://schemas.openxmlformats.org/officeDocument/2006/relationships/slide" Target="/ppt/slides/slide19.xml" Id="R1b5aa9f8bc6d4d0e" /><Relationship Type="http://schemas.openxmlformats.org/officeDocument/2006/relationships/slide" Target="/ppt/slides/slide20.xml" Id="R0be2aefc685e4cf7" /><Relationship Type="http://schemas.openxmlformats.org/officeDocument/2006/relationships/slide" Target="/ppt/slides/slide21.xml" Id="R4d59c4b191184a57" /><Relationship Type="http://schemas.openxmlformats.org/officeDocument/2006/relationships/slide" Target="/ppt/slides/slide22.xml" Id="R7b67390c91ee4b7c" /><Relationship Type="http://schemas.openxmlformats.org/officeDocument/2006/relationships/slide" Target="/ppt/slides/slide23.xml" Id="R163668b61fd44889" /><Relationship Type="http://schemas.openxmlformats.org/officeDocument/2006/relationships/slide" Target="/ppt/slides/slide24.xml" Id="R78f04326caa94d2a" /><Relationship Type="http://schemas.openxmlformats.org/officeDocument/2006/relationships/slide" Target="/ppt/slides/slide25.xml" Id="Rb5e4a4fa939d486a" /><Relationship Type="http://schemas.openxmlformats.org/officeDocument/2006/relationships/slide" Target="/ppt/slides/slide26.xml" Id="Re3960dbf15af4496" /><Relationship Type="http://schemas.openxmlformats.org/officeDocument/2006/relationships/slide" Target="/ppt/slides/slide27.xml" Id="R56ca5d64c26e48d3" /><Relationship Type="http://schemas.openxmlformats.org/officeDocument/2006/relationships/slide" Target="/ppt/slides/slide28.xml" Id="R153fcb4f0fed422d" /><Relationship Type="http://schemas.openxmlformats.org/officeDocument/2006/relationships/slide" Target="/ppt/slides/slide29.xml" Id="R35cb8ac3afda4818" /><Relationship Type="http://schemas.openxmlformats.org/officeDocument/2006/relationships/slide" Target="/ppt/slides/slide30.xml" Id="Rccd71f1d17144a80" /><Relationship Type="http://schemas.openxmlformats.org/officeDocument/2006/relationships/slide" Target="/ppt/slides/slide31.xml" Id="R5f2d18fa3ecd4309" /><Relationship Type="http://schemas.openxmlformats.org/officeDocument/2006/relationships/slide" Target="/ppt/slides/slide32.xml" Id="Rd027725821f841ec" /><Relationship Type="http://schemas.openxmlformats.org/officeDocument/2006/relationships/slide" Target="/ppt/slides/slide33.xml" Id="Re9f059a26ec04e4d" /><Relationship Type="http://schemas.openxmlformats.org/officeDocument/2006/relationships/slide" Target="/ppt/slides/slide34.xml" Id="Rfb31860b6b514443" /><Relationship Type="http://schemas.openxmlformats.org/officeDocument/2006/relationships/slide" Target="/ppt/slides/slide35.xml" Id="Rb5e55570bc2f4b61" /><Relationship Type="http://schemas.openxmlformats.org/officeDocument/2006/relationships/slide" Target="/ppt/slides/slide36.xml" Id="R63eef90998a442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8a6b3afdb04b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b5026234384b62" /><Relationship Type="http://schemas.openxmlformats.org/officeDocument/2006/relationships/notesMaster" Target="/ppt/notesMasters/notesMaster1.xml" Id="Rf8c2c53cbb344f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986458a5b54c52" /><Relationship Type="http://schemas.openxmlformats.org/officeDocument/2006/relationships/notesMaster" Target="/ppt/notesMasters/notesMaster1.xml" Id="Rf147ae05875c40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96d25109ad4a0b" /><Relationship Type="http://schemas.openxmlformats.org/officeDocument/2006/relationships/notesMaster" Target="/ppt/notesMasters/notesMaster1.xml" Id="R9eb94ed6357a41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f881c159f24c42" /><Relationship Type="http://schemas.openxmlformats.org/officeDocument/2006/relationships/notesMaster" Target="/ppt/notesMasters/notesMaster1.xml" Id="R8d753e93e82a43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1be4206a94e92" /><Relationship Type="http://schemas.openxmlformats.org/officeDocument/2006/relationships/notesMaster" Target="/ppt/notesMasters/notesMaster1.xml" Id="Rcc5e129f9f9247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6a1b44122944b8" /><Relationship Type="http://schemas.openxmlformats.org/officeDocument/2006/relationships/notesMaster" Target="/ppt/notesMasters/notesMaster1.xml" Id="R3456c75daed24d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a6be17e99544cb" /><Relationship Type="http://schemas.openxmlformats.org/officeDocument/2006/relationships/notesMaster" Target="/ppt/notesMasters/notesMaster1.xml" Id="Re089d10e8c0944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da99db4fb845d0" /><Relationship Type="http://schemas.openxmlformats.org/officeDocument/2006/relationships/notesMaster" Target="/ppt/notesMasters/notesMaster1.xml" Id="Rab4b87f14a5e41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37f0289358428c" /><Relationship Type="http://schemas.openxmlformats.org/officeDocument/2006/relationships/notesMaster" Target="/ppt/notesMasters/notesMaster1.xml" Id="R7ceb0220effc40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0aff9f5c2d409d" /><Relationship Type="http://schemas.openxmlformats.org/officeDocument/2006/relationships/notesMaster" Target="/ppt/notesMasters/notesMaster1.xml" Id="Rea89fa0740da4c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81ee2a1ada4f5c" /><Relationship Type="http://schemas.openxmlformats.org/officeDocument/2006/relationships/notesMaster" Target="/ppt/notesMasters/notesMaster1.xml" Id="R91080c6c69f847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8fc4e95bb049c9" /><Relationship Type="http://schemas.openxmlformats.org/officeDocument/2006/relationships/notesMaster" Target="/ppt/notesMasters/notesMaster1.xml" Id="R200d5e23af9b44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59d3ffb314aec" /><Relationship Type="http://schemas.openxmlformats.org/officeDocument/2006/relationships/notesMaster" Target="/ppt/notesMasters/notesMaster1.xml" Id="R5b82f8be128846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405548a1664280" /><Relationship Type="http://schemas.openxmlformats.org/officeDocument/2006/relationships/notesMaster" Target="/ppt/notesMasters/notesMaster1.xml" Id="R889130b8fff64d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6508c2675e4659" /><Relationship Type="http://schemas.openxmlformats.org/officeDocument/2006/relationships/notesMaster" Target="/ppt/notesMasters/notesMaster1.xml" Id="Rd7e42da707c247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7c24330c0546d4" /><Relationship Type="http://schemas.openxmlformats.org/officeDocument/2006/relationships/notesMaster" Target="/ppt/notesMasters/notesMaster1.xml" Id="R01700c9b3db145b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83321ab28c4300" /><Relationship Type="http://schemas.openxmlformats.org/officeDocument/2006/relationships/notesMaster" Target="/ppt/notesMasters/notesMaster1.xml" Id="R907135233ac14d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5dc4574285418f" /><Relationship Type="http://schemas.openxmlformats.org/officeDocument/2006/relationships/notesMaster" Target="/ppt/notesMasters/notesMaster1.xml" Id="Reeb4c79d8ec746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aca23b056b4c46" /><Relationship Type="http://schemas.openxmlformats.org/officeDocument/2006/relationships/notesMaster" Target="/ppt/notesMasters/notesMaster1.xml" Id="Rc6b0de76b88949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c7d8977590465a" /><Relationship Type="http://schemas.openxmlformats.org/officeDocument/2006/relationships/notesMaster" Target="/ppt/notesMasters/notesMaster1.xml" Id="Rb406c913db7746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7f3e29d37894177" /><Relationship Type="http://schemas.openxmlformats.org/officeDocument/2006/relationships/notesMaster" Target="/ppt/notesMasters/notesMaster1.xml" Id="R9635daff01dc430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534129cdfa467d" /><Relationship Type="http://schemas.openxmlformats.org/officeDocument/2006/relationships/notesMaster" Target="/ppt/notesMasters/notesMaster1.xml" Id="Rfc5d6dee802648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db42dbf21d43ce" /><Relationship Type="http://schemas.openxmlformats.org/officeDocument/2006/relationships/notesMaster" Target="/ppt/notesMasters/notesMaster1.xml" Id="R6e3b2b50fd0745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70ddf0b60a45ac" /><Relationship Type="http://schemas.openxmlformats.org/officeDocument/2006/relationships/notesMaster" Target="/ppt/notesMasters/notesMaster1.xml" Id="R1546cef02ce6435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7ed432f58c4a82" /><Relationship Type="http://schemas.openxmlformats.org/officeDocument/2006/relationships/notesMaster" Target="/ppt/notesMasters/notesMaster1.xml" Id="R73c1e54ebc364e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83446235624d25" /><Relationship Type="http://schemas.openxmlformats.org/officeDocument/2006/relationships/notesMaster" Target="/ppt/notesMasters/notesMaster1.xml" Id="R3f295efe4c564b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5e0025647f464c" /><Relationship Type="http://schemas.openxmlformats.org/officeDocument/2006/relationships/notesMaster" Target="/ppt/notesMasters/notesMaster1.xml" Id="R23df6c41c3834c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4749379f7904714" /><Relationship Type="http://schemas.openxmlformats.org/officeDocument/2006/relationships/notesMaster" Target="/ppt/notesMasters/notesMaster1.xml" Id="R61088cd7b17f4e8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df4d83eeaff4aee" /><Relationship Type="http://schemas.openxmlformats.org/officeDocument/2006/relationships/notesMaster" Target="/ppt/notesMasters/notesMaster1.xml" Id="R76554794982744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e01e6250844407" /><Relationship Type="http://schemas.openxmlformats.org/officeDocument/2006/relationships/notesMaster" Target="/ppt/notesMasters/notesMaster1.xml" Id="R3dfbed60172d474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95c2324f6ea435c" /><Relationship Type="http://schemas.openxmlformats.org/officeDocument/2006/relationships/notesMaster" Target="/ppt/notesMasters/notesMaster1.xml" Id="Recbd399b3a234be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4f16cdfbf34767" /><Relationship Type="http://schemas.openxmlformats.org/officeDocument/2006/relationships/notesMaster" Target="/ppt/notesMasters/notesMaster1.xml" Id="Re7b5f8cb15d44e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a948652c2eb4712" /><Relationship Type="http://schemas.openxmlformats.org/officeDocument/2006/relationships/notesMaster" Target="/ppt/notesMasters/notesMaster1.xml" Id="R2692a16d40414a9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155af689d5441d3" /><Relationship Type="http://schemas.openxmlformats.org/officeDocument/2006/relationships/notesMaster" Target="/ppt/notesMasters/notesMaster1.xml" Id="R96994e922ff841b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0ee9dc7ea34f24" /><Relationship Type="http://schemas.openxmlformats.org/officeDocument/2006/relationships/notesMaster" Target="/ppt/notesMasters/notesMaster1.xml" Id="Re01e45669897499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a0b36151a794fa2" /><Relationship Type="http://schemas.openxmlformats.org/officeDocument/2006/relationships/notesMaster" Target="/ppt/notesMasters/notesMaster1.xml" Id="R9f25b6b9be0341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scheduled for 23 October 2026. Explain our conditional generation task, then trace the full token path and examine actual experiments. All primary architecture comparisons use seed 42 and the fixed 4,000th update on one saved corpus. The selected live demo is separately labelled final_seed7/transformer_2. It passed 11 authored development notes and 2 clinical checks. The two extra clinical sources occur in training. Held-out outcomes are measured separately. Actual cloud execution and individual presenter teach-back remain human gates.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earlier assignments connect directly to Mitra. Week 1 established forward/loss/backward/update. Tokenization and embeddings gave numerical input representations. Attention allowed positions to use earlier context; multiple heads supplied different learned projections. Week 5 compared complete blocks and ablations. Mitra adds a shared PyTorch implementation, real training/checkpoints, output-only supervision and a UI. These are engineering connections. Each presenter still needs to demonstrate understanding independently.</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expected target under our synthetic assignment policy. Patient name, physician including its title, and date become typed placeholders. Wording such as VISITED and ON survives. Other examples retain diagnosis, biomarker and treatment associations. Generation reads the source and learned weights; it does not call the annotated renderer or look up this answer. A compact grammar also admits deterministic alternatives. Our reason for building GPT is to understand the entire next-token mechanism.</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6/tiny-mitra/broad_data.py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contains ten training sentence forms, names, dates, MRNs, phones, addresses and clinical fields. Exact authored development sources and reserved numerical values are excluded from this final corpus. Final test names exclude development names, including Olivia. All models start from random weights on the same corpus; no earlier experiment supplies their weights. Equal update counts and fixed width do not imply equal parameters or equal compute. Earlier character and continued-training studies remain separate histories and are not pooled into this comparison. The primary source/data/producer/protocol identities were frozen before final evaluation. Do not select checkpoints from test outcomes.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6/tiny-mitra/broad_data.py</a:t>
            </a:r>
          </a:p>
          <a:p xmlns:a="http://schemas.openxmlformats.org/drawingml/2006/main">
            <a:r>
              <a:t>C:/Users/Nagar/source/repos/ai-learning-lab/projects/Week 6/tiny-mitra/artifacts/mitra_final/results/repeats_summary.json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Serialize the source, boundary marker and desired output. The final tokenizer has 146 entries: the original alphabet/control vocabulary plus 37 declared task pieces. PATIENT is a single task token. John still uses J, o, h, n character tokens. Spaces remain tokens. At the input position holding OUTPUT, the desired next token is PATIENT. Source-prediction targets are ignored, while output tokens and EOS are scored. The correct target prefix is available during training only.</a:t>
            </a:r>
          </a:p>
          <a:p xmlns:a="http://schemas.openxmlformats.org/drawingml/2006/main">
            <a:r>
              <a:t/>
            </a:r>
          </a:p>
          <a:p xmlns:a="http://schemas.openxmlformats.org/drawingml/2006/main">
            <a:r>
              <a:t>Sources:</a:t>
            </a:r>
          </a:p>
          <a:p xmlns:a="http://schemas.openxmlformats.org/drawingml/2006/main">
            <a:r>
              <a:t>C:/Users/Nagar/source/repos/ai-learning-lab/projects/Week 6/tiny-mitra/task_tokenizer.py</a:t>
            </a:r>
          </a:p>
          <a:p xmlns:a="http://schemas.openxmlformats.org/drawingml/2006/main">
            <a:r>
              <a:t>C:/Users/Nagar/source/repos/ai-learning-lab/projects/Week 6/tiny-mitra/data.py</a:t>
            </a:r>
          </a:p>
          <a:p xmlns:a="http://schemas.openxmlformats.org/drawingml/2006/main">
            <a:r>
              <a:t>C:/Users/Nagar/source/repos/ai-learning-lab/projects/Week 6/tiny-mitra/task_runtime.py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expected previous output tokens and the source as a causal prefix. Generation begins with only source through OUTPUT, appends one actual selected token, and repeats. Loss is computed only on output targets plus EOS. A correct teacher-forced next token and a correct freely generated note are separate evaluations. An early generated error can feed into later decisions. Checkpoints save weights, tokenizer/configuration, provenance, optimizer, sample-order/random state and completed updates. The same model.py supplies both paths. No architecture or optimizer update occurs when the audience clicks Generate in Gradio.</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integer ID locates a row in a learned embedding table; its numeric magnitude is not semantic distance. The fixed tokenizer makes PATIENT one token and retains unsupported-as-a-piece spelling as ASCII characters. May can match inside Maya, because longest-piece matching is not whole-word tokenization. Encoding and decoding preserve the exact supported text and offsets. Unsupported Unicode raises an explicit error. The vocabulary is declared independently of final data. Training-name coverage checks ensure that all 52 letter IDs actually occur, but representability and exposure do not establish reliable generalization. The character teaching pilot and historical studies use a different token unit.</a:t>
            </a:r>
          </a:p>
          <a:p xmlns:a="http://schemas.openxmlformats.org/drawingml/2006/main">
            <a:r>
              <a:t/>
            </a:r>
          </a:p>
          <a:p xmlns:a="http://schemas.openxmlformats.org/drawingml/2006/main">
            <a:r>
              <a:t>Sources:</a:t>
            </a:r>
          </a:p>
          <a:p xmlns:a="http://schemas.openxmlformats.org/drawingml/2006/main">
            <a:r>
              <a:t>C:/Users/Nagar/source/repos/ai-learning-lab/projects/Week 6/tiny-mitra/task_tokenizer.py</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6/tiny-mitra/artifacts/results/mechanics-tests.xml</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embedding E has shape 146 by 64; learned position table P has shape 256 by 64. At position t, X_t=E[id_t]+P[t]. Corresponding features are added, keeping width 64. Teaching numbers: [0.2,-0.1]+[0.01,0.04]=[0.21,-0.06]. They are invented for arithmetic, not coordinates from a learned clinical feature. Base lookup plus position does not yet incorporate the entire source context; attention does the mixing. Shapes B, T,64 are traced in the shared notebook. The saved corpus maximum serialized sequence has 86 tokens. Allocating 256 position rows does not teach every position or guarantee accuracy on longer notes. The arithmetic shown uses illustrative vectors, not learned clinical meanings.</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6/tiny-mitra/task_tokenizer.py</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 C denotes the context mixture, distinct from the head-count symbol used in shape discussions. In this implementation Q/K/V and output Linear layers include biases. Score masks are explicit; no fused attention or ready-made MultiheadAttention is used.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teaching matrix illustrates eligible query/key relationships. The causal mask hides future keys before softmax. Key padding independently prevents padded tokens from contributing values. The loss mask ignores source-prediction and padded targets, not source representations themselves. Source embeddings can receive gradients through output attention. A future-token perturbation test verifies unchanged earlier logits for every variant.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eligible earlier positions are accessible to each head. With D=64 and four heads, Dh=16. Q/K/V start B, T,64, reshape B, T,4,16, then transpose B,4, T,16. Scores have B,4, T, T; mixed values B,4, T,16; head features merge back to B, T,64 and pass through an output projection. Head count alone leaves projection parameter count unchanged at fixed width. Learned roles require intervention evidence, not naming heads from a heatmap.</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blocks use pre-LN: U=X+Attention(LN 1(X)), Y=U+FFN(LN 2(U)). Our LayerNorm explicitly computes feature mean and population variance with learned scale/offset. FFN expands 64 to 192, applies GELU, then contracts to 64. Two blocks plus final normalization form the full model. Component variants remove the declared branch or additions; the no-FFN branch also removes its otherwise unused pre-normalization parameters. PyTorch supplies primitive arithmetic, Linear/Embedding, autograd and AdamW, not the Transformer implementation.</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Cross-entropy penalizes low probability for the correct next token. For probabilities [0.75,0.25], a correct first token has loss -ln(0.75)=0.2877; a correct second token has loss 1.3863. Sum losses over scored output/EOS tokens and divide by their total count. Do not average unequal batch means. Autograd computes gradients through the manually assembled network; AdamW updates parameters. Exact CPU interruption/resume matches uninterrupted updates in the test. Learning rate, sampler, optimizer and random state are recorded. Gradients reach source embeddings through the attention dependency even though source-prediction targets are ignored. Clipping limits total gradient norm to 1 before the AdamW update. The logged norm is measured before clipping. CPU resume tests compare interrupted and uninterrupted parameter states exactly; CUDA recovery remains unexecuted.</a:t>
            </a:r>
          </a:p>
          <a:p xmlns:a="http://schemas.openxmlformats.org/drawingml/2006/main">
            <a:r>
              <a:t/>
            </a:r>
          </a:p>
          <a:p xmlns:a="http://schemas.openxmlformats.org/drawingml/2006/main">
            <a:r>
              <a:t>Sources:</a:t>
            </a:r>
          </a:p>
          <a:p xmlns:a="http://schemas.openxmlformats.org/drawingml/2006/main">
            <a:r>
              <a:t>C:/Users/Nagar/source/repos/ai-learning-lab/projects/Week 6/tiny-mitra/task_runtime.py</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its own trained state. Gradio loads the corresponding checkpoint instead of retraining when the selection changes. The bare single/multi variants share the same residual/norm policy. Fixed width keeps the attention projection counts equal across head counts. Component removal changes parameter counts; one versus two blocks also changes capacity. This is a fixed-budget comparison with one primary seed; repeats of four models are separate. No-LayerNorm removes all block norms and the final norm. No-FFN removes each FFN and its otherwise unused preceding norm. No-residual removes attention and FFN residual additions but keeps their sublayers. The bare single/four-head models contain no full decoder blocks. These distinctions are implemented explicitly in model.py.</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Teacher-forced loss and token accuracy score output/EOS targets, using all 100 validation notes. Free generation compares actual notes with annotations. Redaction recall is TP/(TP+FN); precision is TP/(TP+FP); F 1 is their harmonic mean when defined. TP requires the right placeholder in the right sentence slot. Duplicate/wrong-field placeholders can add false positives. Clinical preservation requires the original field/value association, not a keyword somewhere in output. Exact match judges the entire string. Report category supports and zero-support N/A. Exact-surface leakage can miss partial or reformatted identifiers. Quiet CPU latency is measured separately from training jobs and includes varying generated lengths. No live score is invented for an arbitrary unannotated input.</a:t>
            </a:r>
          </a:p>
          <a:p xmlns:a="http://schemas.openxmlformats.org/drawingml/2006/main">
            <a:r>
              <a:t/>
            </a:r>
          </a:p>
          <a:p xmlns:a="http://schemas.openxmlformats.org/drawingml/2006/main">
            <a:r>
              <a:t>Sources:</a:t>
            </a:r>
          </a:p>
          <a:p xmlns:a="http://schemas.openxmlformats.org/drawingml/2006/main">
            <a:r>
              <a:t>C:/Users/Nagar/source/repos/ai-learning-lab/projects/Week 6/tiny-mitra/assignment_evaluate.py</a:t>
            </a:r>
          </a:p>
          <a:p xmlns:a="http://schemas.openxmlformats.org/drawingml/2006/main">
            <a:r>
              <a:t>C:/Users/Nagar/source/repos/ai-learning-lab/projects/Week 6/tiny-mitra/task_runtime.py</a:t>
            </a:r>
          </a:p>
          <a:p xmlns:a="http://schemas.openxmlformats.org/drawingml/2006/main">
            <a:r>
              <a:t>C:/Users/Nagar/source/repos/ai-learning-lab/projects/Week 6/tiny-mitra/artifacts/results/quiet_cpu_latency.json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loss is the last minibatch at update 4000, not a 700-note mean. Validation loss covers all 100 notes. Each test column covers 50 notes; averages weight scored output/EOS tokens, not notes. The familiar test has 532 scored tokens; the new-layout test has its separately recorded support. Teacher-forced accuracy can be high even when free generation fails: the correct prefix is supplied at each prediction. Loss is in natural-log units per task token; do not compare it numerically with historical character/word token losses. Full 32-row recomputation matches the saved final metrics, weights and data.</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6/tiny-mitra/task_runtime.py</a:t>
            </a:r>
          </a:p>
          <a:p xmlns:a="http://schemas.openxmlformats.org/drawingml/2006/main">
            <a:r>
              <a:t>C:/Users/Nagar/source/repos/ai-learning-lab/projects/Week 6/tiny-mitra/assignment_evaluate.py</a:t>
            </a:r>
          </a:p>
          <a:p xmlns:a="http://schemas.openxmlformats.org/drawingml/2006/main">
            <a:r>
              <a:t>C:/Users/Nagar/source/repos/ai-learning-lab/projects/Week 6/tiny-mitra/artifacts/mitra_final/results/final_test/token_metrics_audit.json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only:exact 2/24, identifiers 9/36, clinical 1/24, parameters 35218. One attention head:exact 22/24, identifiers 33/36, clinical 23/24, parameters 51858. Four attention heads:exact 20/24, identifiers 34/36, clinical 21/24, parameters 51858. One full block:exact 23/24, identifiers 35/36, clinical 24/24, parameters 77074. Two full blocks:exact 23/24, identifiers 36/36, clinical 23/24, parameters 118802. Without FFN:exact 23/24, identifiers 35/36, clinical 24/24, parameters 68882. Without LayerNorm:exact 23/24, identifiers 36/36, clinical 23/24, parameters 118162. Without residuals:exact 24/24, identifiers 36/36, clinical 24/24, parameters 118802. All 24 category-selected diagnostic notes use known entity/layout pools. They are validation examples, not the novel-name/layout test partitions. The chart shows counts out of 24 notes and 24 clinical associations; identifiers have 36 supports and remain in the report. Interpret metric rankings separately. The embedding model lacks contextual mixing, but adding heads or blocks does not guarantee a measured improvement under one budget.</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6/tiny-mitra/assignment_evaluate.py</a:t>
            </a:r>
          </a:p>
          <a:p xmlns:a="http://schemas.openxmlformats.org/drawingml/2006/main">
            <a:r>
              <a:t>C:/Users/Nagar/source/repos/ai-learning-lab/projects/Week 6/tiny-mitra/artifacts/mitra_final/results/protocol.json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and no-residual models have the same parameter count, while no-FFN/no-LayerNorm remove different parameter groups. Maximum gradients are sampled at validation logging intervals, before clipping, not a count of every update or a proof that a run diverged. All declared runs completed; inspect curves alongside generated-note quality. The no-LayerNorm variant removes the final norm too. We do not tune a separate learning rate for each ablation. A one-seed component difference is exploratory, and architecture plus optimization can interact.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6/tiny-mitra/artifacts/mitra_final/results/summary.json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training seeds share the same corpus and evaluation notes. They are not three independent clinical datasets. Exact counts are shown rather than p-values. Reports also retain mean/range for recall and clinical preservation. The primary architecture benchmark remains seed 42. final_seed7/transformer_2 is a separately labelled demo selected by the declared development acceptance rule, with priority 42 then 7 then 123. We declared that rule after observing primary 42 at 10/11 and before either repeat completed. It requires 11 authored/EOS plus 2 clinical checks. Both extra clinical sources occur in training. Final-test outcomes do not choose a demo seed.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6/tiny-mitra/artifacts/mitra_final/results/repeats_summary.json</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6/tiny-mitra/reports/DEMO_SELECTION.json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8/8 exact,14/14 identifiers,6/6 clinical, conditional loss 0.0002. A gate zeros one head context before merge and output projection; weights stay unchanged. L 0 H 0 removal gives 4/14 identifiers and 1/8 notes. Some heads preserve recall while worsening exact notes and loss. Category supports are PATIENT 7, MRN 2, and one each for doctor, date, address, DOB, phone. A heatmap or drop on 2 MRNs does not establish a semantic MRN head. Two pairs 0+1 per block were fixed before intervention; pair effects are non-additive. The runner verifies baseline restoration. These heads belong to seed 42, even when the live demo uses seed 7.</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source has the same number of tokens, and the supplied output prefix ends PATIENT [NAME] RECEIVED followed by a space. The next decision is an atomic DrugA/DrugB token. This separates probability-level context use from free generation. Read the actual selected tokens and both probabilities. An embedding-only model sees only the final position token/vector at its vocabulary head, so matching final token and position gives matching probabilities. The full attention model can route earlier source information. A successful controlled pair demonstrates this local dependence; it does not establish novel-template accuracy. The prefix is supplied conditionally, and the report separately retains actual free generations.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6/tiny-mitra/artifacts/mitra_final/results/investigations/architecture_context.json</a:t>
            </a:r>
          </a:p>
          <a:p xmlns:a="http://schemas.openxmlformats.org/drawingml/2006/main">
            <a:r>
              <a:t>C:/Users/Nagar/source/repos/ai-learning-lab/projects/Week 6/tiny-mitra/task_tokenizer.py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row samples from softmax(logits/temperature); this is not a switch between greedy and sampling. A larger positive temperature spreads the probability distribution. Read observed counts rather than assuming a monotonic result. These are eight sampled notes under one seed per note, not a robust distribution estimate. Greedy argmax is a separate mode and ignores the temperature slider. The qualitative out-of-distribution probes have no annotated gold accuracy.</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6/tiny-mitra/artifacts/mitra_final/results/investigations/enriched_head_measurements.json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says UNKNOWN; the model substitutes DIABETES. It assigns about 0.811 probability to that selected token at this step. A learned continuation preference is not confidence calibrated to correctness or evidence in the source. The training objective rewards likely next tokens; it does not provide a mechanism to verify unfamiliar facts. These are authored qualitative probes, not a scored OOD benchmark. The actual result is preserved without repair. More varied data, explicit task constraints and broader evaluation would be needed before considering operational use.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6/tiny-mitra/artifacts/mitra_final/results/investigations/ood.json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evaluator covers all 8 architectures across 4 partitions:1,600 model-note evaluations over 200 distinct notes. The separately selected demo adds 200 evaluations of those same notes, not 200 new independent cases. Its development selection was fixed before its final outputs. These conditions test declared patient-name/template novelty, not every kind of identifier novelty. Controls share layouts; dates, doctor/address policies retain their stated limits. Broad supported spelling does not imply generalization. Do not retrain or select a different reported seed after reading these outcomes. Full raw tables include recall, precision, clinical associations, leakage and EOS for every architecture.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6/tiny-mitra/reports/DEMO_SELECTION.json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 1 rises from about 0.407 to 0.442. The standard deviations are across seeds, not confidence intervals. No statistical significance claim follows from these aggregates. This is a different task and vocabulary. Its token accuracy is not directly comparable to character-token Mitra accuracy. Use it to show the experimental method, not a before/after product metric. The final Mitra tokenizer is fixed task pieces with character fallback. Its complete-note metrics and per-token loss units differ from this older word-token task.</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demonstration can take six minutes. First show a passing VISITED or Olivia/MRN prompt using the explicitly labelled demo. Then show the phone comparison without repairing either output. Explain that this development-selected candidate is separate from the primary architecture benchmark. For saved head measurements switch to seed 42 so its caption agrees with the underlying experiment. Compare a free-generation intervention and a supplied-prefix attention row as different tests. The offline fallback contains saved actual text and performs no inference. Team members must each trace one prompt independently before rehearsal is complete.</a:t>
            </a:r>
          </a:p>
          <a:p xmlns:a="http://schemas.openxmlformats.org/drawingml/2006/main">
            <a:r>
              <a:t/>
            </a:r>
          </a:p>
          <a:p xmlns:a="http://schemas.openxmlformats.org/drawingml/2006/main">
            <a:r>
              <a:t>Sources:</a:t>
            </a:r>
          </a:p>
          <a:p xmlns:a="http://schemas.openxmlformats.org/drawingml/2006/main">
            <a:r>
              <a:t>C:/Users/Nagar/source/repos/ai-learning-lab/projects/Week 6/tiny-mitra/app.py</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6/tiny-mitra/artifacts/mitra_final/results/final_test/summary.json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demonstration is a real manually assembled GPT, not a deterministic renderer. Broader input coverage and a different token unit improved development behavior compared with earlier experiments, but multiple things changed across those studies. Within the final frozen corpus, compare architecture and seed effects using the same definitions. Do not claim that a head has a universal semantic role or that every added component must improve a small model. Actual final transfer results and failure cases bound the conclusion. Learner understanding requires every presenter to explain the path, not merely show a working interface.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real Colab session or GPU-to-CPU portability is claimed. The notebook checks actual CUDA allocation, preserves training state to Drive and exports a device reference for CPU comparison. Google/Drive sign-in belongs to Nagar. Local CPU compute was sufficient for this experiment, so no paid compute was purchased. Team roles, exact duration and every presenter explanation remain to be demonstrated. This project uses synthetic notes and is not a validated operational de-identification service. Do not expand this exercise into clinical or compliance claims.</a:t>
            </a:r>
          </a:p>
          <a:p xmlns:a="http://schemas.openxmlformats.org/drawingml/2006/main">
            <a:r>
              <a:t/>
            </a:r>
          </a:p>
          <a:p xmlns:a="http://schemas.openxmlformats.org/drawingml/2006/main">
            <a:r>
              <a:t>Sources:</a:t>
            </a:r>
          </a:p>
          <a:p xmlns:a="http://schemas.openxmlformats.org/drawingml/2006/main">
            <a:r>
              <a:t>C:/Users/Nagar/source/repos/ai-learning-lab/projects/Week 6/tiny-mitra/train_colab.ipynb</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 1 has shape (192), W2 has shape (192,64), and b 2 has shape (64). The nonlinearity is essential: two linear maps with no nonlinear activation collapse into a single linear map. Our implementation uses GELU while the earlier NumPy study uses ReLU. Avoid claiming expansion itself guarantees richer measured behavior. The formula treats feature vectors as rows. PyTorch nn.Linear stores weight as output-by-input and multiplies by its transpose, so Linear(64,192).weight has shape 192 by 64. This storage convention differs from the mathematical W 1 orientation shown in the formula.</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excerpt, not one contiguous six-token example. The final tokenizer gives PATIENT a single ID and preserves spaces as their own token. Shift inputs/targets by one position. At OUTPUT the next target is PATIENT. Ignore source-prediction and padding targets but keep attention access to the source. EOS is scored. -100 is a loss ignore index, not a token ID. Context overflow raises an error so truncation cannot silently remove output/EOS.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6/tiny-mitra/task_tokenizer.py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full-model parameter_count is 118,802. Token embeddings and the untied vocabulary projection are different learned parameters. Every linear layer includes bias. Q/K/V and attention output make four 64 to 64 linear maps per block. Each FFN has two linear layers with separate biases. Four block norms plus one final norm contribute 5 times 128 parameters. Context capacity allocates 256 position rows; this does not teach positions absent from training. One versus four heads at fixed 64 width has the same projection parameter count.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6/tiny-mitra/config.py</a:t>
            </a:r>
          </a:p>
          <a:p xmlns:a="http://schemas.openxmlformats.org/drawingml/2006/main">
            <a:r>
              <a:t>C:/Users/Nagar/source/repos/ai-learning-lab/projects/Week 6/tiny-mitra/artifacts/mitra_final/results/summary.json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partitions contain 50 notes each, with declared entity/template pools. Complete primary evaluation uses the fixed 4,000th-update seed 42 checkpoints, not best-loss selection. The selected demo retains its separately recorded seed and checkpoint. Authored development names, including Olivia, are excluded from final-test names. Validation has its own unfamiliar pools. No-identifier controls share layouts and some non-patient identifier patterns recur; novelty is specific to the declared condition. All source strings are unique. The vocabulary comes from schema/ASCII declarations, not fitting on final text.</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changes capacity and optimization as well as the intended feature. Equal update counts are not equal compute; most component comparisons have one seed. The 24 diagnostic validation notes use known pools, while complete final partitions test declared new names/layouts. The primary architecture benchmark stays seed 42 at 4,000 updates. A separately labelled candidate passes the declared development gate, without using final outcomes to choose its seed. A supplied prefix is not free generation. Head ablations measure checkpoint dependence on a small sample, not universal head meaning. Gradio only loads weights and calls the same generation function. Every presenter should answer these questions after teaching and practice.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 and local code/evidence sources are in relevant slide notes. Architecture uses explicit scaled dot-product attention and learned positions with pre-normalization blocks. See Vaswani et al. https://arxiv.org/abs / 1706.03762 and Ba et al. https://arxiv.org/abs / 1607.06450 for original mechanisms. Attention-interpretation discussions include https://aclanthology.org/N 19-1357/ and https://aclanthology.org/D 19-1002/. Current numerical claims come from final primary/repeat/raw generation evidence, not those external papers. Week 5 results belong to their separate task. Actual cloud execution and individual mastery are not claimed.</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a:p xmlns:a="http://schemas.openxmlformats.org/drawingml/2006/main">
            <a:r>
              <a:t>C:/Users/Nagar/source/repos/ai-learning-lab/projects/week 5/visualizations/arch_results.json</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31ca1bf16f42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dc47da1f5146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a0458ca00149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eba9f05f2249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9df999698642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cd27cfabe441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34A64C-7AB0-463E-A1E2-50FE652B73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C28CEEB-EDED-420E-BAC8-69FA12FD58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180D425-A587-40E6-9F81-127B14316B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6260B-FE19-43B0-91C6-0746719051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28155D-DDCB-4357-9B16-2A043BFED47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D3E24C-8A09-4DF9-A174-A855E24B91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4458BD-830B-4DEA-9467-606A13F25B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D0ACD7-BACE-4004-A20C-8D8EBECAE6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263A61-AB6B-44A4-A113-C42DCA068A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CE48AB-9821-4712-944A-82AF782EAC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717a05ae746ac" /><Relationship Type="http://schemas.openxmlformats.org/officeDocument/2006/relationships/slideLayout" Target="/ppt/slideLayouts/slideLayout1.xml" Id="Ref92efb18d4446be" /><Relationship Type="http://schemas.openxmlformats.org/officeDocument/2006/relationships/slideLayout" Target="/ppt/slideLayouts/slideLayout2.xml" Id="R3a9eb1a16a31443c" /><Relationship Type="http://schemas.openxmlformats.org/officeDocument/2006/relationships/slideLayout" Target="/ppt/slideLayouts/slideLayout3.xml" Id="R52a6441955484773" /><Relationship Type="http://schemas.openxmlformats.org/officeDocument/2006/relationships/slideLayout" Target="/ppt/slideLayouts/slideLayout4.xml" Id="Rca19fb4f01144681" /><Relationship Type="http://schemas.openxmlformats.org/officeDocument/2006/relationships/slideLayout" Target="/ppt/slideLayouts/slideLayout5.xml" Id="R941f38679a2343ca" /><Relationship Type="http://schemas.openxmlformats.org/officeDocument/2006/relationships/slideLayout" Target="/ppt/slideLayouts/slideLayout6.xml" Id="R41a2f0de7d4f4f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2efb18d4446be"/>
    <p:sldLayoutId xmlns:r="http://schemas.openxmlformats.org/officeDocument/2006/relationships" id="2147483650" r:id="R3a9eb1a16a31443c"/>
    <p:sldLayoutId xmlns:r="http://schemas.openxmlformats.org/officeDocument/2006/relationships" id="2147483651" r:id="R52a6441955484773"/>
    <p:sldLayoutId xmlns:r="http://schemas.openxmlformats.org/officeDocument/2006/relationships" id="2147483652" r:id="Rca19fb4f01144681"/>
    <p:sldLayoutId xmlns:r="http://schemas.openxmlformats.org/officeDocument/2006/relationships" id="2147483653" r:id="R941f38679a2343ca"/>
    <p:sldLayoutId xmlns:r="http://schemas.openxmlformats.org/officeDocument/2006/relationships" id="2147483654" r:id="R41a2f0de7d4f4f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0537cb4ec74a6e" /><Relationship Type="http://schemas.openxmlformats.org/officeDocument/2006/relationships/notesSlide" Target="/ppt/notesSlides/notesSlide1.xml" Id="Rd7ca9dd50fcc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d5570b6e8c4148" /><Relationship Type="http://schemas.openxmlformats.org/officeDocument/2006/relationships/notesSlide" Target="/ppt/notesSlides/notesSlide2.xml" Id="R75f9c7d7b9b345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7068a6685b418f" /><Relationship Type="http://schemas.openxmlformats.org/officeDocument/2006/relationships/notesSlide" Target="/ppt/notesSlides/notesSlide3.xml" Id="Re56fc0f6d7b940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210f297ad64de9" /><Relationship Type="http://schemas.openxmlformats.org/officeDocument/2006/relationships/notesSlide" Target="/ppt/notesSlides/notesSlide4.xml" Id="R296654ae257b4d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cc660f44284e8b" /><Relationship Type="http://schemas.openxmlformats.org/officeDocument/2006/relationships/notesSlide" Target="/ppt/notesSlides/notesSlide5.xml" Id="R8d87f9b0150741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32caaddcea14bac" /><Relationship Type="http://schemas.openxmlformats.org/officeDocument/2006/relationships/notesSlide" Target="/ppt/notesSlides/notesSlide6.xml" Id="R08d760be544044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d656cd49004019" /><Relationship Type="http://schemas.openxmlformats.org/officeDocument/2006/relationships/notesSlide" Target="/ppt/notesSlides/notesSlide7.xml" Id="R0047097e6cad4d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6a1f859241466f" /><Relationship Type="http://schemas.openxmlformats.org/officeDocument/2006/relationships/notesSlide" Target="/ppt/notesSlides/notesSlide8.xml" Id="R19d895c7ca1e42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ec7162b09f486b" /><Relationship Type="http://schemas.openxmlformats.org/officeDocument/2006/relationships/notesSlide" Target="/ppt/notesSlides/notesSlide9.xml" Id="R74eaef55c3054d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327852982348f5" /><Relationship Type="http://schemas.openxmlformats.org/officeDocument/2006/relationships/notesSlide" Target="/ppt/notesSlides/notesSlide10.xml" Id="R73a6b9db4aa049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4a42732dc5434d" /><Relationship Type="http://schemas.openxmlformats.org/officeDocument/2006/relationships/notesSlide" Target="/ppt/notesSlides/notesSlide11.xml" Id="Rf313988d6b1847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23bb8d7b7e462e" /><Relationship Type="http://schemas.openxmlformats.org/officeDocument/2006/relationships/notesSlide" Target="/ppt/notesSlides/notesSlide12.xml" Id="Rad5a8edbcbac46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7cf1e91f4cf47e4" /><Relationship Type="http://schemas.openxmlformats.org/officeDocument/2006/relationships/notesSlide" Target="/ppt/notesSlides/notesSlide13.xml" Id="R909a8b861adb47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db3715890e4b17" /><Relationship Type="http://schemas.openxmlformats.org/officeDocument/2006/relationships/notesSlide" Target="/ppt/notesSlides/notesSlide14.xml" Id="R2d5c0ec4886544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d71e704ad8f449b" /><Relationship Type="http://schemas.openxmlformats.org/officeDocument/2006/relationships/notesSlide" Target="/ppt/notesSlides/notesSlide15.xml" Id="R740d10f1c3e341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b481faecb3540f9" /><Relationship Type="http://schemas.openxmlformats.org/officeDocument/2006/relationships/notesSlide" Target="/ppt/notesSlides/notesSlide16.xml" Id="Ra46ccbb869c341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ff4908bf22460e" /><Relationship Type="http://schemas.openxmlformats.org/officeDocument/2006/relationships/chart" Target="/ppt/slides/charts/chart1.xml" Id="R50666ddcb73c430b" /><Relationship Type="http://schemas.openxmlformats.org/officeDocument/2006/relationships/notesSlide" Target="/ppt/notesSlides/notesSlide17.xml" Id="Rb19824ba0eb847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7cfe1108ae742ca" /><Relationship Type="http://schemas.openxmlformats.org/officeDocument/2006/relationships/notesSlide" Target="/ppt/notesSlides/notesSlide18.xml" Id="R0d649c53a41d4b9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95f3ae617914ca8" /><Relationship Type="http://schemas.openxmlformats.org/officeDocument/2006/relationships/notesSlide" Target="/ppt/notesSlides/notesSlide19.xml" Id="R31356a6ee9cc45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20a60336e87448b" /><Relationship Type="http://schemas.openxmlformats.org/officeDocument/2006/relationships/notesSlide" Target="/ppt/notesSlides/notesSlide20.xml" Id="R09057f780eca4b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3e19173f5884e4d" /><Relationship Type="http://schemas.openxmlformats.org/officeDocument/2006/relationships/notesSlide" Target="/ppt/notesSlides/notesSlide21.xml" Id="R55ec0084d3d941c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1b1119407494310" /><Relationship Type="http://schemas.openxmlformats.org/officeDocument/2006/relationships/notesSlide" Target="/ppt/notesSlides/notesSlide22.xml" Id="Re18771e6f66b4ea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3de150020d745e2" /><Relationship Type="http://schemas.openxmlformats.org/officeDocument/2006/relationships/notesSlide" Target="/ppt/notesSlides/notesSlide23.xml" Id="Rc7c525d6bd6f47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23222bc2cf2428c" /><Relationship Type="http://schemas.openxmlformats.org/officeDocument/2006/relationships/notesSlide" Target="/ppt/notesSlides/notesSlide24.xml" Id="R11c043e780ae40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ad86d2eec94441b" /><Relationship Type="http://schemas.openxmlformats.org/officeDocument/2006/relationships/notesSlide" Target="/ppt/notesSlides/notesSlide25.xml" Id="R9aa05cb6136f49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bc8e962be044e08" /><Relationship Type="http://schemas.openxmlformats.org/officeDocument/2006/relationships/notesSlide" Target="/ppt/notesSlides/notesSlide26.xml" Id="R81599119285c410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dd5cbfc4014eb1" /><Relationship Type="http://schemas.openxmlformats.org/officeDocument/2006/relationships/notesSlide" Target="/ppt/notesSlides/notesSlide27.xml" Id="R988fd3782d1a45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794e0acf8b44fac" /><Relationship Type="http://schemas.openxmlformats.org/officeDocument/2006/relationships/notesSlide" Target="/ppt/notesSlides/notesSlide28.xml" Id="Rab15432abacf40a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f04b9b0327b4196" /><Relationship Type="http://schemas.openxmlformats.org/officeDocument/2006/relationships/notesSlide" Target="/ppt/notesSlides/notesSlide29.xml" Id="Rad82f8cdccdf47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5e35881772243e4" /><Relationship Type="http://schemas.openxmlformats.org/officeDocument/2006/relationships/notesSlide" Target="/ppt/notesSlides/notesSlide30.xml" Id="Rc83a0c1bb8f64e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994e21f75404279" /><Relationship Type="http://schemas.openxmlformats.org/officeDocument/2006/relationships/notesSlide" Target="/ppt/notesSlides/notesSlide31.xml" Id="Rac7ec8cd973044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e7fce6236194105" /><Relationship Type="http://schemas.openxmlformats.org/officeDocument/2006/relationships/notesSlide" Target="/ppt/notesSlides/notesSlide32.xml" Id="R99f879e15b94420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5aa1575a3404b25" /><Relationship Type="http://schemas.openxmlformats.org/officeDocument/2006/relationships/notesSlide" Target="/ppt/notesSlides/notesSlide33.xml" Id="Re7a298f1447147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5bf948d76ce4c0b" /><Relationship Type="http://schemas.openxmlformats.org/officeDocument/2006/relationships/notesSlide" Target="/ppt/notesSlides/notesSlide34.xml" Id="R0ece3c618c04433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806fc7f18e5452e" /><Relationship Type="http://schemas.openxmlformats.org/officeDocument/2006/relationships/notesSlide" Target="/ppt/notesSlides/notesSlide35.xml" Id="R9524c984e7a243a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e8656bab694a66" /><Relationship Type="http://schemas.openxmlformats.org/officeDocument/2006/relationships/notesSlide" Target="/ppt/notesSlides/notesSlide36.xml" Id="R2d24d1b2f3c34c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Exact notes /24</c:v>
          </c:tx>
          <c:spPr>
            <a:solidFill xmlns:a="http://schemas.openxmlformats.org/drawingml/2006/main">
              <a:srgbClr val="AF6527"/>
            </a:solidFill>
          </c:spPr>
          <c:invertIfNegative val="0"/>
          <c:cat>
            <c:strRef>
              <c:f>'Chart Data'!$A$2:$A$9</c:f>
              <c:strCache>
                <c:ptCount val="8"/>
                <c:pt idx="0">
                  <c:v>Embedding</c:v>
                </c:pt>
                <c:pt idx="1">
                  <c:v>1 head</c:v>
                </c:pt>
                <c:pt idx="2">
                  <c:v>4 heads</c:v>
                </c:pt>
                <c:pt idx="3">
                  <c:v>1 block</c:v>
                </c:pt>
                <c:pt idx="4">
                  <c:v>2 blocks</c:v>
                </c:pt>
                <c:pt idx="5">
                  <c:v>No FFN</c:v>
                </c:pt>
                <c:pt idx="6">
                  <c:v>No norm</c:v>
                </c:pt>
                <c:pt idx="7">
                  <c:v>No residual</c:v>
                </c:pt>
              </c:strCache>
            </c:strRef>
          </c:cat>
          <c:val>
            <c:numRef>
              <c:f>'Chart Data'!$B$2:$B$9</c:f>
              <c:numCache>
                <c:formatCode>0</c:formatCode>
                <c:ptCount val="8"/>
                <c:pt idx="0">
                  <c:v>2</c:v>
                </c:pt>
                <c:pt idx="1">
                  <c:v>22</c:v>
                </c:pt>
                <c:pt idx="2">
                  <c:v>20</c:v>
                </c:pt>
                <c:pt idx="3">
                  <c:v>23</c:v>
                </c:pt>
                <c:pt idx="4">
                  <c:v>23</c:v>
                </c:pt>
                <c:pt idx="5">
                  <c:v>23</c:v>
                </c:pt>
                <c:pt idx="6">
                  <c:v>23</c:v>
                </c:pt>
                <c:pt idx="7">
                  <c:v>24</c:v>
                </c:pt>
              </c:numCache>
            </c:numRef>
          </c:val>
        </c:ser>
        <c:ser>
          <c:idx val="1"/>
          <c:order val="1"/>
          <c:tx>
            <c:v>Clinical associations /24</c:v>
          </c:tx>
          <c:spPr>
            <a:solidFill xmlns:a="http://schemas.openxmlformats.org/drawingml/2006/main">
              <a:srgbClr val="267C79"/>
            </a:solidFill>
          </c:spPr>
          <c:invertIfNegative val="0"/>
          <c:cat>
            <c:strRef>
              <c:f>'Chart Data'!$C$2:$C$9</c:f>
              <c:strCache>
                <c:ptCount val="8"/>
                <c:pt idx="0">
                  <c:v>Embedding</c:v>
                </c:pt>
                <c:pt idx="1">
                  <c:v>1 head</c:v>
                </c:pt>
                <c:pt idx="2">
                  <c:v>4 heads</c:v>
                </c:pt>
                <c:pt idx="3">
                  <c:v>1 block</c:v>
                </c:pt>
                <c:pt idx="4">
                  <c:v>2 blocks</c:v>
                </c:pt>
                <c:pt idx="5">
                  <c:v>No FFN</c:v>
                </c:pt>
                <c:pt idx="6">
                  <c:v>No norm</c:v>
                </c:pt>
                <c:pt idx="7">
                  <c:v>No residual</c:v>
                </c:pt>
              </c:strCache>
            </c:strRef>
          </c:cat>
          <c:val>
            <c:numRef>
              <c:f>'Chart Data'!$D$2:$D$9</c:f>
              <c:numCache>
                <c:formatCode>0</c:formatCode>
                <c:ptCount val="8"/>
                <c:pt idx="0">
                  <c:v>1</c:v>
                </c:pt>
                <c:pt idx="1">
                  <c:v>23</c:v>
                </c:pt>
                <c:pt idx="2">
                  <c:v>21</c:v>
                </c:pt>
                <c:pt idx="3">
                  <c:v>24</c:v>
                </c:pt>
                <c:pt idx="4">
                  <c:v>23</c:v>
                </c:pt>
                <c:pt idx="5">
                  <c:v>24</c:v>
                </c:pt>
                <c:pt idx="6">
                  <c:v>23</c:v>
                </c:pt>
                <c:pt idx="7">
                  <c:v>24</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catAx>
      <c:valAx>
        <c:axId val="48672768"/>
        <c:scaling>
          <c:orientation val="minMax"/>
          <c:max val="24"/>
          <c:min val="0"/>
        </c:scaling>
        <c:delete val="0"/>
        <c:axPos val="l"/>
        <c:majorGridlines>
          <c:spPr>
            <a:ln xmlns:a="http://schemas.openxmlformats.org/drawingml/2006/main" w="6668">
              <a:solidFill>
                <a:srgbClr val="D2D5D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50112"/>
        <c:crossBetween val="between"/>
        <c:majorUnit val="6"/>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5F2E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5526A06B-B90E-4583-8656-6900D169825E}"/>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1732ABDF-3002-4772-BB64-FA40BDAC5988}"/>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536D82DA-FD50-4B3C-A0A4-80912C13EBC1}"/>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A GPT built from primitives</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for synthetic note transformation</a:t>
            </a:r>
          </a:p>
        </p:txBody>
      </p:sp>
      <p:sp>
        <p:nvSpPr>
          <p:cNvPr id="4" name="body">
            <a:extLst xmlns:a="http://schemas.openxmlformats.org/drawingml/2006/main">
              <a:ext uri="{FF2B5EF4-FFF2-40B4-BE49-F238E27FC236}">
                <a16:creationId xmlns:a16="http://schemas.microsoft.com/office/drawing/2014/main" id="{01CEA311-B8EB-4805-80C0-88CD49260217}"/>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Presentation     23 October 2026</a:t>
            </a:r>
          </a:p>
        </p:txBody>
      </p:sp>
    </p:spTree>
    <p:extLst>
      <p:ext uri="{BB962C8B-B14F-4D97-AF65-F5344CB8AC3E}">
        <p14:creationId xmlns:p14="http://schemas.microsoft.com/office/powerpoint/2010/main" val="13229181"/>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7057F00D-FD00-43F0-857E-F31C4C698FB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8DF7ADE4-9A97-4CB2-9129-E014E7A6542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73071045-11CD-412B-805A-E33DFA20EC2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8A2F62AE-ECC0-406D-981E-959898B3D42A}"/>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928813404"/>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32732218-5588-44BE-9D1C-B83DD4793DF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synthetic transformation task</a:t>
            </a:r>
          </a:p>
        </p:txBody>
      </p:sp>
      <p:sp>
        <p:nvSpPr>
          <p:cNvPr id="2" name="subtitle">
            <a:extLst xmlns:a="http://schemas.openxmlformats.org/drawingml/2006/main">
              <a:ext uri="{FF2B5EF4-FFF2-40B4-BE49-F238E27FC236}">
                <a16:creationId xmlns:a16="http://schemas.microsoft.com/office/drawing/2014/main" id="{1B458A78-3C41-46FD-B52C-685085395F1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8244197D-9145-4414-85F8-ED0271EDA44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7AD19E07-13C6-4E26-8C2E-EC0846B0174B}"/>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B0BABE1F-9A77-47B1-82D5-6388769BBCEA}"/>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Smith VISITED Dr Jones ON January 12</a:t>
            </a:r>
          </a:p>
        </p:txBody>
      </p:sp>
      <p:sp>
        <p:nvSpPr>
          <p:cNvPr id="6" name="body">
            <a:extLst xmlns:a="http://schemas.openxmlformats.org/drawingml/2006/main">
              <a:ext uri="{FF2B5EF4-FFF2-40B4-BE49-F238E27FC236}">
                <a16:creationId xmlns:a16="http://schemas.microsoft.com/office/drawing/2014/main" id="{60A873A7-3CFC-45FD-AAE1-D390D72DD382}"/>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045C9C4C-A7F6-40E4-8F43-30B192F9FAB3}"/>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VISITED [DOCTOR] ON [DATE]</a:t>
            </a:r>
          </a:p>
        </p:txBody>
      </p:sp>
      <p:sp>
        <p:nvSpPr>
          <p:cNvPr id="8" name="body">
            <a:extLst xmlns:a="http://schemas.openxmlformats.org/drawingml/2006/main">
              <a:ext uri="{FF2B5EF4-FFF2-40B4-BE49-F238E27FC236}">
                <a16:creationId xmlns:a16="http://schemas.microsoft.com/office/drawing/2014/main" id="{15E4EC2F-1C25-4C0C-9B6E-FED1A7E3FD29}"/>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Expected target for teaching; actual generated notes may differ</a:t>
            </a:r>
          </a:p>
        </p:txBody>
      </p:sp>
    </p:spTree>
    <p:extLst>
      <p:ext uri="{BB962C8B-B14F-4D97-AF65-F5344CB8AC3E}">
        <p14:creationId xmlns:p14="http://schemas.microsoft.com/office/powerpoint/2010/main" val="700895415"/>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8E8D5F5-F00F-43B8-9FDF-06E3B794297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Final experiment design</a:t>
            </a:r>
          </a:p>
        </p:txBody>
      </p:sp>
      <p:sp>
        <p:nvSpPr>
          <p:cNvPr id="2" name="subtitle">
            <a:extLst xmlns:a="http://schemas.openxmlformats.org/drawingml/2006/main">
              <a:ext uri="{FF2B5EF4-FFF2-40B4-BE49-F238E27FC236}">
                <a16:creationId xmlns:a16="http://schemas.microsoft.com/office/drawing/2014/main" id="{A31437EC-265C-4968-8540-3BD29578BD71}"/>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corpus and the same declared checkpoint rule</a:t>
            </a:r>
          </a:p>
        </p:txBody>
      </p:sp>
      <p:sp>
        <p:nvSpPr>
          <p:cNvPr id="3" name="page-number">
            <a:extLst xmlns:a="http://schemas.openxmlformats.org/drawingml/2006/main">
              <a:ext uri="{FF2B5EF4-FFF2-40B4-BE49-F238E27FC236}">
                <a16:creationId xmlns:a16="http://schemas.microsoft.com/office/drawing/2014/main" id="{546688BF-9D06-4339-95B8-EDFA88CED24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684A7BBD-56C5-481D-9ACC-50CE29A6D460}"/>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000250"/>
                <a:gridCol w="4857750"/>
                <a:gridCol w="3962400"/>
              </a:tblGrid>
              <a:tr h="650875">
                <a:tc>
                  <a:txBody>
                    <a:bodyPr/>
                    <a:lstStyle/>
                    <a:p>
                      <a:r>
                        <a:rPr sz="1650" b="1">
                          <a:solidFill>
                            <a:srgbClr val="F9F7F1"/>
                          </a:solidFill>
                          <a:latin typeface="Calibri"/>
                          <a:ea typeface="Calibri"/>
                          <a:cs typeface="Calibri"/>
                        </a:rPr>
                        <a:t>Setting</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 comparison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Data</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training /100 validation /200 final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1,000 unique synthetic source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Width 64, FFN 192, context 256, vocabulary 146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Eight declared architectures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Optimization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AdamW, lr 0.0007, batch 16,4,000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Random initial weights, seed 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update 4,000 for every model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Minimum-loss weights retained separately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Repeats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architectures, seeds 7 and 123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Initialization and minibatch order vary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48959079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910F990B-A97F-4D1C-B68E-D8F02956B50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9EAFE3B9-51B8-453C-922D-39748713429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576ADA0A-BFCE-43D3-8A57-C3CD5FF3656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B66D6242-BC47-43D4-93CB-59309DCF3ACC}"/>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&lt;BOS&gt;&lt;INPUT&gt;PATIENT John&lt;OUTPUT&gt;</a:t>
            </a:r>
          </a:p>
        </p:txBody>
      </p:sp>
      <p:sp>
        <p:nvSpPr>
          <p:cNvPr id="5" name="body">
            <a:extLst xmlns:a="http://schemas.openxmlformats.org/drawingml/2006/main">
              <a:ext uri="{FF2B5EF4-FFF2-40B4-BE49-F238E27FC236}">
                <a16:creationId xmlns:a16="http://schemas.microsoft.com/office/drawing/2014/main" id="{D387B9D5-4836-4D33-BCCB-99C1795878E6}"/>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PATIENT [NAME]&lt;EOS&gt;</a:t>
            </a:r>
          </a:p>
        </p:txBody>
      </p:sp>
      <p:sp>
        <p:nvSpPr>
          <p:cNvPr id="6" name="body">
            <a:extLst xmlns:a="http://schemas.openxmlformats.org/drawingml/2006/main">
              <a:ext uri="{FF2B5EF4-FFF2-40B4-BE49-F238E27FC236}">
                <a16:creationId xmlns:a16="http://schemas.microsoft.com/office/drawing/2014/main" id="{CEFF1A8D-6C8D-401D-9EFE-25881F37FD7D}"/>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Protocol markers</a:t>
            </a:r>
          </a:p>
        </p:txBody>
      </p:sp>
      <p:sp>
        <p:nvSpPr>
          <p:cNvPr id="7" name="body">
            <a:extLst xmlns:a="http://schemas.openxmlformats.org/drawingml/2006/main">
              <a:ext uri="{FF2B5EF4-FFF2-40B4-BE49-F238E27FC236}">
                <a16:creationId xmlns:a16="http://schemas.microsoft.com/office/drawing/2014/main" id="{0AE3AFD9-03F5-48C6-BE5B-BE31DE136638}"/>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BOS / INPUT / OUTPUT / EOS each have one ID</a:t>
            </a:r>
          </a:p>
        </p:txBody>
      </p:sp>
      <p:sp>
        <p:nvSpPr>
          <p:cNvPr id="8" name="body">
            <a:extLst xmlns:a="http://schemas.openxmlformats.org/drawingml/2006/main">
              <a:ext uri="{FF2B5EF4-FFF2-40B4-BE49-F238E27FC236}">
                <a16:creationId xmlns:a16="http://schemas.microsoft.com/office/drawing/2014/main" id="{F4D39167-0617-4755-8CB7-C58760B41477}"/>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Task pieces</a:t>
            </a:r>
          </a:p>
        </p:txBody>
      </p:sp>
      <p:sp>
        <p:nvSpPr>
          <p:cNvPr id="9" name="body">
            <a:extLst xmlns:a="http://schemas.openxmlformats.org/drawingml/2006/main">
              <a:ext uri="{FF2B5EF4-FFF2-40B4-BE49-F238E27FC236}">
                <a16:creationId xmlns:a16="http://schemas.microsoft.com/office/drawing/2014/main" id="{CE4B641A-BFAD-490C-91EC-64D0730A1420}"/>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PATIENT and [NAME] each have one ID</a:t>
            </a:r>
          </a:p>
        </p:txBody>
      </p:sp>
      <p:sp>
        <p:nvSpPr>
          <p:cNvPr id="10" name="body">
            <a:extLst xmlns:a="http://schemas.openxmlformats.org/drawingml/2006/main">
              <a:ext uri="{FF2B5EF4-FFF2-40B4-BE49-F238E27FC236}">
                <a16:creationId xmlns:a16="http://schemas.microsoft.com/office/drawing/2014/main" id="{86FF5890-AB72-41AC-A741-B4F2AB90E793}"/>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Other spelling</a:t>
            </a:r>
          </a:p>
        </p:txBody>
      </p:sp>
      <p:sp>
        <p:nvSpPr>
          <p:cNvPr id="11" name="body">
            <a:extLst xmlns:a="http://schemas.openxmlformats.org/drawingml/2006/main">
              <a:ext uri="{FF2B5EF4-FFF2-40B4-BE49-F238E27FC236}">
                <a16:creationId xmlns:a16="http://schemas.microsoft.com/office/drawing/2014/main" id="{35932ECB-CC94-4FC8-99A0-982981A52C8A}"/>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John retains its character sequence</a:t>
            </a:r>
          </a:p>
        </p:txBody>
      </p:sp>
    </p:spTree>
    <p:extLst>
      <p:ext uri="{BB962C8B-B14F-4D97-AF65-F5344CB8AC3E}">
        <p14:creationId xmlns:p14="http://schemas.microsoft.com/office/powerpoint/2010/main" val="152290288"/>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43C45C0-2584-4FE1-BED6-A422E4FAB7F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67FD6B59-A12B-46EC-B860-A6B65E4F8E1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247B7594-685B-497C-B6CD-78DBE44F602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317E7AAB-1BB4-4D69-A23D-A4A3596277E5}"/>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788710141"/>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468FAA0-C9FA-4F89-B6D2-DA42BD91F20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Tokens, IDs and unseen spelling</a:t>
            </a:r>
          </a:p>
        </p:txBody>
      </p:sp>
      <p:sp>
        <p:nvSpPr>
          <p:cNvPr id="2" name="page-number">
            <a:extLst xmlns:a="http://schemas.openxmlformats.org/drawingml/2006/main">
              <a:ext uri="{FF2B5EF4-FFF2-40B4-BE49-F238E27FC236}">
                <a16:creationId xmlns:a16="http://schemas.microsoft.com/office/drawing/2014/main" id="{D5B20588-CBB1-4B78-B9B8-5EF0FDCCDD6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69103B48-1B0D-457C-9FF2-AB52E4E5AD13}"/>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A token ID is a table address</a:t>
            </a:r>
          </a:p>
        </p:txBody>
      </p:sp>
      <p:sp>
        <p:nvSpPr>
          <p:cNvPr id="4" name="body">
            <a:extLst xmlns:a="http://schemas.openxmlformats.org/drawingml/2006/main">
              <a:ext uri="{FF2B5EF4-FFF2-40B4-BE49-F238E27FC236}">
                <a16:creationId xmlns:a16="http://schemas.microsoft.com/office/drawing/2014/main" id="{C2AE8887-9F48-4C91-8A20-2919F847E33F}"/>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Fixed pieces with character fallback</a:t>
            </a:r>
          </a:p>
        </p:txBody>
      </p:sp>
      <p:sp>
        <p:nvSpPr>
          <p:cNvPr id="5" name="body">
            <a:extLst xmlns:a="http://schemas.openxmlformats.org/drawingml/2006/main">
              <a:ext uri="{FF2B5EF4-FFF2-40B4-BE49-F238E27FC236}">
                <a16:creationId xmlns:a16="http://schemas.microsoft.com/office/drawing/2014/main" id="{FDCE942D-5B48-4A09-8854-28255B865CEA}"/>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PATIENT has declared ID 109</a:t>
            </a:r>
          </a:p>
        </p:txBody>
      </p:sp>
      <p:sp>
        <p:nvSpPr>
          <p:cNvPr id="6" name="body">
            <a:extLst xmlns:a="http://schemas.openxmlformats.org/drawingml/2006/main">
              <a:ext uri="{FF2B5EF4-FFF2-40B4-BE49-F238E27FC236}">
                <a16:creationId xmlns:a16="http://schemas.microsoft.com/office/drawing/2014/main" id="{BADEDFCB-786C-47F8-ADBE-1535167BFFD1}"/>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An ID selects one embedding row</a:t>
            </a:r>
          </a:p>
        </p:txBody>
      </p:sp>
      <p:sp>
        <p:nvSpPr>
          <p:cNvPr id="7" name="body">
            <a:extLst xmlns:a="http://schemas.openxmlformats.org/drawingml/2006/main">
              <a:ext uri="{FF2B5EF4-FFF2-40B4-BE49-F238E27FC236}">
                <a16:creationId xmlns:a16="http://schemas.microsoft.com/office/drawing/2014/main" id="{49644CC5-0B62-4A1E-9A1B-FADB0C66B248}"/>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The tokenizer never learns that row</a:t>
            </a:r>
          </a:p>
        </p:txBody>
      </p:sp>
      <p:sp>
        <p:nvSpPr>
          <p:cNvPr id="8" name="body">
            <a:extLst xmlns:a="http://schemas.openxmlformats.org/drawingml/2006/main">
              <a:ext uri="{FF2B5EF4-FFF2-40B4-BE49-F238E27FC236}">
                <a16:creationId xmlns:a16="http://schemas.microsoft.com/office/drawing/2014/main" id="{2AA1AD09-BC8E-4A14-8EAB-E2A045F689CC}"/>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John uses J, o, h, n plus the spaces</a:t>
            </a:r>
          </a:p>
        </p:txBody>
      </p:sp>
      <p:sp>
        <p:nvSpPr>
          <p:cNvPr id="9" name="body">
            <a:extLst xmlns:a="http://schemas.openxmlformats.org/drawingml/2006/main">
              <a:ext uri="{FF2B5EF4-FFF2-40B4-BE49-F238E27FC236}">
                <a16:creationId xmlns:a16="http://schemas.microsoft.com/office/drawing/2014/main" id="{59A922FC-1504-4DD3-958E-9E057678FC32}"/>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Unseen supported names retain spelling</a:t>
            </a:r>
          </a:p>
        </p:txBody>
      </p:sp>
      <p:sp>
        <p:nvSpPr>
          <p:cNvPr id="10" name="body">
            <a:extLst xmlns:a="http://schemas.openxmlformats.org/drawingml/2006/main">
              <a:ext uri="{FF2B5EF4-FFF2-40B4-BE49-F238E27FC236}">
                <a16:creationId xmlns:a16="http://schemas.microsoft.com/office/drawing/2014/main" id="{0CF30BA3-A4EE-4C1B-98C8-8C7FEB484EAF}"/>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 piece can also occur inside a word</a:t>
            </a:r>
          </a:p>
        </p:txBody>
      </p:sp>
      <p:sp>
        <p:nvSpPr>
          <p:cNvPr id="11" name="body">
            <a:extLst xmlns:a="http://schemas.openxmlformats.org/drawingml/2006/main">
              <a:ext uri="{FF2B5EF4-FFF2-40B4-BE49-F238E27FC236}">
                <a16:creationId xmlns:a16="http://schemas.microsoft.com/office/drawing/2014/main" id="{CC0817CD-D91F-4E58-9350-3BC2DFFD61AB}"/>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 ID selects an embedding row; it is not a learned meaning vector</a:t>
            </a:r>
          </a:p>
        </p:txBody>
      </p:sp>
    </p:spTree>
    <p:extLst>
      <p:ext uri="{BB962C8B-B14F-4D97-AF65-F5344CB8AC3E}">
        <p14:creationId xmlns:p14="http://schemas.microsoft.com/office/powerpoint/2010/main" val="128812130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8355411F-C96F-4BF9-AE44-ECBAA1FB93D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667608E7-4D87-4A5F-AC62-BE56AF92C65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EF8B8B6E-BED6-4AFF-865C-C1841FDEB81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275E4862-D7C8-47D5-B2C7-CF947937D4D4}"/>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794A80F7-B008-47CF-B799-B1881768C6C8}"/>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4D3EA392-449D-4B47-8873-CD8B5A047EEF}"/>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55796FED-C892-4740-AA5A-5135B77CF529}"/>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E5CA76AC-3FD4-4434-B40E-F2D908184FD7}"/>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B9DBAEF7-7F6F-4579-B189-234BD6131565}"/>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D85D42D4-026C-4D5F-9312-96E6B569F3BB}"/>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80B2C67B-3614-4068-825F-C17080A34E2C}"/>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A3FA7223-4ECC-4A91-A1CE-385783E35E06}"/>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1AE277B2-F77B-4A58-8B6D-B25851ACED2E}"/>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Teaching arithmetic: [0.2, -0.1] + [0.01, 0.04] = [0.21, -0.06]</a:t>
            </a:r>
          </a:p>
        </p:txBody>
      </p:sp>
    </p:spTree>
    <p:extLst>
      <p:ext uri="{BB962C8B-B14F-4D97-AF65-F5344CB8AC3E}">
        <p14:creationId xmlns:p14="http://schemas.microsoft.com/office/powerpoint/2010/main" val="358474221"/>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6ABC5B53-2908-46B4-A770-F258EDF010F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23C96CAD-4C98-4F3A-9347-9997E40406C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41B353AC-EF54-4122-B734-9DE286D041A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9FE7D038-E368-4FA9-A789-5E13EAD97839}"/>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C = AV</a:t>
            </a:r>
          </a:p>
        </p:txBody>
      </p:sp>
      <p:sp>
        <p:nvSpPr>
          <p:cNvPr id="5" name="body">
            <a:extLst xmlns:a="http://schemas.openxmlformats.org/drawingml/2006/main">
              <a:ext uri="{FF2B5EF4-FFF2-40B4-BE49-F238E27FC236}">
                <a16:creationId xmlns:a16="http://schemas.microsoft.com/office/drawing/2014/main" id="{846F9EA7-6A36-4F3D-BC9B-6E0381163E14}"/>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85F2E2EA-17A4-4DF2-94E3-CD0A3C07A161}"/>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56E3E37E-2D38-49FA-A524-608DDED77205}"/>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 C</a:t>
            </a:r>
          </a:p>
        </p:txBody>
      </p:sp>
      <p:sp>
        <p:nvSpPr>
          <p:cNvPr id="8" name="body">
            <a:extLst xmlns:a="http://schemas.openxmlformats.org/drawingml/2006/main">
              <a:ext uri="{FF2B5EF4-FFF2-40B4-BE49-F238E27FC236}">
                <a16:creationId xmlns:a16="http://schemas.microsoft.com/office/drawing/2014/main" id="{6515533E-57C9-41BF-982B-9EBC9A996959}"/>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Value vectors and their weighted context mixture</a:t>
            </a:r>
          </a:p>
        </p:txBody>
      </p:sp>
      <p:sp>
        <p:nvSpPr>
          <p:cNvPr id="9" name="body">
            <a:extLst xmlns:a="http://schemas.openxmlformats.org/drawingml/2006/main">
              <a:ext uri="{FF2B5EF4-FFF2-40B4-BE49-F238E27FC236}">
                <a16:creationId xmlns:a16="http://schemas.microsoft.com/office/drawing/2014/main" id="{65CE88A0-BB27-4E83-A586-AD829CDD1C95}"/>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1E065426-C8F2-42C3-8D14-CC463CEBF5CA}"/>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B659D227-A630-43D7-9F95-8CFF182CB63C}"/>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CA4AEBF8-4A02-4DDB-B08E-22225D5F6B6F}"/>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32E99CF3-75C5-474D-B524-5B12DBF0393B}"/>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1608222219"/>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9D3F975F-A5F5-497B-85AC-926E20E320A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209C5570-5662-46E0-AFC9-95B402CEA4B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Visibility masks act on attention, while the loss mask chooses targets</a:t>
            </a:r>
          </a:p>
        </p:txBody>
      </p:sp>
      <p:sp>
        <p:nvSpPr>
          <p:cNvPr id="3" name="page-number">
            <a:extLst xmlns:a="http://schemas.openxmlformats.org/drawingml/2006/main">
              <a:ext uri="{FF2B5EF4-FFF2-40B4-BE49-F238E27FC236}">
                <a16:creationId xmlns:a16="http://schemas.microsoft.com/office/drawing/2014/main" id="{2975DFFB-7FFD-42CC-8EE3-BF485553C29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38CDA537-5619-4646-87CD-3BD1B6044BF8}"/>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FE2673C2-4B95-4093-AFD0-63AE9D7A4C40}"/>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943204069"/>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DED0066D-1C06-4B43-B801-AD3EFCEA809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Heads share positions and split features</a:t>
            </a:r>
          </a:p>
        </p:txBody>
      </p:sp>
      <p:sp>
        <p:nvSpPr>
          <p:cNvPr id="2" name="subtitle">
            <a:extLst xmlns:a="http://schemas.openxmlformats.org/drawingml/2006/main">
              <a:ext uri="{FF2B5EF4-FFF2-40B4-BE49-F238E27FC236}">
                <a16:creationId xmlns:a16="http://schemas.microsoft.com/office/drawing/2014/main" id="{888AEA53-2868-47B5-9A9E-9650722500C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4A3C1956-C8E5-4D55-847A-873BC621525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19791FC4-0873-4C26-A711-56E469C3E5F5}"/>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head-specific feature views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327710440"/>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7BB7DB84-7AF4-4D71-8483-22B30C8F961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Two decoder blocks</a:t>
            </a:r>
          </a:p>
        </p:txBody>
      </p:sp>
      <p:sp>
        <p:nvSpPr>
          <p:cNvPr id="2" name="subtitle">
            <a:extLst xmlns:a="http://schemas.openxmlformats.org/drawingml/2006/main">
              <a:ext uri="{FF2B5EF4-FFF2-40B4-BE49-F238E27FC236}">
                <a16:creationId xmlns:a16="http://schemas.microsoft.com/office/drawing/2014/main" id="{806D3FC5-ADAB-4744-8058-9F2CA11D034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Our full model normalizes before each sublayer</a:t>
            </a:r>
          </a:p>
        </p:txBody>
      </p:sp>
      <p:sp>
        <p:nvSpPr>
          <p:cNvPr id="3" name="page-number">
            <a:extLst xmlns:a="http://schemas.openxmlformats.org/drawingml/2006/main">
              <a:ext uri="{FF2B5EF4-FFF2-40B4-BE49-F238E27FC236}">
                <a16:creationId xmlns:a16="http://schemas.microsoft.com/office/drawing/2014/main" id="{28F9BFB8-9DCA-4546-8D26-B877CC87C89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sp>
        <p:nvSpPr>
          <p:cNvPr id="4" name="body">
            <a:extLst xmlns:a="http://schemas.openxmlformats.org/drawingml/2006/main">
              <a:ext uri="{FF2B5EF4-FFF2-40B4-BE49-F238E27FC236}">
                <a16:creationId xmlns:a16="http://schemas.microsoft.com/office/drawing/2014/main" id="{A1728B1A-353A-4EC9-B2BB-60BB4A23B3CE}"/>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5481AD2B-36A2-4AF3-8CDB-C7ECE7C2422D}"/>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6F214F1E-786A-42E0-B93F-0EC206112639}"/>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AE52AC26-2C3C-479E-A6FC-BB7B076760DA}"/>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7761F818-F355-489E-AFE4-5B7E9CACFB2B}"/>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6AE1E8EB-78A7-40C4-904E-7B41DA59936A}"/>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EC82E28A-9C54-4D37-83A6-8A6C6B8CB421}"/>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5D132646-2F87-44F1-926E-D219D6668E0F}"/>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1A363E3E-F83E-42F6-A214-F48C704CD5A3}"/>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947F58AB-A7D4-4599-AA98-94D3B63F073F}"/>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1468915447"/>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12235F05-FFE3-4B6A-A1E4-AA5A3C1F7D6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2319756C-0204-475B-B8A1-0780AD19F41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92F8CCFA-7934-434C-A357-F4B7B0C64B3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049897A8-6DBE-4807-B657-34259EA64EB6}"/>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AB77C7FF-8393-49D7-88E1-95B93B728EBF}"/>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E089A2BE-348F-4BA7-8803-5DB1E1C8909A}"/>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BF6CD010-1B54-4DB3-86D2-E274A4F81A5B}"/>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3C3472C6-0DCD-43E3-B755-078BE1D705CC}"/>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E963CC8E-7FB8-418D-ABC1-326C1B3C57D4}"/>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F5CE408E-81D7-4AAC-B554-92CC974FE155}"/>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2DA8F33E-0041-4D5C-9056-796EF6606B32}"/>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959114B9-A7AE-432A-B7D1-8FC730DF4BD7}"/>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D7E43A9A-EAFD-4146-B705-8869E65693DA}"/>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854134509"/>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00DD1F28-6FA1-4C21-9C84-426699C9321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Eight trained architecture variants</a:t>
            </a:r>
          </a:p>
        </p:txBody>
      </p:sp>
      <p:sp>
        <p:nvSpPr>
          <p:cNvPr id="2" name="subtitle">
            <a:extLst xmlns:a="http://schemas.openxmlformats.org/drawingml/2006/main">
              <a:ext uri="{FF2B5EF4-FFF2-40B4-BE49-F238E27FC236}">
                <a16:creationId xmlns:a16="http://schemas.microsoft.com/office/drawing/2014/main" id="{25DAE3E3-EA04-44CB-924A-0F4EE8C9B33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Every choice loads its own trained checkpoint</a:t>
            </a:r>
          </a:p>
        </p:txBody>
      </p:sp>
      <p:sp>
        <p:nvSpPr>
          <p:cNvPr id="3" name="page-number">
            <a:extLst xmlns:a="http://schemas.openxmlformats.org/drawingml/2006/main">
              <a:ext uri="{FF2B5EF4-FFF2-40B4-BE49-F238E27FC236}">
                <a16:creationId xmlns:a16="http://schemas.microsoft.com/office/drawing/2014/main" id="{DFE0B4DD-89EE-4030-858C-3BFA95E48F8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89E6E621-1724-4D1A-A68A-C9485C9197C1}"/>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762250"/>
                <a:gridCol w="2000250"/>
                <a:gridCol w="6057900"/>
              </a:tblGrid>
              <a:tr h="448733">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Assignment role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Token + position embeddings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Single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bare causal head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Multi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Additional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Same bare arrangement, four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One full block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Depth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Pre-LN attention + FFN + residuals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decoder blocks + final norm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blocks without FFN branch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All block/final norms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Residual additions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84740463"/>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939E12C-9956-4DF0-9A82-227D178E18A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Transformation metrics</a:t>
            </a:r>
          </a:p>
        </p:txBody>
      </p:sp>
      <p:sp>
        <p:nvSpPr>
          <p:cNvPr id="2" name="subtitle">
            <a:extLst xmlns:a="http://schemas.openxmlformats.org/drawingml/2006/main">
              <a:ext uri="{FF2B5EF4-FFF2-40B4-BE49-F238E27FC236}">
                <a16:creationId xmlns:a16="http://schemas.microsoft.com/office/drawing/2014/main" id="{11F0AC83-75AF-4F78-82DF-473E663D8DA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Token accuracy alone can miss leakage and clinical corruption</a:t>
            </a:r>
          </a:p>
        </p:txBody>
      </p:sp>
      <p:sp>
        <p:nvSpPr>
          <p:cNvPr id="3" name="page-number">
            <a:extLst xmlns:a="http://schemas.openxmlformats.org/drawingml/2006/main">
              <a:ext uri="{FF2B5EF4-FFF2-40B4-BE49-F238E27FC236}">
                <a16:creationId xmlns:a16="http://schemas.microsoft.com/office/drawing/2014/main" id="{326951EE-F8E7-47C9-BD66-D52D7B337C6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0B5ACDF1-7A13-4983-8061-1921617B4A5B}"/>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143250"/>
                <a:gridCol w="4286250"/>
                <a:gridCol w="3390900"/>
              </a:tblGrid>
              <a:tr h="650875">
                <a:tc>
                  <a:txBody>
                    <a:bodyPr/>
                    <a:lstStyle/>
                    <a:p>
                      <a:r>
                        <a:rPr sz="1650" b="1">
                          <a:solidFill>
                            <a:srgbClr val="F9F7F1"/>
                          </a:solidFill>
                          <a:latin typeface="Calibri"/>
                          <a:ea typeface="Calibri"/>
                          <a:cs typeface="Calibri"/>
                        </a:rPr>
                        <a:t>Measure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must accompany it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Token loss / accuracy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well is the next token predicted?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Teacher-forced scored-token count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Redaction precision / recall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placeholder at the correct field?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TP / FP / FN and category support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Exact note match</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Was the entire note reproduced correctly?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Number of complete generated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Did the original field/value relation survive?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fields / supported fields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Leakage / EOS / latency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failed or cost time?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Raw text, stop reason and hardware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304807908"/>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8234292-97BC-42A6-9A1F-24A8AB67CBA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Loss and next-token accuracy</a:t>
            </a:r>
          </a:p>
        </p:txBody>
      </p:sp>
      <p:sp>
        <p:nvSpPr>
          <p:cNvPr id="2" name="subtitle">
            <a:extLst xmlns:a="http://schemas.openxmlformats.org/drawingml/2006/main">
              <a:ext uri="{FF2B5EF4-FFF2-40B4-BE49-F238E27FC236}">
                <a16:creationId xmlns:a16="http://schemas.microsoft.com/office/drawing/2014/main" id="{F6B24B57-7E0E-4BA3-A118-34562639C4D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Teacher forcing supplies the correct prefix; free generation remains a separate test</a:t>
            </a:r>
          </a:p>
        </p:txBody>
      </p:sp>
      <p:sp>
        <p:nvSpPr>
          <p:cNvPr id="3" name="page-number">
            <a:extLst xmlns:a="http://schemas.openxmlformats.org/drawingml/2006/main">
              <a:ext uri="{FF2B5EF4-FFF2-40B4-BE49-F238E27FC236}">
                <a16:creationId xmlns:a16="http://schemas.microsoft.com/office/drawing/2014/main" id="{45CB7A96-F65F-448C-B6EC-2E4BEA6AA0E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AB27AE8C-D4C1-4C7B-AC84-0279B2066392}"/>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571750"/>
                <a:gridCol w="1619250"/>
                <a:gridCol w="1619250"/>
                <a:gridCol w="2505075"/>
                <a:gridCol w="2505075"/>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Last batch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Validation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Familiar test: loss / accuracy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New layout: loss / accuracy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0.937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1.801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1.082 / 66.7%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2.245 / 52.6%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0.00746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4.717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0.163 / 97.0%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6.878 / 57.2%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0.00160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3.541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0.198 / 96.8%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5.898 / 56.9%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0.000165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0.024 / 99.4%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2.875 / 64.4%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99470532"/>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07C35132-9750-4435-A7A0-2F48136218C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Architecture comparison</a:t>
            </a:r>
          </a:p>
        </p:txBody>
      </p:sp>
      <p:sp>
        <p:nvSpPr>
          <p:cNvPr id="2" name="subtitle">
            <a:extLst xmlns:a="http://schemas.openxmlformats.org/drawingml/2006/main">
              <a:ext uri="{FF2B5EF4-FFF2-40B4-BE49-F238E27FC236}">
                <a16:creationId xmlns:a16="http://schemas.microsoft.com/office/drawing/2014/main" id="{AF46C653-36BC-4C4F-B1F5-9E4828386FC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Primary seed 42, fixed 4,000 updates,24 familiar-condition validation notes</a:t>
            </a:r>
          </a:p>
        </p:txBody>
      </p:sp>
      <p:sp>
        <p:nvSpPr>
          <p:cNvPr id="3" name="page-number">
            <a:extLst xmlns:a="http://schemas.openxmlformats.org/drawingml/2006/main">
              <a:ext uri="{FF2B5EF4-FFF2-40B4-BE49-F238E27FC236}">
                <a16:creationId xmlns:a16="http://schemas.microsoft.com/office/drawing/2014/main" id="{BEC1E6E7-BED1-4F2A-81B1-C615671E3DA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Chart">
            <a:extLst xmlns:a="http://schemas.openxmlformats.org/drawingml/2006/main">
              <a:ext uri="{FF2B5EF4-FFF2-40B4-BE49-F238E27FC236}">
                <a16:creationId xmlns:a16="http://schemas.microsoft.com/office/drawing/2014/main" id="{3DEAE272-AB65-446F-96E7-F451D4FE287E}"/>
              </a:ext>
            </a:extLst>
          </p:cNvPr>
          <p:cNvGraphicFramePr/>
          <p:nvPr/>
        </p:nvGraphicFramePr>
        <p:xfrm>
          <a:off xmlns:a="http://schemas.openxmlformats.org/drawingml/2006/main" x="685800" y="2095500"/>
          <a:ext xmlns:a="http://schemas.openxmlformats.org/drawingml/2006/main" cx="10820400" cy="3905250"/>
        </p:xfrm>
        <a:graphic xmlns:a="http://schemas.openxmlformats.org/drawingml/2006/main">
          <a:graphicData uri="http://schemas.openxmlformats.org/drawingml/2006/chart">
            <c:chart xmlns:r="http://schemas.openxmlformats.org/officeDocument/2006/relationships" xmlns:c="http://schemas.openxmlformats.org/drawingml/2006/chart" r:id="R50666ddcb73c430b"/>
          </a:graphicData>
        </a:graphic>
      </p:graphicFrame>
      <p:sp>
        <p:nvSpPr>
          <p:cNvPr id="5" name="body">
            <a:extLst xmlns:a="http://schemas.openxmlformats.org/drawingml/2006/main">
              <a:ext uri="{FF2B5EF4-FFF2-40B4-BE49-F238E27FC236}">
                <a16:creationId xmlns:a16="http://schemas.microsoft.com/office/drawing/2014/main" id="{35641218-2193-4EE7-9881-DAEB39006785}"/>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Familiar diagnostics show learned behavior, while final partitions test transfer</a:t>
            </a:r>
          </a:p>
        </p:txBody>
      </p:sp>
    </p:spTree>
    <p:extLst>
      <p:ext uri="{BB962C8B-B14F-4D97-AF65-F5344CB8AC3E}">
        <p14:creationId xmlns:p14="http://schemas.microsoft.com/office/powerpoint/2010/main" val="1707130550"/>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FFF1B7D-1BDB-4F1B-A38D-7D171C1B440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Component removal experiments</a:t>
            </a:r>
          </a:p>
        </p:txBody>
      </p:sp>
      <p:sp>
        <p:nvSpPr>
          <p:cNvPr id="2" name="subtitle">
            <a:extLst xmlns:a="http://schemas.openxmlformats.org/drawingml/2006/main">
              <a:ext uri="{FF2B5EF4-FFF2-40B4-BE49-F238E27FC236}">
                <a16:creationId xmlns:a16="http://schemas.microsoft.com/office/drawing/2014/main" id="{3422B434-DE78-4877-A34C-B447A0D30A4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Separate training runs under the same seed 42 policy</a:t>
            </a:r>
          </a:p>
        </p:txBody>
      </p:sp>
      <p:sp>
        <p:nvSpPr>
          <p:cNvPr id="3" name="page-number">
            <a:extLst xmlns:a="http://schemas.openxmlformats.org/drawingml/2006/main">
              <a:ext uri="{FF2B5EF4-FFF2-40B4-BE49-F238E27FC236}">
                <a16:creationId xmlns:a16="http://schemas.microsoft.com/office/drawing/2014/main" id="{F7046EA5-B7E1-43B9-B436-9D4E59B4BBE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D365A6CA-DDB2-4DA3-9B79-3A0ABE5B2C49}"/>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762250"/>
                <a:gridCol w="1809750"/>
                <a:gridCol w="2095500"/>
                <a:gridCol w="2000250"/>
                <a:gridCol w="2152650"/>
              </a:tblGrid>
              <a:tr h="742950">
                <a:tc>
                  <a:txBody>
                    <a:bodyPr/>
                    <a:lstStyle/>
                    <a:p>
                      <a:r>
                        <a:rPr sz="1650" b="1">
                          <a:solidFill>
                            <a:srgbClr val="F9F7F1"/>
                          </a:solidFill>
                          <a:latin typeface="Calibri"/>
                          <a:ea typeface="Calibri"/>
                          <a:cs typeface="Calibri"/>
                        </a:rPr>
                        <a:t>Variant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 /24</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/24</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Max logged gradient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118,162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residuals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68,882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904422309"/>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F4FEE018-C95E-4086-837F-DACA3C3D1A1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Training-seed sensitivity</a:t>
            </a:r>
          </a:p>
        </p:txBody>
      </p:sp>
      <p:sp>
        <p:nvSpPr>
          <p:cNvPr id="2" name="subtitle">
            <a:extLst xmlns:a="http://schemas.openxmlformats.org/drawingml/2006/main">
              <a:ext uri="{FF2B5EF4-FFF2-40B4-BE49-F238E27FC236}">
                <a16:creationId xmlns:a16="http://schemas.microsoft.com/office/drawing/2014/main" id="{BD343E9F-5D50-4018-B2EC-52B9739C879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development notes, different initialization and minibatch order</a:t>
            </a:r>
          </a:p>
        </p:txBody>
      </p:sp>
      <p:sp>
        <p:nvSpPr>
          <p:cNvPr id="3" name="page-number">
            <a:extLst xmlns:a="http://schemas.openxmlformats.org/drawingml/2006/main">
              <a:ext uri="{FF2B5EF4-FFF2-40B4-BE49-F238E27FC236}">
                <a16:creationId xmlns:a16="http://schemas.microsoft.com/office/drawing/2014/main" id="{82CAF22C-E4AE-49E3-A4F1-B00A059A9F8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DAECE158-5E88-4B23-A68B-622DE5FB9441}"/>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905000"/>
                <a:gridCol w="1905000"/>
                <a:gridCol w="1905000"/>
                <a:gridCol w="196215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42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7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123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Authored range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9–11/11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10–11/11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351560584"/>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2049AFA3-60C2-49BD-AB43-47D30207B88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Individual head interventions</a:t>
            </a:r>
          </a:p>
        </p:txBody>
      </p:sp>
      <p:sp>
        <p:nvSpPr>
          <p:cNvPr id="2" name="subtitle">
            <a:extLst xmlns:a="http://schemas.openxmlformats.org/drawingml/2006/main">
              <a:ext uri="{FF2B5EF4-FFF2-40B4-BE49-F238E27FC236}">
                <a16:creationId xmlns:a16="http://schemas.microsoft.com/office/drawing/2014/main" id="{E7C2FFBF-8BD4-47A6-A192-A6A57FF419D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seed 42 at 4,000 updates, same eight validation notes</a:t>
            </a:r>
          </a:p>
        </p:txBody>
      </p:sp>
      <p:sp>
        <p:nvSpPr>
          <p:cNvPr id="3" name="page-number">
            <a:extLst xmlns:a="http://schemas.openxmlformats.org/drawingml/2006/main">
              <a:ext uri="{FF2B5EF4-FFF2-40B4-BE49-F238E27FC236}">
                <a16:creationId xmlns:a16="http://schemas.microsoft.com/office/drawing/2014/main" id="{F2047C65-1606-474B-9EAE-2D4372EC34B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84267A77-A5FF-41A2-9F9C-89260F7121B4}"/>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67000"/>
                <a:gridCol w="2857500"/>
                <a:gridCol w="2571750"/>
                <a:gridCol w="2724150"/>
              </a:tblGrid>
              <a:tr h="448733">
                <a:tc>
                  <a:txBody>
                    <a:bodyPr/>
                    <a:lstStyle/>
                    <a:p>
                      <a:r>
                        <a:rPr sz="1650" b="1">
                          <a:solidFill>
                            <a:srgbClr val="F9F7F1"/>
                          </a:solidFill>
                          <a:latin typeface="Calibri"/>
                          <a:ea typeface="Calibri"/>
                          <a:cs typeface="Calibri"/>
                        </a:rPr>
                        <a:t>Disabled head</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identifiers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L0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1.1057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10/14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0.3461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12/14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0.3369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0.0268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0.0637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0.0193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0.1524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0.0995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33B0E427-F258-446A-8E06-BB3D7CE311D1}"/>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Baseline 14/14 identifiers and 8/8 notes. Head index 0 is the first head</a:t>
            </a:r>
          </a:p>
        </p:txBody>
      </p:sp>
    </p:spTree>
    <p:extLst>
      <p:ext uri="{BB962C8B-B14F-4D97-AF65-F5344CB8AC3E}">
        <p14:creationId xmlns:p14="http://schemas.microsoft.com/office/powerpoint/2010/main" val="96631625"/>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8C20CE0-3B3A-4C6A-BA53-90D75C02666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Controlled source dependence</a:t>
            </a:r>
          </a:p>
        </p:txBody>
      </p:sp>
      <p:sp>
        <p:nvSpPr>
          <p:cNvPr id="2" name="subtitle">
            <a:extLst xmlns:a="http://schemas.openxmlformats.org/drawingml/2006/main">
              <a:ext uri="{FF2B5EF4-FFF2-40B4-BE49-F238E27FC236}">
                <a16:creationId xmlns:a16="http://schemas.microsoft.com/office/drawing/2014/main" id="{FE5139F3-61B0-47AE-BBFA-8FEB0E6E7EF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Change DrugA to DrugB while keeping prefix and position fixed</a:t>
            </a:r>
          </a:p>
        </p:txBody>
      </p:sp>
      <p:sp>
        <p:nvSpPr>
          <p:cNvPr id="3" name="page-number">
            <a:extLst xmlns:a="http://schemas.openxmlformats.org/drawingml/2006/main">
              <a:ext uri="{FF2B5EF4-FFF2-40B4-BE49-F238E27FC236}">
                <a16:creationId xmlns:a16="http://schemas.microsoft.com/office/drawing/2014/main" id="{2D4C2EA2-AAB6-48AD-A1AF-AECF1A507A5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D8C676C4-8C9B-4883-9E2A-0089BD9DC749}"/>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952750"/>
                <a:gridCol w="2095500"/>
                <a:gridCol w="2095500"/>
                <a:gridCol w="3676650"/>
              </a:tblGrid>
              <a:tr h="742950">
                <a:tc>
                  <a:txBody>
                    <a:bodyPr/>
                    <a:lstStyle/>
                    <a:p>
                      <a:r>
                        <a:rPr sz="1650" b="1">
                          <a:solidFill>
                            <a:srgbClr val="F9F7F1"/>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DrugA source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DrugB source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P(DrugA), A / B sources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[MRN]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[MRN]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0.002 / 0.002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0.448 / &lt;0.001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Chemotherapy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0.089 / &lt;0.001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0.970 / &lt;0.001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66221485"/>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15B75A86-96AE-4120-B070-2EE25558B80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Sampling temperature</a:t>
            </a:r>
          </a:p>
        </p:txBody>
      </p:sp>
      <p:sp>
        <p:nvSpPr>
          <p:cNvPr id="2" name="subtitle">
            <a:extLst xmlns:a="http://schemas.openxmlformats.org/drawingml/2006/main">
              <a:ext uri="{FF2B5EF4-FFF2-40B4-BE49-F238E27FC236}">
                <a16:creationId xmlns:a16="http://schemas.microsoft.com/office/drawing/2014/main" id="{49C5CD51-2858-423C-98B3-61A6A06CAD98}"/>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seed 42 checkpoint, eight notes and matched sampling seeds</a:t>
            </a:r>
          </a:p>
        </p:txBody>
      </p:sp>
      <p:sp>
        <p:nvSpPr>
          <p:cNvPr id="3" name="page-number">
            <a:extLst xmlns:a="http://schemas.openxmlformats.org/drawingml/2006/main">
              <a:ext uri="{FF2B5EF4-FFF2-40B4-BE49-F238E27FC236}">
                <a16:creationId xmlns:a16="http://schemas.microsoft.com/office/drawing/2014/main" id="{6882B750-B74D-499D-A290-000F2562A2A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1F6DBC17-D7FB-433C-8CF6-A97AC1674BD3}"/>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381250"/>
                <a:gridCol w="3238500"/>
                <a:gridCol w="2667000"/>
                <a:gridCol w="2533650"/>
              </a:tblGrid>
              <a:tr h="928688">
                <a:tc>
                  <a:txBody>
                    <a:bodyPr/>
                    <a:lstStyle/>
                    <a:p>
                      <a:r>
                        <a:rPr sz="1650" b="1">
                          <a:solidFill>
                            <a:srgbClr val="F9F7F1"/>
                          </a:solidFill>
                          <a:latin typeface="Calibri"/>
                          <a:ea typeface="Calibri"/>
                          <a:cs typeface="Calibri"/>
                        </a:rPr>
                        <a:t>Temperature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identifiers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 EOS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0.1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0.7</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1.2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49575025"/>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6709C233-B32E-4EB8-93E5-1237DB70E88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Out-of-distribution substitution</a:t>
            </a:r>
          </a:p>
        </p:txBody>
      </p:sp>
      <p:sp>
        <p:nvSpPr>
          <p:cNvPr id="2" name="subtitle">
            <a:extLst xmlns:a="http://schemas.openxmlformats.org/drawingml/2006/main">
              <a:ext uri="{FF2B5EF4-FFF2-40B4-BE49-F238E27FC236}">
                <a16:creationId xmlns:a16="http://schemas.microsoft.com/office/drawing/2014/main" id="{BD90F826-8C88-4BB6-A099-C43FBB5D830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Primary seed 42, actual greedy generation</a:t>
            </a:r>
          </a:p>
        </p:txBody>
      </p:sp>
      <p:sp>
        <p:nvSpPr>
          <p:cNvPr id="3" name="page-number">
            <a:extLst xmlns:a="http://schemas.openxmlformats.org/drawingml/2006/main">
              <a:ext uri="{FF2B5EF4-FFF2-40B4-BE49-F238E27FC236}">
                <a16:creationId xmlns:a16="http://schemas.microsoft.com/office/drawing/2014/main" id="{A6017873-D616-45B1-9D09-B189BE634FE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sp>
        <p:nvSpPr>
          <p:cNvPr id="4" name="body">
            <a:extLst xmlns:a="http://schemas.openxmlformats.org/drawingml/2006/main">
              <a:ext uri="{FF2B5EF4-FFF2-40B4-BE49-F238E27FC236}">
                <a16:creationId xmlns:a16="http://schemas.microsoft.com/office/drawing/2014/main" id="{A9C920B9-54B8-4B41-ACFC-F266842A301D}"/>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741F9B44-4C04-400E-B296-28487E570BAF}"/>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Kai DIAGNOSIS UNKNOWN</a:t>
            </a:r>
          </a:p>
        </p:txBody>
      </p:sp>
      <p:sp>
        <p:nvSpPr>
          <p:cNvPr id="6" name="body">
            <a:extLst xmlns:a="http://schemas.openxmlformats.org/drawingml/2006/main">
              <a:ext uri="{FF2B5EF4-FFF2-40B4-BE49-F238E27FC236}">
                <a16:creationId xmlns:a16="http://schemas.microsoft.com/office/drawing/2014/main" id="{EF4AB1E6-3265-4414-8781-85DD86BB2770}"/>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ACTUAL GENERATED OUTPUT</a:t>
            </a:r>
          </a:p>
        </p:txBody>
      </p:sp>
      <p:sp>
        <p:nvSpPr>
          <p:cNvPr id="7" name="body">
            <a:extLst xmlns:a="http://schemas.openxmlformats.org/drawingml/2006/main">
              <a:ext uri="{FF2B5EF4-FFF2-40B4-BE49-F238E27FC236}">
                <a16:creationId xmlns:a16="http://schemas.microsoft.com/office/drawing/2014/main" id="{5710ED8B-E043-4588-971C-C4F7C09635BE}"/>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DIAGNOSIS DIABETES</a:t>
            </a:r>
          </a:p>
        </p:txBody>
      </p:sp>
      <p:sp>
        <p:nvSpPr>
          <p:cNvPr id="8" name="body">
            <a:extLst xmlns:a="http://schemas.openxmlformats.org/drawingml/2006/main">
              <a:ext uri="{FF2B5EF4-FFF2-40B4-BE49-F238E27FC236}">
                <a16:creationId xmlns:a16="http://schemas.microsoft.com/office/drawing/2014/main" id="{AFBD1F28-C07B-4EB6-8B6E-AAE4ABAE870C}"/>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The generated diagnosis has no support in this input</a:t>
            </a:r>
          </a:p>
        </p:txBody>
      </p:sp>
    </p:spTree>
    <p:extLst>
      <p:ext uri="{BB962C8B-B14F-4D97-AF65-F5344CB8AC3E}">
        <p14:creationId xmlns:p14="http://schemas.microsoft.com/office/powerpoint/2010/main" val="1848013733"/>
      </p:ext>
    </p:extLst>
  </p:cSld>
</p:sld>
</file>

<file path=ppt/slides/slide2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34FB8AE-DC0D-4BE8-86D5-5D7EBCCDF95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Transfer across held-out conditions</a:t>
            </a:r>
          </a:p>
        </p:txBody>
      </p:sp>
      <p:sp>
        <p:nvSpPr>
          <p:cNvPr id="2" name="subtitle">
            <a:extLst xmlns:a="http://schemas.openxmlformats.org/drawingml/2006/main">
              <a:ext uri="{FF2B5EF4-FFF2-40B4-BE49-F238E27FC236}">
                <a16:creationId xmlns:a16="http://schemas.microsoft.com/office/drawing/2014/main" id="{FB3C368A-9702-4ACF-87AB-E671EBD2578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Complete 50-note partitions, primary full model and selected demo</a:t>
            </a:r>
          </a:p>
        </p:txBody>
      </p:sp>
      <p:sp>
        <p:nvSpPr>
          <p:cNvPr id="3" name="page-number">
            <a:extLst xmlns:a="http://schemas.openxmlformats.org/drawingml/2006/main">
              <a:ext uri="{FF2B5EF4-FFF2-40B4-BE49-F238E27FC236}">
                <a16:creationId xmlns:a16="http://schemas.microsoft.com/office/drawing/2014/main" id="{1D63BB8E-0AB3-4449-B348-D2864EE7048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24</a:t>
            </a:r>
          </a:p>
        </p:txBody>
      </p:sp>
      <p:graphicFrame>
        <p:nvGraphicFramePr>
          <p:cNvPr id="4" name="">
            <a:extLst xmlns:a="http://schemas.openxmlformats.org/drawingml/2006/main">
              <a:ext uri="{FF2B5EF4-FFF2-40B4-BE49-F238E27FC236}">
                <a16:creationId xmlns:a16="http://schemas.microsoft.com/office/drawing/2014/main" id="{3DDD2F15-A2ED-4351-9905-D28AC60BF52B}"/>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714750"/>
                <a:gridCol w="1714500"/>
                <a:gridCol w="1714500"/>
                <a:gridCol w="1838325"/>
                <a:gridCol w="1838325"/>
              </a:tblGrid>
              <a:tr h="742950">
                <a:tc>
                  <a:txBody>
                    <a:bodyPr/>
                    <a:lstStyle/>
                    <a:p>
                      <a:r>
                        <a:rPr sz="1650" b="1">
                          <a:solidFill>
                            <a:srgbClr val="F9F7F1"/>
                          </a:solidFill>
                          <a:latin typeface="Calibri"/>
                          <a:ea typeface="Calibri"/>
                          <a:cs typeface="Calibri"/>
                        </a:rPr>
                        <a:t>Condition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 42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Demo 7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 clinical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Demo clinical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Known names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47/50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49/50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44/44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Known names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26/67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New names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43/50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New names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30/53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21/53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6CA4CE81-4289-4BB2-AF87-6421AF074FFA}"/>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The five exact new-layout notes are no-identifier controls</a:t>
            </a:r>
          </a:p>
        </p:txBody>
      </p:sp>
    </p:spTree>
    <p:extLst>
      <p:ext uri="{BB962C8B-B14F-4D97-AF65-F5344CB8AC3E}">
        <p14:creationId xmlns:p14="http://schemas.microsoft.com/office/powerpoint/2010/main" val="465057941"/>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5106A485-1940-489A-9A3C-7DC5C141527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 5 and the experimental method</a:t>
            </a:r>
          </a:p>
        </p:txBody>
      </p:sp>
      <p:sp>
        <p:nvSpPr>
          <p:cNvPr id="2" name="subtitle">
            <a:extLst xmlns:a="http://schemas.openxmlformats.org/drawingml/2006/main">
              <a:ext uri="{FF2B5EF4-FFF2-40B4-BE49-F238E27FC236}">
                <a16:creationId xmlns:a16="http://schemas.microsoft.com/office/drawing/2014/main" id="{E04E7B35-24F4-4969-ABA6-9D312C69810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1971C600-BBBC-4C6C-AAF7-BCF2EC16325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A8D75E40-7D4D-485F-A925-1EF71A9C212B}"/>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 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EE3764F9-3BA9-4D2E-9704-55BCBC7F4C40}"/>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252701053"/>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0804D42-E7F0-4464-9B3A-0FFF0D74FE5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Live demonstration</a:t>
            </a:r>
          </a:p>
        </p:txBody>
      </p:sp>
      <p:sp>
        <p:nvSpPr>
          <p:cNvPr id="2" name="subtitle">
            <a:extLst xmlns:a="http://schemas.openxmlformats.org/drawingml/2006/main">
              <a:ext uri="{FF2B5EF4-FFF2-40B4-BE49-F238E27FC236}">
                <a16:creationId xmlns:a16="http://schemas.microsoft.com/office/drawing/2014/main" id="{437DB2CC-F497-4159-B4F1-A812E483B1D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Actual checkpoint outputs beside saved benchmark measurements</a:t>
            </a:r>
          </a:p>
        </p:txBody>
      </p:sp>
      <p:sp>
        <p:nvSpPr>
          <p:cNvPr id="3" name="page-number">
            <a:extLst xmlns:a="http://schemas.openxmlformats.org/drawingml/2006/main">
              <a:ext uri="{FF2B5EF4-FFF2-40B4-BE49-F238E27FC236}">
                <a16:creationId xmlns:a16="http://schemas.microsoft.com/office/drawing/2014/main" id="{14A755D4-52ED-4280-B630-67042B9956B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graphicFrame>
        <p:nvGraphicFramePr>
          <p:cNvPr id="4" name="">
            <a:extLst xmlns:a="http://schemas.openxmlformats.org/drawingml/2006/main">
              <a:ext uri="{FF2B5EF4-FFF2-40B4-BE49-F238E27FC236}">
                <a16:creationId xmlns:a16="http://schemas.microsoft.com/office/drawing/2014/main" id="{1F5CC94F-367D-4EC7-9022-CE2ECF8C3165}"/>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667000"/>
                <a:gridCol w="4667250"/>
                <a:gridCol w="3486150"/>
              </a:tblGrid>
              <a:tr h="742950">
                <a:tc>
                  <a:txBody>
                    <a:bodyPr/>
                    <a:lstStyle/>
                    <a:p>
                      <a:r>
                        <a:rPr sz="1650" b="1">
                          <a:solidFill>
                            <a:srgbClr val="F9F7F1"/>
                          </a:solidFill>
                          <a:latin typeface="Calibri"/>
                          <a:ea typeface="Calibri"/>
                          <a:cs typeface="Calibri"/>
                        </a:rPr>
                        <a:t>View</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Interpretation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Select final_seed7/transformer_2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Demonstrate authored cases and token trace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PHONE note at primary 42 and demo 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Retain the primary failure and both labels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Inspect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Select task_tokens/transformer_2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Conditional routing and seed 42 intervention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Compare components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Read final curves, seed ranges and partitions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State supports and checkpoint policy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842632312"/>
      </p:ext>
    </p:extLst>
  </p:cSld>
</p:sld>
</file>

<file path=ppt/slides/slide27.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A4C3919E-FF5A-4171-AFDE-A38626D3819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the experiments taught us</a:t>
            </a:r>
          </a:p>
        </p:txBody>
      </p:sp>
      <p:sp>
        <p:nvSpPr>
          <p:cNvPr id="2" name="subtitle">
            <a:extLst xmlns:a="http://schemas.openxmlformats.org/drawingml/2006/main">
              <a:ext uri="{FF2B5EF4-FFF2-40B4-BE49-F238E27FC236}">
                <a16:creationId xmlns:a16="http://schemas.microsoft.com/office/drawing/2014/main" id="{2A3A6AE1-F076-4A07-A375-52E5CB843E0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ADA51843-8D6C-4CA1-829C-F4222A8738C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27</a:t>
            </a:r>
          </a:p>
        </p:txBody>
      </p:sp>
      <p:sp>
        <p:nvSpPr>
          <p:cNvPr id="4" name="body">
            <a:extLst xmlns:a="http://schemas.openxmlformats.org/drawingml/2006/main">
              <a:ext uri="{FF2B5EF4-FFF2-40B4-BE49-F238E27FC236}">
                <a16:creationId xmlns:a16="http://schemas.microsoft.com/office/drawing/2014/main" id="{64CCECF4-1B8C-4879-9F2B-E95F4C27D50D}"/>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Representation</a:t>
            </a:r>
          </a:p>
        </p:txBody>
      </p:sp>
      <p:sp>
        <p:nvSpPr>
          <p:cNvPr id="5" name="body">
            <a:extLst xmlns:a="http://schemas.openxmlformats.org/drawingml/2006/main">
              <a:ext uri="{FF2B5EF4-FFF2-40B4-BE49-F238E27FC236}">
                <a16:creationId xmlns:a16="http://schemas.microsoft.com/office/drawing/2014/main" id="{A972312B-C322-46CC-8614-9A176F0514A7}"/>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Tokens must preserve the information the task needs</a:t>
            </a:r>
          </a:p>
        </p:txBody>
      </p:sp>
      <p:sp>
        <p:nvSpPr>
          <p:cNvPr id="6" name="body">
            <a:extLst xmlns:a="http://schemas.openxmlformats.org/drawingml/2006/main">
              <a:ext uri="{FF2B5EF4-FFF2-40B4-BE49-F238E27FC236}">
                <a16:creationId xmlns:a16="http://schemas.microsoft.com/office/drawing/2014/main" id="{56EBD3FE-B096-41DC-8F16-8EBF114D44E6}"/>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Optimization</a:t>
            </a:r>
          </a:p>
        </p:txBody>
      </p:sp>
      <p:sp>
        <p:nvSpPr>
          <p:cNvPr id="7" name="body">
            <a:extLst xmlns:a="http://schemas.openxmlformats.org/drawingml/2006/main">
              <a:ext uri="{FF2B5EF4-FFF2-40B4-BE49-F238E27FC236}">
                <a16:creationId xmlns:a16="http://schemas.microsoft.com/office/drawing/2014/main" id="{AEB9B568-00EA-4394-B9D2-76FF34847015}"/>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Small losses and correct generated notes can disagree</a:t>
            </a:r>
          </a:p>
        </p:txBody>
      </p:sp>
      <p:sp>
        <p:nvSpPr>
          <p:cNvPr id="8" name="body">
            <a:extLst xmlns:a="http://schemas.openxmlformats.org/drawingml/2006/main">
              <a:ext uri="{FF2B5EF4-FFF2-40B4-BE49-F238E27FC236}">
                <a16:creationId xmlns:a16="http://schemas.microsoft.com/office/drawing/2014/main" id="{5863BF3A-9B31-4922-9AC1-39A91D40AC03}"/>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Interpretation</a:t>
            </a:r>
          </a:p>
        </p:txBody>
      </p:sp>
      <p:sp>
        <p:nvSpPr>
          <p:cNvPr id="9" name="body">
            <a:extLst xmlns:a="http://schemas.openxmlformats.org/drawingml/2006/main">
              <a:ext uri="{FF2B5EF4-FFF2-40B4-BE49-F238E27FC236}">
                <a16:creationId xmlns:a16="http://schemas.microsoft.com/office/drawing/2014/main" id="{4C8C559F-2B99-4808-9FD6-5DA36944AFB1}"/>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Architecture claims need measured scope and failure cases</a:t>
            </a:r>
          </a:p>
        </p:txBody>
      </p:sp>
      <p:sp>
        <p:nvSpPr>
          <p:cNvPr id="10" name="body">
            <a:extLst xmlns:a="http://schemas.openxmlformats.org/drawingml/2006/main">
              <a:ext uri="{FF2B5EF4-FFF2-40B4-BE49-F238E27FC236}">
                <a16:creationId xmlns:a16="http://schemas.microsoft.com/office/drawing/2014/main" id="{CDEB5729-5AE3-42FD-AC3B-BFFF4A11D070}"/>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The result includes the mechanism, measured behavior and its limits</a:t>
            </a:r>
          </a:p>
        </p:txBody>
      </p:sp>
    </p:spTree>
    <p:extLst>
      <p:ext uri="{BB962C8B-B14F-4D97-AF65-F5344CB8AC3E}">
        <p14:creationId xmlns:p14="http://schemas.microsoft.com/office/powerpoint/2010/main" val="719151898"/>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DA3C6A3-6CF5-4932-B4BB-3AAB9BEE877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Further validation and learning</a:t>
            </a:r>
          </a:p>
        </p:txBody>
      </p:sp>
      <p:sp>
        <p:nvSpPr>
          <p:cNvPr id="2" name="subtitle">
            <a:extLst xmlns:a="http://schemas.openxmlformats.org/drawingml/2006/main">
              <a:ext uri="{FF2B5EF4-FFF2-40B4-BE49-F238E27FC236}">
                <a16:creationId xmlns:a16="http://schemas.microsoft.com/office/drawing/2014/main" id="{A8339339-B2E3-4742-B9FB-3CA22D332AE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Prepared engineering and remaining human steps</a:t>
            </a:r>
          </a:p>
        </p:txBody>
      </p:sp>
      <p:sp>
        <p:nvSpPr>
          <p:cNvPr id="3" name="page-number">
            <a:extLst xmlns:a="http://schemas.openxmlformats.org/drawingml/2006/main">
              <a:ext uri="{FF2B5EF4-FFF2-40B4-BE49-F238E27FC236}">
                <a16:creationId xmlns:a16="http://schemas.microsoft.com/office/drawing/2014/main" id="{6FB76A47-DFEA-442D-928A-4F54E7B50D5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C22672ED-6C9F-4675-B4DF-7284F446BBD4}"/>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476500"/>
                <a:gridCol w="4286250"/>
                <a:gridCol w="4057650"/>
              </a:tblGrid>
              <a:tr h="742950">
                <a:tc>
                  <a:txBody>
                    <a:bodyPr/>
                    <a:lstStyle/>
                    <a:p>
                      <a:r>
                        <a:rPr sz="1650" b="1">
                          <a:solidFill>
                            <a:srgbClr val="F9F7F1"/>
                          </a:solidFill>
                          <a:latin typeface="Calibri"/>
                          <a:ea typeface="Calibri"/>
                          <a:cs typeface="Calibri"/>
                        </a:rPr>
                        <a:t>Area</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Available now</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evidence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Local execution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Real checkpoints and a Gradio interface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Timed team rehearsal and individual trace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Cloud training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Guided notebook with source/data hashes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GPU allocation, runtime recovery and CPU compare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Model behavior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Development and frozen final measurements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More varied synthetic sources and careful error analysis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Later exercises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Scaffolding and fine-tuning are separate work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Choose the method from the task and evidence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96654848"/>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855DF29-0E83-440F-A5E4-0A54BB37AC0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11E1E191-C178-44F1-B98B-BF9ECDBD296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7B655C07-93FE-44E1-A466-A8BAA2C9178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graphicFrame>
        <p:nvGraphicFramePr>
          <p:cNvPr id="4" name="">
            <a:extLst xmlns:a="http://schemas.openxmlformats.org/drawingml/2006/main">
              <a:ext uri="{FF2B5EF4-FFF2-40B4-BE49-F238E27FC236}">
                <a16:creationId xmlns:a16="http://schemas.microsoft.com/office/drawing/2014/main" id="{1AC0C90B-28BE-45A1-8864-520C5C3F44DF}"/>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415561194"/>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7AB01C69-C37E-4382-94EC-9D3101E9571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1E47D5F3-D821-461C-97A3-B69C62E5650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680075B1-296E-47F4-9C58-B865B005E7B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sp>
        <p:nvSpPr>
          <p:cNvPr id="4" name="body">
            <a:extLst xmlns:a="http://schemas.openxmlformats.org/drawingml/2006/main">
              <a:ext uri="{FF2B5EF4-FFF2-40B4-BE49-F238E27FC236}">
                <a16:creationId xmlns:a16="http://schemas.microsoft.com/office/drawing/2014/main" id="{341E6247-BBAF-4C67-B240-41D0672F41EC}"/>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D1937737-5AAE-4A02-A85E-A9A149E5CB0B}"/>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DDBF2497-F11B-4308-8D24-FDDE07F8FCEF}"/>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3E8EEEA4-D4BF-441A-8337-C7C4C2113357}"/>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8C60C50E-3F27-4572-9038-18F5E8B91CB7}"/>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3FE7B677-68AF-4FA7-8F00-373DBBE652EC}"/>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D24DDAD1-A098-41A7-862D-7899E5C70D0E}"/>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E3111B83-15CD-4745-8B27-A96111BE7C25}"/>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DAC12444-1D09-4E41-9CEF-E56E2420B348}"/>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2FB0D101-AED9-4F5F-B1D3-EEB9B81EC603}"/>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9771710"/>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63A4D3E0-F93B-426C-8938-F44D0372E66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E4526862-5249-4816-BEC7-024A63DC4A0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Excerpt under the final task-piece tokenizer</a:t>
            </a:r>
          </a:p>
        </p:txBody>
      </p:sp>
      <p:sp>
        <p:nvSpPr>
          <p:cNvPr id="3" name="page-number">
            <a:extLst xmlns:a="http://schemas.openxmlformats.org/drawingml/2006/main">
              <a:ext uri="{FF2B5EF4-FFF2-40B4-BE49-F238E27FC236}">
                <a16:creationId xmlns:a16="http://schemas.microsoft.com/office/drawing/2014/main" id="{55FD889F-41AB-4F2B-A8E0-FCCD07B275B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graphicFrame>
        <p:nvGraphicFramePr>
          <p:cNvPr id="4" name="">
            <a:extLst xmlns:a="http://schemas.openxmlformats.org/drawingml/2006/main">
              <a:ext uri="{FF2B5EF4-FFF2-40B4-BE49-F238E27FC236}">
                <a16:creationId xmlns:a16="http://schemas.microsoft.com/office/drawing/2014/main" id="{254E6318-F383-486A-B775-DBF0BE850504}"/>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476500"/>
                <a:gridCol w="1476375"/>
                <a:gridCol w="4010025"/>
              </a:tblGrid>
              <a:tr h="571500">
                <a:tc>
                  <a:txBody>
                    <a:bodyPr/>
                    <a:lstStyle/>
                    <a:p>
                      <a:r>
                        <a:rPr sz="1650" b="1">
                          <a:solidFill>
                            <a:srgbClr val="F9F7F1"/>
                          </a:solidFill>
                          <a:latin typeface="Calibri"/>
                          <a:ea typeface="Calibri"/>
                          <a:cs typeface="Calibri"/>
                        </a:rPr>
                        <a:t>Input token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prediction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source token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Protocol boundary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token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space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Next output token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output token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-100(ignore)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Batch filler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512333188"/>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14A6AC9-AE16-4D4E-9593-F0E0DF302D4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measured parameter count</a:t>
            </a:r>
          </a:p>
        </p:txBody>
      </p:sp>
      <p:sp>
        <p:nvSpPr>
          <p:cNvPr id="2" name="subtitle">
            <a:extLst xmlns:a="http://schemas.openxmlformats.org/drawingml/2006/main">
              <a:ext uri="{FF2B5EF4-FFF2-40B4-BE49-F238E27FC236}">
                <a16:creationId xmlns:a16="http://schemas.microsoft.com/office/drawing/2014/main" id="{729E1B8C-C502-41ED-950B-21EDB23F991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vocabulary 146, width 64, FFN 192, context 256</a:t>
            </a:r>
          </a:p>
        </p:txBody>
      </p:sp>
      <p:sp>
        <p:nvSpPr>
          <p:cNvPr id="3" name="page-number">
            <a:extLst xmlns:a="http://schemas.openxmlformats.org/drawingml/2006/main">
              <a:ext uri="{FF2B5EF4-FFF2-40B4-BE49-F238E27FC236}">
                <a16:creationId xmlns:a16="http://schemas.microsoft.com/office/drawing/2014/main" id="{0F7C6887-790C-4DE3-8E65-8B4B3380C9B3}"/>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graphicFrame>
        <p:nvGraphicFramePr>
          <p:cNvPr id="4" name="">
            <a:extLst xmlns:a="http://schemas.openxmlformats.org/drawingml/2006/main">
              <a:ext uri="{FF2B5EF4-FFF2-40B4-BE49-F238E27FC236}">
                <a16:creationId xmlns:a16="http://schemas.microsoft.com/office/drawing/2014/main" id="{F41C3F46-9181-4274-B55F-90089E89E09B}"/>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3286125"/>
                <a:gridCol w="5524500"/>
                <a:gridCol w="2009775"/>
              </a:tblGrid>
              <a:tr h="504825">
                <a:tc>
                  <a:txBody>
                    <a:bodyPr/>
                    <a:lstStyle/>
                    <a:p>
                      <a:r>
                        <a:rPr sz="1650" b="1">
                          <a:solidFill>
                            <a:srgbClr val="F9F7F1"/>
                          </a:solidFill>
                          <a:latin typeface="Calibri"/>
                          <a:ea typeface="Calibri"/>
                          <a:cs typeface="Calibri"/>
                        </a:rPr>
                        <a:t>Component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Token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146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9,344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Position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256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16,384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×4 ×(64²+64)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33,280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FFNs, 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×(2 ×64 ×192+192+64)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49,664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All norms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 ×(64+64)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 ×146+146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9,490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Total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Sum of six components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843531217"/>
      </p:ext>
    </p:extLst>
  </p:cSld>
</p:sld>
</file>

<file path=ppt/slides/slide3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ED8074B3-348A-4832-BFFC-8807EC6CC05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837675D8-61B9-44F3-B6C7-2AA532D04995}"/>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F02D8FF3-BF11-436A-A332-AB0B74A7BD3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33</a:t>
            </a:r>
          </a:p>
        </p:txBody>
      </p:sp>
      <p:sp>
        <p:nvSpPr>
          <p:cNvPr id="4" name="body">
            <a:extLst xmlns:a="http://schemas.openxmlformats.org/drawingml/2006/main">
              <a:ext uri="{FF2B5EF4-FFF2-40B4-BE49-F238E27FC236}">
                <a16:creationId xmlns:a16="http://schemas.microsoft.com/office/drawing/2014/main" id="{4C94709F-9533-4EC6-BD7A-5233F80A9B30}"/>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8AB2A173-E29D-499E-A59A-700E22DE547E}"/>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1340943694"/>
      </p:ext>
    </p:extLst>
  </p:cSld>
</p:sld>
</file>

<file path=ppt/slides/slide3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3FB8350-BBF9-4651-B6A1-0B241D9EA6E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generalization conditions</a:t>
            </a:r>
          </a:p>
        </p:txBody>
      </p:sp>
      <p:sp>
        <p:nvSpPr>
          <p:cNvPr id="2" name="subtitle">
            <a:extLst xmlns:a="http://schemas.openxmlformats.org/drawingml/2006/main">
              <a:ext uri="{FF2B5EF4-FFF2-40B4-BE49-F238E27FC236}">
                <a16:creationId xmlns:a16="http://schemas.microsoft.com/office/drawing/2014/main" id="{BE011867-A38C-4279-A120-1F9D068291E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Final partitions are separate from validation-only diagnostics</a:t>
            </a:r>
          </a:p>
        </p:txBody>
      </p:sp>
      <p:sp>
        <p:nvSpPr>
          <p:cNvPr id="3" name="page-number">
            <a:extLst xmlns:a="http://schemas.openxmlformats.org/drawingml/2006/main">
              <a:ext uri="{FF2B5EF4-FFF2-40B4-BE49-F238E27FC236}">
                <a16:creationId xmlns:a16="http://schemas.microsoft.com/office/drawing/2014/main" id="{23A49F7A-D095-4AAE-8716-044D040F9B3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34</a:t>
            </a:r>
          </a:p>
        </p:txBody>
      </p:sp>
      <p:graphicFrame>
        <p:nvGraphicFramePr>
          <p:cNvPr id="4" name="">
            <a:extLst xmlns:a="http://schemas.openxmlformats.org/drawingml/2006/main">
              <a:ext uri="{FF2B5EF4-FFF2-40B4-BE49-F238E27FC236}">
                <a16:creationId xmlns:a16="http://schemas.microsoft.com/office/drawing/2014/main" id="{7C4D576F-078D-4558-9325-715EAD6F0E98}"/>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905250"/>
                <a:gridCol w="1714500"/>
                <a:gridCol w="5200650"/>
              </a:tblGrid>
              <a:tr h="650875">
                <a:tc>
                  <a:txBody>
                    <a:bodyPr/>
                    <a:lstStyle/>
                    <a:p>
                      <a:r>
                        <a:rPr sz="1650" b="1">
                          <a:solidFill>
                            <a:srgbClr val="F9F7F1"/>
                          </a:solidFill>
                          <a:latin typeface="Calibri"/>
                          <a:ea typeface="Calibri"/>
                          <a:cs typeface="Calibri"/>
                        </a:rPr>
                        <a:t>Partition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Known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combinations; familiar pools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final-name pool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Known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Final-only structural templates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Joint entity/layout transfer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Training / validation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 100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Validation includes its own novel conditions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077767546"/>
      </p:ext>
    </p:extLst>
  </p:cSld>
</p:sld>
</file>

<file path=ppt/slides/slide3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FF1E9E9E-5C53-4ED3-93DB-0899C18C0E0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266F0D46-3461-4CAF-8396-2EDE85A9B56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35</a:t>
            </a:r>
          </a:p>
        </p:txBody>
      </p:sp>
      <p:sp>
        <p:nvSpPr>
          <p:cNvPr id="3" name="body">
            <a:extLst xmlns:a="http://schemas.openxmlformats.org/drawingml/2006/main">
              <a:ext uri="{FF2B5EF4-FFF2-40B4-BE49-F238E27FC236}">
                <a16:creationId xmlns:a16="http://schemas.microsoft.com/office/drawing/2014/main" id="{2B641A3E-BBD4-48F1-8A9B-38CA644B0115}"/>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CC325D4B-6D45-49B8-BDA9-1BAA6CC78FA5}"/>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573AE01B-79CC-4B0E-B246-36B99B2F4490}"/>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B215C6E1-2525-48A8-BD60-5C778BA67977}"/>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0EB92A43-CADD-4AAE-A6C9-41C5F62C7D79}"/>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21069D5C-3139-486A-9CF5-230A868FA16E}"/>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the smaller model outperform a deeper one?</a:t>
            </a:r>
          </a:p>
        </p:txBody>
      </p:sp>
      <p:sp>
        <p:nvSpPr>
          <p:cNvPr id="9" name="body">
            <a:extLst xmlns:a="http://schemas.openxmlformats.org/drawingml/2006/main">
              <a:ext uri="{FF2B5EF4-FFF2-40B4-BE49-F238E27FC236}">
                <a16:creationId xmlns:a16="http://schemas.microsoft.com/office/drawing/2014/main" id="{B43F6E9A-7809-4BBF-8F14-C7A66C47D0B9}"/>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the 24 diagnostics differ from novel layouts?</a:t>
            </a:r>
          </a:p>
        </p:txBody>
      </p:sp>
      <p:sp>
        <p:nvSpPr>
          <p:cNvPr id="10" name="body">
            <a:extLst xmlns:a="http://schemas.openxmlformats.org/drawingml/2006/main">
              <a:ext uri="{FF2B5EF4-FFF2-40B4-BE49-F238E27FC236}">
                <a16:creationId xmlns:a16="http://schemas.microsoft.com/office/drawing/2014/main" id="{53D24BA5-E018-4818-AF61-CEDE8071877D}"/>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was the demo checkpoint selected?</a:t>
            </a:r>
          </a:p>
        </p:txBody>
      </p:sp>
      <p:sp>
        <p:nvSpPr>
          <p:cNvPr id="11" name="body">
            <a:extLst xmlns:a="http://schemas.openxmlformats.org/drawingml/2006/main">
              <a:ext uri="{FF2B5EF4-FFF2-40B4-BE49-F238E27FC236}">
                <a16:creationId xmlns:a16="http://schemas.microsoft.com/office/drawing/2014/main" id="{C0D283D6-7B8A-46C7-9AAB-E35782B2F08E}"/>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1069392224"/>
      </p:ext>
    </p:extLst>
  </p:cSld>
</p:sld>
</file>

<file path=ppt/slides/slide3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4E38AF71-1498-4383-BEB3-A9A5839C9A5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B4BABF1B-61C7-49CA-90FD-37522580486F}"/>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36</a:t>
            </a:r>
          </a:p>
        </p:txBody>
      </p:sp>
      <p:sp>
        <p:nvSpPr>
          <p:cNvPr id="3" name="body">
            <a:extLst xmlns:a="http://schemas.openxmlformats.org/drawingml/2006/main">
              <a:ext uri="{FF2B5EF4-FFF2-40B4-BE49-F238E27FC236}">
                <a16:creationId xmlns:a16="http://schemas.microsoft.com/office/drawing/2014/main" id="{D1060A75-ED73-4040-B043-6F2DC81DA471}"/>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Assignment</a:t>
            </a:r>
          </a:p>
        </p:txBody>
      </p:sp>
      <p:sp>
        <p:nvSpPr>
          <p:cNvPr id="4" name="body">
            <a:extLst xmlns:a="http://schemas.openxmlformats.org/drawingml/2006/main">
              <a:ext uri="{FF2B5EF4-FFF2-40B4-BE49-F238E27FC236}">
                <a16:creationId xmlns:a16="http://schemas.microsoft.com/office/drawing/2014/main" id="{5C9FF107-5E51-4675-91B9-B2B4854D91F4}"/>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and synthetic Mitra task</a:t>
            </a:r>
          </a:p>
        </p:txBody>
      </p:sp>
      <p:sp>
        <p:nvSpPr>
          <p:cNvPr id="5" name="body">
            <a:extLst xmlns:a="http://schemas.openxmlformats.org/drawingml/2006/main">
              <a:ext uri="{FF2B5EF4-FFF2-40B4-BE49-F238E27FC236}">
                <a16:creationId xmlns:a16="http://schemas.microsoft.com/office/drawing/2014/main" id="{2241714C-DDCC-41BC-8FBD-73AFF1736109}"/>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implementation</a:t>
            </a:r>
          </a:p>
        </p:txBody>
      </p:sp>
      <p:sp>
        <p:nvSpPr>
          <p:cNvPr id="6" name="body">
            <a:extLst xmlns:a="http://schemas.openxmlformats.org/drawingml/2006/main">
              <a:ext uri="{FF2B5EF4-FFF2-40B4-BE49-F238E27FC236}">
                <a16:creationId xmlns:a16="http://schemas.microsoft.com/office/drawing/2014/main" id="{8DDDBBCA-C11D-4400-969F-4BDBE44DBD29}"/>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Manual model, training, tokenizer and evaluation code</a:t>
            </a:r>
          </a:p>
        </p:txBody>
      </p:sp>
      <p:sp>
        <p:nvSpPr>
          <p:cNvPr id="7" name="body">
            <a:extLst xmlns:a="http://schemas.openxmlformats.org/drawingml/2006/main">
              <a:ext uri="{FF2B5EF4-FFF2-40B4-BE49-F238E27FC236}">
                <a16:creationId xmlns:a16="http://schemas.microsoft.com/office/drawing/2014/main" id="{1A3782BD-004A-4602-BF42-31032BDDC10D}"/>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Measured evidence</a:t>
            </a:r>
          </a:p>
        </p:txBody>
      </p:sp>
      <p:sp>
        <p:nvSpPr>
          <p:cNvPr id="8" name="body">
            <a:extLst xmlns:a="http://schemas.openxmlformats.org/drawingml/2006/main">
              <a:ext uri="{FF2B5EF4-FFF2-40B4-BE49-F238E27FC236}">
                <a16:creationId xmlns:a16="http://schemas.microsoft.com/office/drawing/2014/main" id="{9CD38F44-55C8-4E33-AC8A-C106F38C6DEC}"/>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Checkpoints, raw outputs, masks/resume tests and protocols</a:t>
            </a:r>
          </a:p>
        </p:txBody>
      </p:sp>
      <p:sp>
        <p:nvSpPr>
          <p:cNvPr id="9" name="body">
            <a:extLst xmlns:a="http://schemas.openxmlformats.org/drawingml/2006/main">
              <a:ext uri="{FF2B5EF4-FFF2-40B4-BE49-F238E27FC236}">
                <a16:creationId xmlns:a16="http://schemas.microsoft.com/office/drawing/2014/main" id="{3DF03F24-6B35-45FF-9E55-42DBA262F8C6}"/>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Prior experiment</a:t>
            </a:r>
          </a:p>
        </p:txBody>
      </p:sp>
      <p:sp>
        <p:nvSpPr>
          <p:cNvPr id="10" name="body">
            <a:extLst xmlns:a="http://schemas.openxmlformats.org/drawingml/2006/main">
              <a:ext uri="{FF2B5EF4-FFF2-40B4-BE49-F238E27FC236}">
                <a16:creationId xmlns:a16="http://schemas.microsoft.com/office/drawing/2014/main" id="{56E78A27-B3FE-41D7-9208-BEA413B91363}"/>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NumPy results; a separate task</a:t>
            </a:r>
          </a:p>
        </p:txBody>
      </p:sp>
      <p:sp>
        <p:nvSpPr>
          <p:cNvPr id="11" name="body">
            <a:extLst xmlns:a="http://schemas.openxmlformats.org/drawingml/2006/main">
              <a:ext uri="{FF2B5EF4-FFF2-40B4-BE49-F238E27FC236}">
                <a16:creationId xmlns:a16="http://schemas.microsoft.com/office/drawing/2014/main" id="{9E5A8762-266B-4101-9086-C7F63A762223}"/>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2" name="body">
            <a:extLst xmlns:a="http://schemas.openxmlformats.org/drawingml/2006/main">
              <a:ext uri="{FF2B5EF4-FFF2-40B4-BE49-F238E27FC236}">
                <a16:creationId xmlns:a16="http://schemas.microsoft.com/office/drawing/2014/main" id="{E582916A-E541-412E-A6AF-447CB3F98F72}"/>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Ba, Kiros and Hinton</a:t>
            </a:r>
          </a:p>
        </p:txBody>
      </p:sp>
      <p:sp>
        <p:nvSpPr>
          <p:cNvPr id="13" name="body">
            <a:extLst xmlns:a="http://schemas.openxmlformats.org/drawingml/2006/main">
              <a:ext uri="{FF2B5EF4-FFF2-40B4-BE49-F238E27FC236}">
                <a16:creationId xmlns:a16="http://schemas.microsoft.com/office/drawing/2014/main" id="{2B4FB196-3398-451D-971D-01CF27E678D3}"/>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Interpretation</a:t>
            </a:r>
          </a:p>
        </p:txBody>
      </p:sp>
      <p:sp>
        <p:nvSpPr>
          <p:cNvPr id="14" name="body">
            <a:extLst xmlns:a="http://schemas.openxmlformats.org/drawingml/2006/main">
              <a:ext uri="{FF2B5EF4-FFF2-40B4-BE49-F238E27FC236}">
                <a16:creationId xmlns:a16="http://schemas.microsoft.com/office/drawing/2014/main" id="{27931D27-5D43-4BBF-B086-7EE8A7E0830C}"/>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Attention routing, interventions and bounded claims</a:t>
            </a:r>
          </a:p>
        </p:txBody>
      </p:sp>
      <p:sp>
        <p:nvSpPr>
          <p:cNvPr id="15" name="body">
            <a:extLst xmlns:a="http://schemas.openxmlformats.org/drawingml/2006/main">
              <a:ext uri="{FF2B5EF4-FFF2-40B4-BE49-F238E27FC236}">
                <a16:creationId xmlns:a16="http://schemas.microsoft.com/office/drawing/2014/main" id="{C37BFC4A-4116-4ECD-B610-80425F923279}"/>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1212041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2026-10-18T00:11:18.6240000Z</dcterms:created>
  <dcterms:modified xsi:type="dcterms:W3CDTF">2026-10-18T00:11:18.6240000Z</dcterms:modified>
</coreProperties>
</file>