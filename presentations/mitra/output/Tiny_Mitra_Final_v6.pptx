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becce1d5b9f4a0f" /><Relationship Type="http://schemas.openxmlformats.org/officeDocument/2006/relationships/extended-properties" Target="/docProps/app.xml" Id="R72713bad9c0b4f71" /><Relationship Type="http://schemas.openxmlformats.org/officeDocument/2006/relationships/officeDocument" Target="/ppt/presentation.xml" Id="R408dd2e345734e74" /></Relationships>
</file>

<file path=ppt/presentation.xml><?xml version="1.0" encoding="utf-8"?>
<p:presentation xmlns:p="http://schemas.openxmlformats.org/presentationml/2006/main">
  <p:sldMasterIdLst>
    <p:sldMasterId xmlns:r="http://schemas.openxmlformats.org/officeDocument/2006/relationships" id="2147483648" r:id="R99fdd24554c0433d"/>
  </p:sldMasterIdLst>
  <p:notesMasterIdLst>
    <p:notesMasterId xmlns:r="http://schemas.openxmlformats.org/officeDocument/2006/relationships" r:id="R406b45cf82ca44d0"/>
  </p:notesMasterIdLst>
  <p:sldIdLst>
    <p:sldId xmlns:r="http://schemas.openxmlformats.org/officeDocument/2006/relationships" id="256" r:id="Rfd471d6a6ce24a1b"/>
    <p:sldId xmlns:r="http://schemas.openxmlformats.org/officeDocument/2006/relationships" id="257" r:id="R49181be115fc4da8"/>
    <p:sldId xmlns:r="http://schemas.openxmlformats.org/officeDocument/2006/relationships" id="258" r:id="Rea44070929be4233"/>
    <p:sldId xmlns:r="http://schemas.openxmlformats.org/officeDocument/2006/relationships" id="259" r:id="R86c0d6a557bc455c"/>
    <p:sldId xmlns:r="http://schemas.openxmlformats.org/officeDocument/2006/relationships" id="260" r:id="Read728f08e8d4f5b"/>
    <p:sldId xmlns:r="http://schemas.openxmlformats.org/officeDocument/2006/relationships" id="261" r:id="Re8a6daa3f45d49f7"/>
    <p:sldId xmlns:r="http://schemas.openxmlformats.org/officeDocument/2006/relationships" id="262" r:id="R8b4a497d6fe04534"/>
    <p:sldId xmlns:r="http://schemas.openxmlformats.org/officeDocument/2006/relationships" id="263" r:id="Rbad0b436c41d450a"/>
    <p:sldId xmlns:r="http://schemas.openxmlformats.org/officeDocument/2006/relationships" id="264" r:id="R9f96a7294b634add"/>
    <p:sldId xmlns:r="http://schemas.openxmlformats.org/officeDocument/2006/relationships" id="265" r:id="R48081e3f632c42b9"/>
    <p:sldId xmlns:r="http://schemas.openxmlformats.org/officeDocument/2006/relationships" id="266" r:id="R84242cbdf42146ba"/>
    <p:sldId xmlns:r="http://schemas.openxmlformats.org/officeDocument/2006/relationships" id="267" r:id="Rb04214f9f24d4456"/>
    <p:sldId xmlns:r="http://schemas.openxmlformats.org/officeDocument/2006/relationships" id="268" r:id="R90398fd836404969"/>
    <p:sldId xmlns:r="http://schemas.openxmlformats.org/officeDocument/2006/relationships" id="269" r:id="Rc54b1216de74453f"/>
    <p:sldId xmlns:r="http://schemas.openxmlformats.org/officeDocument/2006/relationships" id="270" r:id="R700b2c6f51954672"/>
    <p:sldId xmlns:r="http://schemas.openxmlformats.org/officeDocument/2006/relationships" id="271" r:id="Rdf28f074e60a438e"/>
    <p:sldId xmlns:r="http://schemas.openxmlformats.org/officeDocument/2006/relationships" id="272" r:id="Rf7572f2717684727"/>
    <p:sldId xmlns:r="http://schemas.openxmlformats.org/officeDocument/2006/relationships" id="273" r:id="Ra6e512cec93e4f4a"/>
    <p:sldId xmlns:r="http://schemas.openxmlformats.org/officeDocument/2006/relationships" id="274" r:id="R71e9f9657aa84ec1"/>
    <p:sldId xmlns:r="http://schemas.openxmlformats.org/officeDocument/2006/relationships" id="275" r:id="R2a8eaa54894e4934"/>
    <p:sldId xmlns:r="http://schemas.openxmlformats.org/officeDocument/2006/relationships" id="276" r:id="R0dadda38dcf5425c"/>
    <p:sldId xmlns:r="http://schemas.openxmlformats.org/officeDocument/2006/relationships" id="277" r:id="Ra3b1c88350c3443a"/>
    <p:sldId xmlns:r="http://schemas.openxmlformats.org/officeDocument/2006/relationships" id="278" r:id="Ree1dddbdd174463f"/>
    <p:sldId xmlns:r="http://schemas.openxmlformats.org/officeDocument/2006/relationships" id="279" r:id="R67187d22577c41b3"/>
    <p:sldId xmlns:r="http://schemas.openxmlformats.org/officeDocument/2006/relationships" id="280" r:id="R2de2a07a960e4972"/>
    <p:sldId xmlns:r="http://schemas.openxmlformats.org/officeDocument/2006/relationships" id="281" r:id="R2cbfc7931f6b47a4"/>
    <p:sldId xmlns:r="http://schemas.openxmlformats.org/officeDocument/2006/relationships" id="282" r:id="R6bcd57095fac4108"/>
    <p:sldId xmlns:r="http://schemas.openxmlformats.org/officeDocument/2006/relationships" id="283" r:id="R566e1f2a04a34fcb"/>
    <p:sldId xmlns:r="http://schemas.openxmlformats.org/officeDocument/2006/relationships" id="284" r:id="R844804ed4bc94ef6"/>
    <p:sldId xmlns:r="http://schemas.openxmlformats.org/officeDocument/2006/relationships" id="285" r:id="R3217952f8f004adc"/>
    <p:sldId xmlns:r="http://schemas.openxmlformats.org/officeDocument/2006/relationships" id="286" r:id="Rcbb2874045964cc3"/>
    <p:sldId xmlns:r="http://schemas.openxmlformats.org/officeDocument/2006/relationships" id="287" r:id="Ref938bb6a7564bd1"/>
    <p:sldId xmlns:r="http://schemas.openxmlformats.org/officeDocument/2006/relationships" id="288" r:id="R6f14acaaf62941f4"/>
    <p:sldId xmlns:r="http://schemas.openxmlformats.org/officeDocument/2006/relationships" id="289" r:id="Rb92efd33dffc48e7"/>
    <p:sldId xmlns:r="http://schemas.openxmlformats.org/officeDocument/2006/relationships" id="290" r:id="R923a7b1f7e6d429d"/>
    <p:sldId xmlns:r="http://schemas.openxmlformats.org/officeDocument/2006/relationships" id="291" r:id="Rb1864941c5c745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5b4a46d42e4325" /><Relationship Type="http://schemas.openxmlformats.org/officeDocument/2006/relationships/slideMaster" Target="/ppt/slideMasters/slideMaster1.xml" Id="R99fdd24554c0433d" /><Relationship Type="http://schemas.openxmlformats.org/officeDocument/2006/relationships/notesMaster" Target="/ppt/notesMasters/notesMaster1.xml" Id="R406b45cf82ca44d0" /><Relationship Type="http://schemas.openxmlformats.org/officeDocument/2006/relationships/presProps" Target="/ppt/presProps.xml" Id="Rcaf465279003428c" /><Relationship Type="http://schemas.openxmlformats.org/officeDocument/2006/relationships/tableStyles" Target="/ppt/tableStyles.xml" Id="Rbf5eb950800f48b9" /><Relationship Type="http://schemas.openxmlformats.org/officeDocument/2006/relationships/slide" Target="/ppt/slides/slide1.xml" Id="Rfd471d6a6ce24a1b" /><Relationship Type="http://schemas.openxmlformats.org/officeDocument/2006/relationships/slide" Target="/ppt/slides/slide2.xml" Id="R49181be115fc4da8" /><Relationship Type="http://schemas.openxmlformats.org/officeDocument/2006/relationships/slide" Target="/ppt/slides/slide3.xml" Id="Rea44070929be4233" /><Relationship Type="http://schemas.openxmlformats.org/officeDocument/2006/relationships/slide" Target="/ppt/slides/slide4.xml" Id="R86c0d6a557bc455c" /><Relationship Type="http://schemas.openxmlformats.org/officeDocument/2006/relationships/slide" Target="/ppt/slides/slide5.xml" Id="Read728f08e8d4f5b" /><Relationship Type="http://schemas.openxmlformats.org/officeDocument/2006/relationships/slide" Target="/ppt/slides/slide6.xml" Id="Re8a6daa3f45d49f7" /><Relationship Type="http://schemas.openxmlformats.org/officeDocument/2006/relationships/slide" Target="/ppt/slides/slide7.xml" Id="R8b4a497d6fe04534" /><Relationship Type="http://schemas.openxmlformats.org/officeDocument/2006/relationships/slide" Target="/ppt/slides/slide8.xml" Id="Rbad0b436c41d450a" /><Relationship Type="http://schemas.openxmlformats.org/officeDocument/2006/relationships/slide" Target="/ppt/slides/slide9.xml" Id="R9f96a7294b634add" /><Relationship Type="http://schemas.openxmlformats.org/officeDocument/2006/relationships/slide" Target="/ppt/slides/slide10.xml" Id="R48081e3f632c42b9" /><Relationship Type="http://schemas.openxmlformats.org/officeDocument/2006/relationships/slide" Target="/ppt/slides/slide11.xml" Id="R84242cbdf42146ba" /><Relationship Type="http://schemas.openxmlformats.org/officeDocument/2006/relationships/slide" Target="/ppt/slides/slide12.xml" Id="Rb04214f9f24d4456" /><Relationship Type="http://schemas.openxmlformats.org/officeDocument/2006/relationships/slide" Target="/ppt/slides/slide13.xml" Id="R90398fd836404969" /><Relationship Type="http://schemas.openxmlformats.org/officeDocument/2006/relationships/slide" Target="/ppt/slides/slide14.xml" Id="Rc54b1216de74453f" /><Relationship Type="http://schemas.openxmlformats.org/officeDocument/2006/relationships/slide" Target="/ppt/slides/slide15.xml" Id="R700b2c6f51954672" /><Relationship Type="http://schemas.openxmlformats.org/officeDocument/2006/relationships/slide" Target="/ppt/slides/slide16.xml" Id="Rdf28f074e60a438e" /><Relationship Type="http://schemas.openxmlformats.org/officeDocument/2006/relationships/slide" Target="/ppt/slides/slide17.xml" Id="Rf7572f2717684727" /><Relationship Type="http://schemas.openxmlformats.org/officeDocument/2006/relationships/slide" Target="/ppt/slides/slide18.xml" Id="Ra6e512cec93e4f4a" /><Relationship Type="http://schemas.openxmlformats.org/officeDocument/2006/relationships/slide" Target="/ppt/slides/slide19.xml" Id="R71e9f9657aa84ec1" /><Relationship Type="http://schemas.openxmlformats.org/officeDocument/2006/relationships/slide" Target="/ppt/slides/slide20.xml" Id="R2a8eaa54894e4934" /><Relationship Type="http://schemas.openxmlformats.org/officeDocument/2006/relationships/slide" Target="/ppt/slides/slide21.xml" Id="R0dadda38dcf5425c" /><Relationship Type="http://schemas.openxmlformats.org/officeDocument/2006/relationships/slide" Target="/ppt/slides/slide22.xml" Id="Ra3b1c88350c3443a" /><Relationship Type="http://schemas.openxmlformats.org/officeDocument/2006/relationships/slide" Target="/ppt/slides/slide23.xml" Id="Ree1dddbdd174463f" /><Relationship Type="http://schemas.openxmlformats.org/officeDocument/2006/relationships/slide" Target="/ppt/slides/slide24.xml" Id="R67187d22577c41b3" /><Relationship Type="http://schemas.openxmlformats.org/officeDocument/2006/relationships/slide" Target="/ppt/slides/slide25.xml" Id="R2de2a07a960e4972" /><Relationship Type="http://schemas.openxmlformats.org/officeDocument/2006/relationships/slide" Target="/ppt/slides/slide26.xml" Id="R2cbfc7931f6b47a4" /><Relationship Type="http://schemas.openxmlformats.org/officeDocument/2006/relationships/slide" Target="/ppt/slides/slide27.xml" Id="R6bcd57095fac4108" /><Relationship Type="http://schemas.openxmlformats.org/officeDocument/2006/relationships/slide" Target="/ppt/slides/slide28.xml" Id="R566e1f2a04a34fcb" /><Relationship Type="http://schemas.openxmlformats.org/officeDocument/2006/relationships/slide" Target="/ppt/slides/slide29.xml" Id="R844804ed4bc94ef6" /><Relationship Type="http://schemas.openxmlformats.org/officeDocument/2006/relationships/slide" Target="/ppt/slides/slide30.xml" Id="R3217952f8f004adc" /><Relationship Type="http://schemas.openxmlformats.org/officeDocument/2006/relationships/slide" Target="/ppt/slides/slide31.xml" Id="Rcbb2874045964cc3" /><Relationship Type="http://schemas.openxmlformats.org/officeDocument/2006/relationships/slide" Target="/ppt/slides/slide32.xml" Id="Ref938bb6a7564bd1" /><Relationship Type="http://schemas.openxmlformats.org/officeDocument/2006/relationships/slide" Target="/ppt/slides/slide33.xml" Id="R6f14acaaf62941f4" /><Relationship Type="http://schemas.openxmlformats.org/officeDocument/2006/relationships/slide" Target="/ppt/slides/slide34.xml" Id="Rb92efd33dffc48e7" /><Relationship Type="http://schemas.openxmlformats.org/officeDocument/2006/relationships/slide" Target="/ppt/slides/slide35.xml" Id="R923a7b1f7e6d429d" /><Relationship Type="http://schemas.openxmlformats.org/officeDocument/2006/relationships/slide" Target="/ppt/slides/slide36.xml" Id="Rb1864941c5c745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05a2ed7ddd42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f5421d2567475d" /><Relationship Type="http://schemas.openxmlformats.org/officeDocument/2006/relationships/notesMaster" Target="/ppt/notesMasters/notesMaster1.xml" Id="R78107f9f487c4f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704db785924db5" /><Relationship Type="http://schemas.openxmlformats.org/officeDocument/2006/relationships/notesMaster" Target="/ppt/notesMasters/notesMaster1.xml" Id="R0e1d82ea6f1946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bb086142a14959" /><Relationship Type="http://schemas.openxmlformats.org/officeDocument/2006/relationships/notesMaster" Target="/ppt/notesMasters/notesMaster1.xml" Id="R05482f659f0b4d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b611dabe5b4c77" /><Relationship Type="http://schemas.openxmlformats.org/officeDocument/2006/relationships/notesMaster" Target="/ppt/notesMasters/notesMaster1.xml" Id="R97e123292cb648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d5e177ac604109" /><Relationship Type="http://schemas.openxmlformats.org/officeDocument/2006/relationships/notesMaster" Target="/ppt/notesMasters/notesMaster1.xml" Id="Rff9a27af4ca54a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ae472a5c1e47dd" /><Relationship Type="http://schemas.openxmlformats.org/officeDocument/2006/relationships/notesMaster" Target="/ppt/notesMasters/notesMaster1.xml" Id="Ra4ce7dfed0954a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03d7c8a1b74442" /><Relationship Type="http://schemas.openxmlformats.org/officeDocument/2006/relationships/notesMaster" Target="/ppt/notesMasters/notesMaster1.xml" Id="R5d8d1bbd41e14f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46bea1c8ed4da6" /><Relationship Type="http://schemas.openxmlformats.org/officeDocument/2006/relationships/notesMaster" Target="/ppt/notesMasters/notesMaster1.xml" Id="R7c4c9b88dfad45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268285ee8845d4" /><Relationship Type="http://schemas.openxmlformats.org/officeDocument/2006/relationships/notesMaster" Target="/ppt/notesMasters/notesMaster1.xml" Id="R3dac4bc5ff164e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174f7c3667432f" /><Relationship Type="http://schemas.openxmlformats.org/officeDocument/2006/relationships/notesMaster" Target="/ppt/notesMasters/notesMaster1.xml" Id="Rfc53262e221b4d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1dd53455af34e03" /><Relationship Type="http://schemas.openxmlformats.org/officeDocument/2006/relationships/notesMaster" Target="/ppt/notesMasters/notesMaster1.xml" Id="Rd115c6f8ee4340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a8689972d224a2e" /><Relationship Type="http://schemas.openxmlformats.org/officeDocument/2006/relationships/notesMaster" Target="/ppt/notesMasters/notesMaster1.xml" Id="Rdf6c7436ba78475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725e13246fa4804" /><Relationship Type="http://schemas.openxmlformats.org/officeDocument/2006/relationships/notesMaster" Target="/ppt/notesMasters/notesMaster1.xml" Id="Rede947a267f943d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f9a563d04d34545" /><Relationship Type="http://schemas.openxmlformats.org/officeDocument/2006/relationships/notesMaster" Target="/ppt/notesMasters/notesMaster1.xml" Id="R6e89eac0902b49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8049e084466465e" /><Relationship Type="http://schemas.openxmlformats.org/officeDocument/2006/relationships/notesMaster" Target="/ppt/notesMasters/notesMaster1.xml" Id="Rcedf31bb4527412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ed21707d8543ad" /><Relationship Type="http://schemas.openxmlformats.org/officeDocument/2006/relationships/notesMaster" Target="/ppt/notesMasters/notesMaster1.xml" Id="R41b4599ef7754d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979c0eb47f54e23" /><Relationship Type="http://schemas.openxmlformats.org/officeDocument/2006/relationships/notesMaster" Target="/ppt/notesMasters/notesMaster1.xml" Id="R7febf58fdbdc4e0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c230acd377c4244" /><Relationship Type="http://schemas.openxmlformats.org/officeDocument/2006/relationships/notesMaster" Target="/ppt/notesMasters/notesMaster1.xml" Id="Rba7623dc0f434f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dd32fd872646be" /><Relationship Type="http://schemas.openxmlformats.org/officeDocument/2006/relationships/notesMaster" Target="/ppt/notesMasters/notesMaster1.xml" Id="Rd7145288f1c442f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70bbd3164034626" /><Relationship Type="http://schemas.openxmlformats.org/officeDocument/2006/relationships/notesMaster" Target="/ppt/notesMasters/notesMaster1.xml" Id="R545725257c6546b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ed9899eb703468f" /><Relationship Type="http://schemas.openxmlformats.org/officeDocument/2006/relationships/notesMaster" Target="/ppt/notesMasters/notesMaster1.xml" Id="R6b0c48917c14481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c1442bcee2c4617" /><Relationship Type="http://schemas.openxmlformats.org/officeDocument/2006/relationships/notesMaster" Target="/ppt/notesMasters/notesMaster1.xml" Id="R5cc2ad64eb614f2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aa3113e52ec477f" /><Relationship Type="http://schemas.openxmlformats.org/officeDocument/2006/relationships/notesMaster" Target="/ppt/notesMasters/notesMaster1.xml" Id="R51415aa9d1694c2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677f4d3d91341b2" /><Relationship Type="http://schemas.openxmlformats.org/officeDocument/2006/relationships/notesMaster" Target="/ppt/notesMasters/notesMaster1.xml" Id="Ra293a7d5970a47c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45013388a5d4bd0" /><Relationship Type="http://schemas.openxmlformats.org/officeDocument/2006/relationships/notesMaster" Target="/ppt/notesMasters/notesMaster1.xml" Id="R6c5f69cfdb904b9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5c1cacb637d4edc" /><Relationship Type="http://schemas.openxmlformats.org/officeDocument/2006/relationships/notesMaster" Target="/ppt/notesMasters/notesMaster1.xml" Id="R570b2f901b04450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9dca814f9164a85" /><Relationship Type="http://schemas.openxmlformats.org/officeDocument/2006/relationships/notesMaster" Target="/ppt/notesMasters/notesMaster1.xml" Id="R40070b9269a8441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8298720db0a47ea" /><Relationship Type="http://schemas.openxmlformats.org/officeDocument/2006/relationships/notesMaster" Target="/ppt/notesMasters/notesMaster1.xml" Id="R7c3c05614a6d4d3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6c68f9bef2f4ae3" /><Relationship Type="http://schemas.openxmlformats.org/officeDocument/2006/relationships/notesMaster" Target="/ppt/notesMasters/notesMaster1.xml" Id="R5bd389d8e9cd462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08e3c1fdc38450d" /><Relationship Type="http://schemas.openxmlformats.org/officeDocument/2006/relationships/notesMaster" Target="/ppt/notesMasters/notesMaster1.xml" Id="Recfd85450df5416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75ebf6113074f08" /><Relationship Type="http://schemas.openxmlformats.org/officeDocument/2006/relationships/notesMaster" Target="/ppt/notesMasters/notesMaster1.xml" Id="R6229c2aabc434f8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9c0bada9ce043bb" /><Relationship Type="http://schemas.openxmlformats.org/officeDocument/2006/relationships/notesMaster" Target="/ppt/notesMasters/notesMaster1.xml" Id="Rd28bb11eca5144e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00117ee241f4b91" /><Relationship Type="http://schemas.openxmlformats.org/officeDocument/2006/relationships/notesMaster" Target="/ppt/notesMasters/notesMaster1.xml" Id="R86015ed16dc740a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82501ba06f14662" /><Relationship Type="http://schemas.openxmlformats.org/officeDocument/2006/relationships/notesMaster" Target="/ppt/notesMasters/notesMaster1.xml" Id="Rba95b51183d24bc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d86a393b2a24c3b" /><Relationship Type="http://schemas.openxmlformats.org/officeDocument/2006/relationships/notesMaster" Target="/ppt/notesMasters/notesMaster1.xml" Id="R9c9b916885f845f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732c4c8727f410e" /><Relationship Type="http://schemas.openxmlformats.org/officeDocument/2006/relationships/notesMaster" Target="/ppt/notesMasters/notesMaster1.xml" Id="Rc373467840d941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scheduled for23 October2026. Explain our conditional generation task, then trace the full token path and examine actual experiments. All primary architecture comparisons use seed 42 and the fixed4,000th update on one saved corpus. The selected live demo is separately labelled final_seed7/transformer_2. It passed11 authored development notes and2 clinical checks. The two extra clinical sources occur in training. Held-out outcomes are measured separately. Actual cloud execution and individual presenter teach-back remain human gates.</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6/tiny-mitra/artifacts/mitra_final/results/protocol.json</a:t>
            </a:r>
          </a:p>
          <a:p xmlns:a="http://schemas.openxmlformats.org/drawingml/2006/main">
            <a:r>
              <a:t>C:/Users/Nagar/source/repos/ai-learning-lab/projects/Week 6/tiny-mitra/reports/DEMO_SELECTION.json</a:t>
            </a:r>
          </a:p>
          <a:p xmlns:a="http://schemas.openxmlformats.org/drawingml/2006/main">
            <a:r>
              <a:t>C:/Users/Nagar/source/repos/ai-learning-lab/projects/Week 6/tiny-mitra/artifacts/mitra_final/results/demo_final_test/summary.json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earlier assignments connect directly to Mitra. Week1 established forward/loss/backward/update. Tokenization and embeddings gave numerical input representations. Attention allowed positions to use earlier context; multiple heads supplied different learned projections. Week5 compared complete blocks and ablations. Mitra adds a shared PyTorch implementation, real training/checkpoints, output-only supervision and a UI. These are engineering connections. Each presenter still needs to demonstrate understanding independently.</a:t>
            </a:r>
          </a:p>
          <a:p xmlns:a="http://schemas.openxmlformats.org/drawingml/2006/main">
            <a:r>
              <a:t/>
            </a:r>
          </a:p>
          <a:p xmlns:a="http://schemas.openxmlformats.org/drawingml/2006/main">
            <a:r>
              <a:t>Sources:</a:t>
            </a:r>
          </a:p>
          <a:p xmlns:a="http://schemas.openxmlformats.org/drawingml/2006/main">
            <a:r>
              <a:t>C:/Users/Nagar/source/repos/ai-learning-lab/PROGRESS.md</a:t>
            </a:r>
          </a:p>
          <a:p xmlns:a="http://schemas.openxmlformats.org/drawingml/2006/main">
            <a:r>
              <a:t>C:/Users/Nagar/source/repos/ai-learning-lab/projects/week 5/numpy_transformer_suite.py</a:t>
            </a:r>
          </a:p>
          <a:p xmlns:a="http://schemas.openxmlformats.org/drawingml/2006/main">
            <a:r>
              <a:t>C:/Users/Nagar/source/repos/ai-learning-lab/projects/week 5/visualizations/arch_results.json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an expected target under our synthetic assignment policy. Patient name, physician including its title, and date become typed placeholders. Wording such as VISITED and ON survives. Other examples retain diagnosis, biomarker and treatment associations. Generation reads the source and learned weights; it does not call the annotated renderer or look up this answer. A compact grammar also admits deterministic alternatives. Our reason for building GPT is to understand the entire next-token mechanism.</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a:p xmlns:a="http://schemas.openxmlformats.org/drawingml/2006/main">
            <a:r>
              <a:t>C:/Users/Nagar/source/repos/ai-learning-lab/projects/Week 6/tiny-mitra/broad_data.py</a:t>
            </a:r>
          </a:p>
          <a:p xmlns:a="http://schemas.openxmlformats.org/drawingml/2006/main">
            <a:r>
              <a:t>C:/Users/Nagar/source/repos/ai-learning-lab/projects/Week 6/tiny-mitra/generate.py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dataset contains ten training sentence forms, names, dates, MRNs, phones, addresses and clinical fields. Exact authored development sources and reserved numerical values are excluded from this final corpus. Final test names exclude development names, including Olivia. All models start from random weights on the same corpus; no earlier experiment supplies their weights. Equal update counts and fixed width do not imply equal parameters or equal compute. Earlier character and continued-training studies remain separate histories and are not pooled into this comparison. The primary source/data/producer/protocol identities were frozen before final evaluation. Do not select checkpoints from test outcomes.</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6/tiny-mitra/artifacts/mitra_final/results/protocol.json</a:t>
            </a:r>
          </a:p>
          <a:p xmlns:a="http://schemas.openxmlformats.org/drawingml/2006/main">
            <a:r>
              <a:t>C:/Users/Nagar/source/repos/ai-learning-lab/projects/Week 6/tiny-mitra/artifacts/mitra_final/dataset/manifest.json</a:t>
            </a:r>
          </a:p>
          <a:p xmlns:a="http://schemas.openxmlformats.org/drawingml/2006/main">
            <a:r>
              <a:t>C:/Users/Nagar/source/repos/ai-learning-lab/projects/Week 6/tiny-mitra/broad_data.py</a:t>
            </a:r>
          </a:p>
          <a:p xmlns:a="http://schemas.openxmlformats.org/drawingml/2006/main">
            <a:r>
              <a:t>C:/Users/Nagar/source/repos/ai-learning-lab/projects/Week 6/tiny-mitra/artifacts/mitra_final/results/repeats_summary.json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Serialize the source, boundary marker and desired output. The final tokenizer has146 entries: the original alphabet/control vocabulary plus37 declared task pieces. PATIENT is a single task token. John still uses J,o,h,n character tokens. Spaces remain tokens. At the input position holding OUTPUT, the desired next token is PATIENT. Source-prediction targets are ignored, while output tokens and EOS are scored. The correct target prefix is available during training only.</a:t>
            </a:r>
          </a:p>
          <a:p xmlns:a="http://schemas.openxmlformats.org/drawingml/2006/main">
            <a:r>
              <a:t/>
            </a:r>
          </a:p>
          <a:p xmlns:a="http://schemas.openxmlformats.org/drawingml/2006/main">
            <a:r>
              <a:t>Sources:</a:t>
            </a:r>
          </a:p>
          <a:p xmlns:a="http://schemas.openxmlformats.org/drawingml/2006/main">
            <a:r>
              <a:t>C:/Users/Nagar/source/repos/ai-learning-lab/projects/Week 6/tiny-mitra/task_tokenizer.py</a:t>
            </a:r>
          </a:p>
          <a:p xmlns:a="http://schemas.openxmlformats.org/drawingml/2006/main">
            <a:r>
              <a:t>C:/Users/Nagar/source/repos/ai-learning-lab/projects/Week 6/tiny-mitra/data.py</a:t>
            </a:r>
          </a:p>
          <a:p xmlns:a="http://schemas.openxmlformats.org/drawingml/2006/main">
            <a:r>
              <a:t>C:/Users/Nagar/source/repos/ai-learning-lab/projects/Week 6/tiny-mitra/task_runtime.py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uses expected previous output tokens and the source as a causal prefix. Generation begins with only source through OUTPUT, appends one actual selected token, and repeats. Loss is computed only on output targets plus EOS. A correct teacher-forced next token and a correct freely generated note are separate evaluations. An early generated error can feed into later decisions. Checkpoints save weights, tokenizer/configuration, provenance, optimizer, sample-order/random state and completed updates. The same model.py supplies both paths. No architecture or optimizer update occurs when the audience clicks Generate in Gradio.</a:t>
            </a:r>
          </a:p>
          <a:p xmlns:a="http://schemas.openxmlformats.org/drawingml/2006/main">
            <a:r>
              <a:t/>
            </a:r>
          </a:p>
          <a:p xmlns:a="http://schemas.openxmlformats.org/drawingml/2006/main">
            <a:r>
              <a:t>Sources:</a:t>
            </a:r>
          </a:p>
          <a:p xmlns:a="http://schemas.openxmlformats.org/drawingml/2006/main">
            <a:r>
              <a:t>C:/Users/Nagar/source/repos/ai-learning-lab/projects/Week 6/tiny-mitra/data.py</a:t>
            </a:r>
          </a:p>
          <a:p xmlns:a="http://schemas.openxmlformats.org/drawingml/2006/main">
            <a:r>
              <a:t>C:/Users/Nagar/source/repos/ai-learning-lab/projects/Week 6/tiny-mitra/model.py</a:t>
            </a:r>
          </a:p>
          <a:p xmlns:a="http://schemas.openxmlformats.org/drawingml/2006/main">
            <a:r>
              <a:t>C:/Users/Nagar/source/repos/ai-learning-lab/projects/Week 6/tiny-mitra/generate.py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integer ID locates a row in a learned embedding table; its numeric magnitude is not semantic distance. The fixed tokenizer makes PATIENT one token and retains unsupported-as-a-piece spelling as ASCII characters. May can match inside Maya, because longest-piece matching is not whole-word tokenization. Encoding and decoding preserve the exact supported text and offsets. Unsupported Unicode raises an explicit error. The vocabulary is declared independently of final data. Training-name coverage checks ensure that all 52 letter IDs actually occur, but representability and exposure do not establish reliable generalization. The character teaching pilot and historical studies use a different token unit.</a:t>
            </a:r>
          </a:p>
          <a:p xmlns:a="http://schemas.openxmlformats.org/drawingml/2006/main">
            <a:r>
              <a:t/>
            </a:r>
          </a:p>
          <a:p xmlns:a="http://schemas.openxmlformats.org/drawingml/2006/main">
            <a:r>
              <a:t>Sources:</a:t>
            </a:r>
          </a:p>
          <a:p xmlns:a="http://schemas.openxmlformats.org/drawingml/2006/main">
            <a:r>
              <a:t>C:/Users/Nagar/source/repos/ai-learning-lab/projects/Week 6/tiny-mitra/task_tokenizer.py</a:t>
            </a:r>
          </a:p>
          <a:p xmlns:a="http://schemas.openxmlformats.org/drawingml/2006/main">
            <a:r>
              <a:t>C:/Users/Nagar/source/repos/ai-learning-lab/projects/Week 6/tiny-mitra/artifacts/mitra_final/dataset/manifest.json</a:t>
            </a:r>
          </a:p>
          <a:p xmlns:a="http://schemas.openxmlformats.org/drawingml/2006/main">
            <a:r>
              <a:t>C:/Users/Nagar/source/repos/ai-learning-lab/projects/Week 6/tiny-mitra/artifacts/results/mechanics-tests.xml</a:t>
            </a:r>
          </a:p>
          <a:p xmlns:a="http://schemas.openxmlformats.org/drawingml/2006/main">
            <a:r>
              <a:t>C:/Users/Nagar/source/repos/ai-learning-lab/weekly curriculum/06-Tiny-Mitra-Project/PREREQUISITE_KNOWLEDGE.md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Token embedding E has shape146 by64; learned position table P has shape 256 by64. At position t, X_t=E[id_t]+P[t]. Corresponding features are added, keeping width 64. Teaching numbers: [0.2,-0.1]+[0.01,0.04]=[0.21,-0.06]. They are invented for arithmetic, not coordinates from a learned clinical feature. Base lookup plus position does not yet incorporate the entire source context; attention does the mixing. Shapes B,T,64 are traced in the shared notebook. The saved corpus maximum serialized sequence has86 tokens. Allocating256 position rows does not teach every position or guarantee accuracy on longer notes. The arithmetic shown uses illustrative vectors, not learned clinical meanings.</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6/tiny-mitra/task_tokenizer.py</a:t>
            </a:r>
          </a:p>
          <a:p xmlns:a="http://schemas.openxmlformats.org/drawingml/2006/main">
            <a:r>
              <a:t>C:/Users/Nagar/source/repos/ai-learning-lab/weekly curriculum/06-Tiny-Mitra-Project/PREREQUISITE_KNOWLEDGE.md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K and V are different projections of the current hidden representations. A query at one position has a dot product with every eligible key. Transposing K aligns its feature dimension for those comparisons. Dividing by the square root of head width limits score scale under the standard variance intuition. Softmax exponentiates each eligible score and divides by the row sum, yielding nonnegative weights that sum to one. Multiplying by V gives a weighted mixture, not a discrete database lookup. In a causal layer, later keys are ineligible. The query at a generation step belongs to the final prefix position, which predicts the next token. Calling a head a name-detector requires measured evidence. C denotes the context mixture, distinct from the head-count symbol used in shape discussions. In this implementation Q/K/V and output Linear layers include biases. Score masks are explicit; no fused attention or ready-made MultiheadAttention is used.</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https://arxiv.org/abs/1706.03762</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colored teaching matrix illustrates eligible query/key relationships. The causal mask hides future keys before softmax. Key padding independently prevents padded tokens from contributing values. The loss mask ignores source-prediction and padded targets, not source representations themselves. Source embeddings can receive gradients through output attention. A future-token perturbation test verifies unchanged earlier logits for every variant.</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6/tiny-mitra/data.py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eligible earlier positions are accessible to each head. With D=64 and four heads, Dh=16. Q/K/V start B,T,64, reshape B,T,4,16, then transpose B,4,T,16. Scores have B,4,T,T; mixed values B,4,T,16; head features merge back to B,T,64 and pass through an output projection. Head count alone leaves projection parameter count unchanged at fixed width. Learned roles require intervention evidence, not naming heads from a heatmap.</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blocks use pre-LN: U=X+Attention(LN1(X)), Y=U+FFN(LN2(U)). Our LayerNorm explicitly computes feature mean and population variance with learned scale/offset. FFN expands 64 to 192, applies GELU, then contracts to 64. Two blocks plus final normalization form the full model. Component variants remove the declared branch or additions; the no-FFN branch also removes its otherwise unused pre-normalization parameters. PyTorch supplies primitive arithmetic, Linear/Embedding, autograd and AdamW, not the Transformer implementation.</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Cross-entropy penalizes low probability for the correct next token. For probabilities [0.75,0.25], a correct first token has loss -ln(0.75)=0.2877; a correct second token has loss 1.3863. Sum losses over scored output/EOS tokens and divide by their total count. Do not average unequal batch means. Autograd computes gradients through the manually assembled network; AdamW updates parameters. Exact CPU interruption/resume matches uninterrupted updates in the test. Learning rate, sampler, optimizer and random state are recorded. Gradients reach source embeddings through the attention dependency even though source-prediction targets are ignored. Clipping limits total gradient norm to1 before the AdamW update. The logged norm is measured before clipping. CPU resume tests compare interrupted and uninterrupted parameter states exactly; CUDA recovery remains unexecuted.</a:t>
            </a:r>
          </a:p>
          <a:p xmlns:a="http://schemas.openxmlformats.org/drawingml/2006/main">
            <a:r>
              <a:t/>
            </a:r>
          </a:p>
          <a:p xmlns:a="http://schemas.openxmlformats.org/drawingml/2006/main">
            <a:r>
              <a:t>Sources:</a:t>
            </a:r>
          </a:p>
          <a:p xmlns:a="http://schemas.openxmlformats.org/drawingml/2006/main">
            <a:r>
              <a:t>C:/Users/Nagar/source/repos/ai-learning-lab/projects/Week 6/tiny-mitra/task_runtime.py</a:t>
            </a:r>
          </a:p>
          <a:p xmlns:a="http://schemas.openxmlformats.org/drawingml/2006/main">
            <a:r>
              <a:t>C:/Users/Nagar/source/repos/ai-learning-lab/projects/Week 6/tiny-mitra/data.py</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has its own trained state. Gradio loads the corresponding checkpoint instead of retraining when the selection changes. The bare single/multi variants share the same residual/norm policy. Fixed width keeps the attention projection counts equal across head counts. Component removal changes parameter counts; one versus two blocks also changes capacity. This is a fixed-budget comparison with one primary seed; repeats of four models are separate. No-LayerNorm removes all block norms and the final norm. No-FFN removes each FFN and its otherwise unused preceding norm. No-residual removes attention and FFN residual additions but keeps their sublayers. The bare single/four-head models contain no full decoder blocks. These distinctions are implemented explicitly in model.py.</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6/tiny-mitra/artifacts/mitra_final/results/summary.json</a:t>
            </a:r>
          </a:p>
          <a:p xmlns:a="http://schemas.openxmlformats.org/drawingml/2006/main">
            <a:r>
              <a:t>C:/Users/Nagar/source/repos/ai-learning-lab/projects/Week 6/tiny-mitra/artifacts/mitra_final/results/protocol.json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Teacher-forced loss and token accuracy score output/EOS targets, using all 100 validation notes. Free generation compares actual notes with annotations. Redaction recall is TP/(TP+FN); precision is TP/(TP+FP); F1 is their harmonic mean when defined. TP requires the right placeholder in the right sentence slot. Duplicate/wrong-field placeholders can add false positives. Clinical preservation requires the original field/value association, not a keyword somewhere in output. Exact match judges the entire string. Report category supports and zero-support N/A. Exact-surface leakage can miss partial or reformatted identifiers. Quiet CPU latency is measured separately from training jobs and includes varying generated lengths. No live score is invented for an arbitrary unannotated input.</a:t>
            </a:r>
          </a:p>
          <a:p xmlns:a="http://schemas.openxmlformats.org/drawingml/2006/main">
            <a:r>
              <a:t/>
            </a:r>
          </a:p>
          <a:p xmlns:a="http://schemas.openxmlformats.org/drawingml/2006/main">
            <a:r>
              <a:t>Sources:</a:t>
            </a:r>
          </a:p>
          <a:p xmlns:a="http://schemas.openxmlformats.org/drawingml/2006/main">
            <a:r>
              <a:t>C:/Users/Nagar/source/repos/ai-learning-lab/projects/Week 6/tiny-mitra/assignment_evaluate.py</a:t>
            </a:r>
          </a:p>
          <a:p xmlns:a="http://schemas.openxmlformats.org/drawingml/2006/main">
            <a:r>
              <a:t>C:/Users/Nagar/source/repos/ai-learning-lab/projects/Week 6/tiny-mitra/task_runtime.py</a:t>
            </a:r>
          </a:p>
          <a:p xmlns:a="http://schemas.openxmlformats.org/drawingml/2006/main">
            <a:r>
              <a:t>C:/Users/Nagar/source/repos/ai-learning-lab/projects/Week 6/tiny-mitra/artifacts/results/quiet_cpu_latency.json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loss is the last minibatch at update4000, not a700-note mean. Validation loss covers all 100 notes. Each test column covers50 notes; averages weight scored output/EOS tokens, not notes. The familiar test has532 scored tokens; the new-layout test has its separately recorded support. Teacher-forced accuracy can be high even when free generation fails: the correct prefix is supplied at each prediction. Loss is in natural-log units per task token; do not compare it numerically with historical character/word token losses. Full32-row recomputation matches the saved final metrics, weights and data.</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6/tiny-mitra/artifacts/mitra_final/results/summary.json</a:t>
            </a:r>
          </a:p>
          <a:p xmlns:a="http://schemas.openxmlformats.org/drawingml/2006/main">
            <a:r>
              <a:t>C:/Users/Nagar/source/repos/ai-learning-lab/projects/Week 6/tiny-mitra/artifacts/mitra_final/results/final_test/summary.json</a:t>
            </a:r>
          </a:p>
          <a:p xmlns:a="http://schemas.openxmlformats.org/drawingml/2006/main">
            <a:r>
              <a:t>C:/Users/Nagar/source/repos/ai-learning-lab/projects/Week 6/tiny-mitra/task_runtime.py</a:t>
            </a:r>
          </a:p>
          <a:p xmlns:a="http://schemas.openxmlformats.org/drawingml/2006/main">
            <a:r>
              <a:t>C:/Users/Nagar/source/repos/ai-learning-lab/projects/Week 6/tiny-mitra/assignment_evaluate.py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Embedding only:exact2/24,identifiers9/36,clinical1/24,parameters35218. One attention head:exact22/24,identifiers33/36,clinical23/24,parameters51858. Four attention heads:exact20/24,identifiers34/36,clinical21/24,parameters51858. One full block:exact23/24,identifiers35/36,clinical24/24,parameters77074. Two full blocks:exact23/24,identifiers36/36,clinical23/24,parameters118802. Without FFN:exact23/24,identifiers35/36,clinical24/24,parameters68882. Without LayerNorm:exact23/24,identifiers36/36,clinical23/24,parameters118162. Without residuals:exact24/24,identifiers36/36,clinical24/24,parameters118802. All 24 category-selected diagnostic notes use known entity/layout pools. They are validation examples, not the novel-name/layout test partitions. The chart shows counts out of24 notes and24 clinical associations; identifiers have36 supports and remain in the report. Interpret metric rankings separately. The embedding model lacks contextual mixing, but adding heads or blocks does not guarantee a measured improvement under one budget.</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6/tiny-mitra/artifacts/mitra_final/results/summary.json</a:t>
            </a:r>
          </a:p>
          <a:p xmlns:a="http://schemas.openxmlformats.org/drawingml/2006/main">
            <a:r>
              <a:t>C:/Users/Nagar/source/repos/ai-learning-lab/projects/Week 6/tiny-mitra/assignment_evaluate.py</a:t>
            </a:r>
          </a:p>
          <a:p xmlns:a="http://schemas.openxmlformats.org/drawingml/2006/main">
            <a:r>
              <a:t>C:/Users/Nagar/source/repos/ai-learning-lab/projects/Week 6/tiny-mitra/artifacts/mitra_final/results/protocol.json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and no-residual models have the same parameter count, while no-FFN/no-LayerNorm remove different parameter groups. Maximum gradients are sampled at validation logging intervals, before clipping, not a count of every update or a proof that a run diverged. All declared runs completed; inspect curves alongside generated-note quality. The no-LayerNorm variant removes the final norm too. We do not tune a separate learning rate for each ablation. A one-seed component difference is exploratory, and architecture plus optimization can interact.</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6/tiny-mitra/artifacts/mitra_final/results/descriptive_comparison.json</a:t>
            </a:r>
          </a:p>
          <a:p xmlns:a="http://schemas.openxmlformats.org/drawingml/2006/main">
            <a:r>
              <a:t>C:/Users/Nagar/source/repos/ai-learning-lab/projects/Week 6/tiny-mitra/artifacts/mitra_final/results/summary.json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training seeds share the same corpus and evaluation notes. They are not three independent clinical datasets. Exact counts are shown rather than p-values. Reports also retain mean/range for recall and clinical preservation. The primary architecture benchmark remains seed 42. final_seed7/transformer_2 is a separately labelled demo selected by the declared development acceptance rule, with priority42 then7 then123. We declared that rule after observing primary42 at10/11 and before either repeat completed. It requires11 authored/EOS plus2 clinical checks. Both extra clinical sources occur in training. Final-test outcomes do not choose a demo seed.</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6/tiny-mitra/artifacts/mitra_final/results/repeats_summary.json</a:t>
            </a:r>
          </a:p>
          <a:p xmlns:a="http://schemas.openxmlformats.org/drawingml/2006/main">
            <a:r>
              <a:t>C:/Users/Nagar/source/repos/ai-learning-lab/projects/Week 6/tiny-mitra/artifacts/mitra_final/results/descriptive_comparison.json</a:t>
            </a:r>
          </a:p>
          <a:p xmlns:a="http://schemas.openxmlformats.org/drawingml/2006/main">
            <a:r>
              <a:t>C:/Users/Nagar/source/repos/ai-learning-lab/projects/Week 6/tiny-mitra/reports/DEMO_SELECTION.json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Baseline8/8 exact,14/14 identifiers,6/6 clinical,conditional loss0.0002. A gate zeros one head context before merge and output projection; weights stay unchanged. L0 H0 removal gives4/14 identifiers and1/8 notes. Some heads preserve recall while worsening exact notes and loss. Category supports are PATIENT7,MRN2,and one each for doctor,date,address,DOB,phone. A heatmap or drop on2 MRNs does not establish a semantic MRN head. Two pairs0+1 per block were fixed before intervention; pair effects are non-additive. The runner verifies baseline restoration. These heads belong to seed 42, even when the live demo uses seed 7.</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6/tiny-mitra/artifacts/mitra_final/results/investigations/enriched_head_measurements.json</a:t>
            </a:r>
          </a:p>
          <a:p xmlns:a="http://schemas.openxmlformats.org/drawingml/2006/main">
            <a:r>
              <a:t>C:/Users/Nagar/source/repos/ai-learning-lab/projects/Week 6/tiny-mitra/model.py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source has the same number of tokens, and the supplied output prefix ends PATIENT [NAME] RECEIVED followed by a space. The next decision is an atomic DrugA/DrugB token. This separates probability-level context use from free generation. Read the actual selected tokens and both probabilities. An embedding-only model sees only the final position token/vector at its vocabulary head, so matching final token and position gives matching probabilities. The full attention model can route earlier source information. A successful controlled pair demonstrates this local dependence; it does not establish novel-template accuracy. The prefix is supplied conditionally, and the report separately retains actual free generations.</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6/tiny-mitra/artifacts/mitra_final/results/investigations/architecture_context.json</a:t>
            </a:r>
          </a:p>
          <a:p xmlns:a="http://schemas.openxmlformats.org/drawingml/2006/main">
            <a:r>
              <a:t>C:/Users/Nagar/source/repos/ai-learning-lab/projects/Week 6/tiny-mitra/task_tokenizer.py</a:t>
            </a:r>
          </a:p>
          <a:p xmlns:a="http://schemas.openxmlformats.org/drawingml/2006/main">
            <a:r>
              <a:t>C:/Users/Nagar/source/repos/ai-learning-lab/projects/Week 6/tiny-mitra/generate.py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row samples from softmax(logits/temperature); this is not a switch between greedy and sampling. A larger positive temperature spreads the probability distribution. Read observed counts rather than assuming a monotonic result. These are eight sampled notes under one seed per note, not a robust distribution estimate. Greedy argmax is a separate mode and ignores the temperature slider. The qualitative out-of-distribution probes have no annotated gold accuracy.</a:t>
            </a:r>
          </a:p>
          <a:p xmlns:a="http://schemas.openxmlformats.org/drawingml/2006/main">
            <a:r>
              <a:t/>
            </a:r>
          </a:p>
          <a:p xmlns:a="http://schemas.openxmlformats.org/drawingml/2006/main">
            <a:r>
              <a:t>Sources:</a:t>
            </a:r>
          </a:p>
          <a:p xmlns:a="http://schemas.openxmlformats.org/drawingml/2006/main">
            <a:r>
              <a:t>C:/Users/Nagar/source/repos/ai-learning-lab/projects/Week 6/tiny-mitra/generate.py</a:t>
            </a:r>
          </a:p>
          <a:p xmlns:a="http://schemas.openxmlformats.org/drawingml/2006/main">
            <a:r>
              <a:t>C:/Users/Nagar/source/repos/ai-learning-lab/projects/Week 6/tiny-mitra/artifacts/mitra_final/results/investigations/enriched_head_measurements.json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says UNKNOWN; the model substitutes DIABETES. It assigns about0.811 probability to that selected token at this step. A learned continuation preference is not confidence calibrated to correctness or evidence in the source. The training objective rewards likely next tokens; it does not provide a mechanism to verify unfamiliar facts. These are authored qualitative probes, not a scored OOD benchmark. The actual result is preserved without repair. More varied data, explicit task constraints and broader evaluation would be needed before considering operational use.</a:t>
            </a:r>
          </a:p>
          <a:p xmlns:a="http://schemas.openxmlformats.org/drawingml/2006/main">
            <a:r>
              <a:t/>
            </a:r>
          </a:p>
          <a:p xmlns:a="http://schemas.openxmlformats.org/drawingml/2006/main">
            <a:r>
              <a:t>Sources:</a:t>
            </a:r>
          </a:p>
          <a:p xmlns:a="http://schemas.openxmlformats.org/drawingml/2006/main">
            <a:r>
              <a:t>C:/Users/Nagar/source/repos/ai-learning-lab/projects/Week 6/tiny-mitra/generate.py</a:t>
            </a:r>
          </a:p>
          <a:p xmlns:a="http://schemas.openxmlformats.org/drawingml/2006/main">
            <a:r>
              <a:t>C:/Users/Nagar/source/repos/ai-learning-lab/projects/Week 6/tiny-mitra/artifacts/mitra_final/results/investigations/enriched_head_measurements.json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evaluator covers all 8 architectures across4 partitions:1,600 model-note evaluations over200 distinct notes. The separately selected demo adds200 evaluations of those same notes, not200 new independent cases. Its development selection was fixed before its final outputs. These conditions test declared patient-name/template novelty, not every kind of identifier novelty. Controls share layouts; dates,doctor/address policies retain their stated limits. Broad supported spelling does not imply generalization. Do not retrain or select a different reported seed after reading these outcomes. Full raw tables include recall,precision,clinical associations,leakage and EOS for every architecture.</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6/tiny-mitra/artifacts/mitra_final/results/final_test/summary.json</a:t>
            </a:r>
          </a:p>
          <a:p xmlns:a="http://schemas.openxmlformats.org/drawingml/2006/main">
            <a:r>
              <a:t>C:/Users/Nagar/source/repos/ai-learning-lab/projects/Week 6/tiny-mitra/artifacts/mitra_final/results/demo_final_test/summary.json</a:t>
            </a:r>
          </a:p>
          <a:p xmlns:a="http://schemas.openxmlformats.org/drawingml/2006/main">
            <a:r>
              <a:t>C:/Users/Nagar/source/repos/ai-learning-lab/projects/Week 6/tiny-mitra/artifacts/mitra_final/dataset/manifest.json</a:t>
            </a:r>
          </a:p>
          <a:p xmlns:a="http://schemas.openxmlformats.org/drawingml/2006/main">
            <a:r>
              <a:t>C:/Users/Nagar/source/repos/ai-learning-lab/projects/Week 6/tiny-mitra/reports/DEMO_SELECTION.json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these as small-sample evidence from the saved Week 5 experiment, not Mitra performance. Across five initialization seeds, the full two-block model D improves mean accuracy by 1.25 percentage points over A. The test set in each saved run contains 64 target tokens across four cases. The evaluated scenario labels include both held-out families and familiar families. The saved JSON does not include a full dataset manifest or histories, so it does not establish a broad reproducibility claim. Mean test loss falls from about 1.547 to 1.478 and macro F1 rises from about 0.407 to 0.442. The standard deviations are across seeds, not confidence intervals. No statistical significance claim follows from these aggregates. This is a different task and vocabulary. Its token accuracy is not directly comparable to character-token Mitra accuracy. Use it to show the experimental method, not a before/after product metric. The final Mitra tokenizer is fixed task pieces with character fallback. Its complete-note metrics and per-token loss units differ from this older word-token task.</a:t>
            </a:r>
          </a:p>
          <a:p xmlns:a="http://schemas.openxmlformats.org/drawingml/2006/main">
            <a:r>
              <a:t/>
            </a:r>
          </a:p>
          <a:p xmlns:a="http://schemas.openxmlformats.org/drawingml/2006/main">
            <a:r>
              <a:t>Sources:</a:t>
            </a:r>
          </a:p>
          <a:p xmlns:a="http://schemas.openxmlformats.org/drawingml/2006/main">
            <a:r>
              <a:t>C:/Users/Nagar/source/repos/ai-learning-lab/projects/week 5/visualizations/arch_results.json</a:t>
            </a:r>
          </a:p>
          <a:p xmlns:a="http://schemas.openxmlformats.org/drawingml/2006/main">
            <a:r>
              <a:t>C:/Users/Nagar/source/repos/ai-learning-lab/projects/week 5/experiment_runner.py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short demonstration can take six minutes. First show a passing VISITED or Olivia/MRN prompt using the explicitly labelled demo. Then show the phone comparison without repairing either output. Explain that this development-selected candidate is separate from the primary architecture benchmark. For saved head measurements switch to seed 42 so its caption agrees with the underlying experiment. Compare a free-generation intervention and a supplied-prefix attention row as different tests. The offline fallback contains saved actual text and performs no inference. Team members must each trace one prompt independently before rehearsal is complete.</a:t>
            </a:r>
          </a:p>
          <a:p xmlns:a="http://schemas.openxmlformats.org/drawingml/2006/main">
            <a:r>
              <a:t/>
            </a:r>
          </a:p>
          <a:p xmlns:a="http://schemas.openxmlformats.org/drawingml/2006/main">
            <a:r>
              <a:t>Sources:</a:t>
            </a:r>
          </a:p>
          <a:p xmlns:a="http://schemas.openxmlformats.org/drawingml/2006/main">
            <a:r>
              <a:t>C:/Users/Nagar/source/repos/ai-learning-lab/projects/Week 6/tiny-mitra/app.py</a:t>
            </a:r>
          </a:p>
          <a:p xmlns:a="http://schemas.openxmlformats.org/drawingml/2006/main">
            <a:r>
              <a:t>C:/Users/Nagar/source/repos/ai-learning-lab/projects/Week 6/tiny-mitra/reports/DEMO_SELECTION.json</a:t>
            </a:r>
          </a:p>
          <a:p xmlns:a="http://schemas.openxmlformats.org/drawingml/2006/main">
            <a:r>
              <a:t>C:/Users/Nagar/source/repos/ai-learning-lab/projects/Week 6/tiny-mitra/artifacts/mitra_final/results/investigations/enriched_head_measurements.json</a:t>
            </a:r>
          </a:p>
          <a:p xmlns:a="http://schemas.openxmlformats.org/drawingml/2006/main">
            <a:r>
              <a:t>C:/Users/Nagar/source/repos/ai-learning-lab/projects/Week 6/tiny-mitra/artifacts/mitra_final/results/final_test/summary.json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demonstration is a real manually assembled GPT, not a deterministic renderer. Broader input coverage and a different token unit improved development behavior compared with earlier experiments, but multiple things changed across those studies. Within the final frozen corpus, compare architecture and seed effects using the same definitions. Do not claim that a head has a universal semantic role or that every added component must improve a small model. Actual final transfer results and failure cases bound the conclusion. Learner understanding requires every presenter to explain the path, not merely show a working interface.</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6/tiny-mitra/artifacts/mitra_final/results/protocol.json</a:t>
            </a:r>
          </a:p>
          <a:p xmlns:a="http://schemas.openxmlformats.org/drawingml/2006/main">
            <a:r>
              <a:t>C:/Users/Nagar/source/repos/ai-learning-lab/projects/Week 6/tiny-mitra/artifacts/mitra_final/results/summary.json</a:t>
            </a:r>
          </a:p>
          <a:p xmlns:a="http://schemas.openxmlformats.org/drawingml/2006/main">
            <a:r>
              <a:t>C:/Users/Nagar/source/repos/ai-learning-lab/projects/Week 6/tiny-mitra/artifacts/mitra_final/results/descriptive_comparison.json</a:t>
            </a:r>
          </a:p>
          <a:p xmlns:a="http://schemas.openxmlformats.org/drawingml/2006/main">
            <a:r>
              <a:t>C:/Users/Nagar/source/repos/ai-learning-lab/projects/Week 6/tiny-mitra/artifacts/mitra_final/results/investigations/enriched_head_measurements.json</a:t>
            </a:r>
          </a:p>
          <a:p xmlns:a="http://schemas.openxmlformats.org/drawingml/2006/main">
            <a:r>
              <a:t>C:/Users/Nagar/source/repos/ai-learning-lab/projects/Week 6/tiny-mitra/artifacts/mitra_final/results/demo_final_test/summary.json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real Colab session or GPU-to-CPU portability is claimed. The notebook checks actual CUDA allocation, preserves training state to Drive and exports a device reference for CPU comparison. Google/Drive sign-in belongs to Nagar. Local CPU compute was sufficient for this experiment, so no paid compute was purchased. Team roles, exact duration and every presenter explanation remain to be demonstrated. This project uses synthetic notes and is not a validated operational de-identification service. Do not expand this exercise into clinical or compliance claims.</a:t>
            </a:r>
          </a:p>
          <a:p xmlns:a="http://schemas.openxmlformats.org/drawingml/2006/main">
            <a:r>
              <a:t/>
            </a:r>
          </a:p>
          <a:p xmlns:a="http://schemas.openxmlformats.org/drawingml/2006/main">
            <a:r>
              <a:t>Sources:</a:t>
            </a:r>
          </a:p>
          <a:p xmlns:a="http://schemas.openxmlformats.org/drawingml/2006/main">
            <a:r>
              <a:t>C:/Users/Nagar/source/repos/ai-learning-lab/projects/Week 6/tiny-mitra/train_colab.ipynb</a:t>
            </a:r>
          </a:p>
          <a:p xmlns:a="http://schemas.openxmlformats.org/drawingml/2006/main">
            <a:r>
              <a:t>C:/Users/Nagar/source/repos/ai-learning-lab/weekly curriculum/06-Tiny-Mitra-Project/TASKS.md</a:t>
            </a:r>
          </a:p>
          <a:p xmlns:a="http://schemas.openxmlformats.org/drawingml/2006/main">
            <a:r>
              <a:t>C:/Users/Nagar/source/repos/ai-learning-lab/projects/Week 6/tiny-mitra/artifacts/mitra_final/results/demo_final_test/summary.json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dot product multiplies matching components and adds them. With q=[1,0], the first key scores 1 and the second scores 0. Dividing by square root 2 gives about 0.7071 and 0. Exponentiation gives positive values, and division by their sum yields probabilities 0.66976155 and 0.33023845. Multiplying those weights by the two value vectors produces [1.33952310,1.32095380]. The output is a mixture and need not equal any original value vector. These are invented inputs used for a verified arithmetic explanation. They are not evidence that a trained Mitra head attends to a name.</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LayerNorm uses features within one position, not statistics across all examples in a batch. With x=[1,3], mean is 2 and population variance is 1. Ignoring epsilon for this arithmetic and using gamma=[1,1], beta=[0,0], normalized output is [-1,1]. Learned gamma and beta can rescale and shift it. For the FFN, W1 has shape (64,192), b1 has shape (192), W2 has shape (192,64), and b2 has shape (64). The nonlinearity is essential: two linear maps with no nonlinear activation collapse into a single linear map. Our implementation uses GELU while the earlier NumPy study uses ReLU. Avoid claiming expansion itself guarantees richer measured behavior. The formula treats feature vectors as rows. PyTorch nn.Linear stores weight as output-by-input and multiplies by its transpose, so Linear(64,192).weight has shape192 by64. This storage convention differs from the mathematical W1 orientation shown in the formula.</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5/numpy_transformer_suite.py</a:t>
            </a:r>
          </a:p>
          <a:p xmlns:a="http://schemas.openxmlformats.org/drawingml/2006/main">
            <a:r>
              <a:t>https://arxiv.org/abs/1607.06450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excerpt, not one contiguous six-token example. The final tokenizer gives PATIENT a single ID and preserves spaces as their own token. Shift inputs/targets by one position. At OUTPUT the next target is PATIENT. Ignore source-prediction and padding targets but keep attention access to the source. EOS is scored. -100 is a loss ignore index, not a token ID. Context overflow raises an error so truncation cannot silently remove output/EOS.</a:t>
            </a:r>
          </a:p>
          <a:p xmlns:a="http://schemas.openxmlformats.org/drawingml/2006/main">
            <a:r>
              <a:t/>
            </a:r>
          </a:p>
          <a:p xmlns:a="http://schemas.openxmlformats.org/drawingml/2006/main">
            <a:r>
              <a:t>Sources:</a:t>
            </a:r>
          </a:p>
          <a:p xmlns:a="http://schemas.openxmlformats.org/drawingml/2006/main">
            <a:r>
              <a:t>C:/Users/Nagar/source/repos/ai-learning-lab/projects/Week 6/tiny-mitra/data.py</a:t>
            </a:r>
          </a:p>
          <a:p xmlns:a="http://schemas.openxmlformats.org/drawingml/2006/main">
            <a:r>
              <a:t>C:/Users/Nagar/source/repos/ai-learning-lab/projects/Week 6/tiny-mitra/task_tokenizer.py</a:t>
            </a:r>
          </a:p>
          <a:p xmlns:a="http://schemas.openxmlformats.org/drawingml/2006/main">
            <a:r>
              <a:t>C:/Users/Nagar/source/repos/ai-learning-lab/projects/Week 6/tiny-mitra/artifacts/results/mechanics-tests.xml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full-model parameter_count is118,802. Token embeddings and the untied vocabulary projection are different learned parameters. Every linear layer includes bias. Q/K/V and attention output make four64 to64 linear maps per block. Each FFN has two linear layers with separate biases. Four block norms plus one final norm contribute5 times128 parameters. Context capacity allocates256 position rows; this does not teach positions absent from training. One versus four heads at fixed64 width has the same projection parameter count.</a:t>
            </a:r>
          </a:p>
          <a:p xmlns:a="http://schemas.openxmlformats.org/drawingml/2006/main">
            <a:r>
              <a:t/>
            </a:r>
          </a:p>
          <a:p xmlns:a="http://schemas.openxmlformats.org/drawingml/2006/main">
            <a:r>
              <a:t>Sources:</a:t>
            </a:r>
          </a:p>
          <a:p xmlns:a="http://schemas.openxmlformats.org/drawingml/2006/main">
            <a:r>
              <a:t>C:/Users/Nagar/source/repos/ai-learning-lab/projects/Week 6/tiny-mitra/model.py</a:t>
            </a:r>
          </a:p>
          <a:p xmlns:a="http://schemas.openxmlformats.org/drawingml/2006/main">
            <a:r>
              <a:t>C:/Users/Nagar/source/repos/ai-learning-lab/projects/Week 6/tiny-mitra/config.py</a:t>
            </a:r>
          </a:p>
          <a:p xmlns:a="http://schemas.openxmlformats.org/drawingml/2006/main">
            <a:r>
              <a:t>C:/Users/Nagar/source/repos/ai-learning-lab/projects/Week 6/tiny-mitra/artifacts/mitra_final/results/summary.json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every line in order. Encode the entire source prompt including &lt;OUTPUT&gt;. The model returns vocabulary logits for all supplied positions. Slice the last position and select a single next token. Append it to the supplied context before the next forward pass. EOS is a learned token, and a maximum output length prevents an unbounded loop. The conceptual example deliberately separates greedy selection from temperature-based sampling. Without KV caching, each iteration recomputes prior representations. Attention score work per layer is quadratic in current context length, and total recomputation across many new tokens grows faster than the cost of one step. Detect context overflow explicitly rather than silently discarding the source.</a:t>
            </a:r>
          </a:p>
          <a:p xmlns:a="http://schemas.openxmlformats.org/drawingml/2006/main">
            <a:r>
              <a:t/>
            </a:r>
          </a:p>
          <a:p xmlns:a="http://schemas.openxmlformats.org/drawingml/2006/main">
            <a:r>
              <a:t>Sources:</a:t>
            </a:r>
          </a:p>
          <a:p xmlns:a="http://schemas.openxmlformats.org/drawingml/2006/main">
            <a:r>
              <a:t>C:/Users/Nagar/source/repos/ai-learning-lab/projects/Week 6/tiny-mitra/generate.py</a:t>
            </a:r>
          </a:p>
          <a:p xmlns:a="http://schemas.openxmlformats.org/drawingml/2006/main">
            <a:r>
              <a:t>C:/Users/Nagar/source/repos/ai-learning-lab/projects/Week 6/tiny-mitra/model.py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partitions contain50 notes each, with declared entity/template pools. Complete primary evaluation uses the fixed4,000th-update seed 42 checkpoints, not best-loss selection. The selected demo retains its separately recorded seed and checkpoint. Authored development names, including Olivia, are excluded from final-test names. Validation has its own unfamiliar pools. No-identifier controls share layouts and some non-patient identifier patterns recur; novelty is specific to the declared condition. All source strings are unique. The vocabulary comes from schema/ASCII declarations, not fitting on final text.</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6/tiny-mitra/artifacts/mitra_final/dataset/manifest.json</a:t>
            </a:r>
          </a:p>
          <a:p xmlns:a="http://schemas.openxmlformats.org/drawingml/2006/main">
            <a:r>
              <a:t>C:/Users/Nagar/source/repos/ai-learning-lab/projects/Week 6/tiny-mitra/artifacts/mitra_final/results/protocol.json</a:t>
            </a:r>
          </a:p>
          <a:p xmlns:a="http://schemas.openxmlformats.org/drawingml/2006/main">
            <a:r>
              <a:t>C:/Users/Nagar/source/repos/ai-learning-lab/projects/Week 6/tiny-mitra/artifacts/mitra_final/results/final_test/summary.json</a:t>
            </a:r>
          </a:p>
          <a:p xmlns:a="http://schemas.openxmlformats.org/drawingml/2006/main">
            <a:r>
              <a:t>C:/Users/Nagar/source/repos/ai-learning-lab/projects/Week 6/tiny-mitra/artifacts/mitra_final/results/demo_final_test/summary.json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changes capacity and optimization as well as the intended feature. Equal update counts are not equal compute; most component comparisons have one seed. The 24 diagnostic validation notes use known pools, while complete final partitions test declared new names/layouts. The primary architecture benchmark stays seed 42 at4,000 updates. A separately labelled candidate passes the declared development gate, without using final outcomes to choose its seed. A supplied prefix is not free generation. Head ablations measure checkpoint dependence on a small sample, not universal head meaning. Gradio only loads weights and calls the same generation function. Every presenter should answer these questions after teaching and practice.</a:t>
            </a:r>
          </a:p>
          <a:p xmlns:a="http://schemas.openxmlformats.org/drawingml/2006/main">
            <a:r>
              <a:t/>
            </a:r>
          </a:p>
          <a:p xmlns:a="http://schemas.openxmlformats.org/drawingml/2006/main">
            <a:r>
              <a:t>Sources:</a:t>
            </a:r>
          </a:p>
          <a:p xmlns:a="http://schemas.openxmlformats.org/drawingml/2006/main">
            <a:r>
              <a:t>C:/Users/Nagar/source/repos/ai-learning-lab/projects/Week 6/tiny-mitra/artifacts/mitra_final/results/descriptive_comparison.json</a:t>
            </a:r>
          </a:p>
          <a:p xmlns:a="http://schemas.openxmlformats.org/drawingml/2006/main">
            <a:r>
              <a:t>C:/Users/Nagar/source/repos/ai-learning-lab/projects/Week 6/tiny-mitra/reports/DEMO_SELECTION.json</a:t>
            </a:r>
          </a:p>
          <a:p xmlns:a="http://schemas.openxmlformats.org/drawingml/2006/main">
            <a:r>
              <a:t>C:/Users/Nagar/source/repos/ai-learning-lab/projects/Week 6/tiny-mitra/artifacts/mitra_final/dataset/manifest.json</a:t>
            </a:r>
          </a:p>
          <a:p xmlns:a="http://schemas.openxmlformats.org/drawingml/2006/main">
            <a:r>
              <a:t>C:/Users/Nagar/source/repos/ai-learning-lab/projects/Week 6/tiny-mitra/artifacts/mitra_final/results/investigations/enriched_head_measurements.json</a:t>
            </a:r>
          </a:p>
          <a:p xmlns:a="http://schemas.openxmlformats.org/drawingml/2006/main">
            <a:r>
              <a:t>C:/Users/Nagar/source/repos/ai-learning-lab/projects/Week 6/tiny-mitra/app.py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Assignment and local code/evidence sources are in relevant slide notes. Architecture uses explicit scaled dot-product attention and learned positions with pre-normalization blocks. See Vaswani et al. https://arxiv.org/abs/1706.03762 and Ba et al. https://arxiv.org/abs/1607.06450 for original mechanisms. Attention-interpretation discussions include https://aclanthology.org/N19-1357/ and https://aclanthology.org/D19-1002/. Current numerical claims come from final primary/repeat/raw generation evidence, not those external papers. Week5 results belong to their separate task. Actual cloud execution and individual mastery are not claimed.</a:t>
            </a:r>
          </a:p>
          <a:p xmlns:a="http://schemas.openxmlformats.org/drawingml/2006/main">
            <a:r>
              <a:t/>
            </a:r>
          </a:p>
          <a:p xmlns:a="http://schemas.openxmlformats.org/drawingml/2006/main">
            <a:r>
              <a:t>Sources:</a:t>
            </a:r>
          </a:p>
          <a:p xmlns:a="http://schemas.openxmlformats.org/drawingml/2006/main">
            <a:r>
              <a:t>C:/Users/Nagar/source/repos/ai-learning-lab/topics/Mitra Topics/Week 6 — Build Your Own Tiny-GPT_Excercise.md</a:t>
            </a:r>
          </a:p>
          <a:p xmlns:a="http://schemas.openxmlformats.org/drawingml/2006/main">
            <a:r>
              <a:t>C:/Users/Nagar/source/repos/ai-learning-lab/projects/Week 6/tiny-mitra/model.py</a:t>
            </a:r>
          </a:p>
          <a:p xmlns:a="http://schemas.openxmlformats.org/drawingml/2006/main">
            <a:r>
              <a:t>C:/Users/Nagar/source/repos/ai-learning-lab/projects/Week 6/tiny-mitra/artifacts/mitra_final/results/protocol.json</a:t>
            </a:r>
          </a:p>
          <a:p xmlns:a="http://schemas.openxmlformats.org/drawingml/2006/main">
            <a:r>
              <a:t>C:/Users/Nagar/source/repos/ai-learning-lab/projects/Week 6/tiny-mitra/artifacts/mitra_final/results/final_test/summary.json</a:t>
            </a:r>
          </a:p>
          <a:p xmlns:a="http://schemas.openxmlformats.org/drawingml/2006/main">
            <a:r>
              <a:t>C:/Users/Nagar/source/repos/ai-learning-lab/projects/Week 6/tiny-mitra/artifacts/mitra_final/results/demo_final_test/summary.json</a:t>
            </a:r>
          </a:p>
          <a:p xmlns:a="http://schemas.openxmlformats.org/drawingml/2006/main">
            <a:r>
              <a:t>C:/Users/Nagar/source/repos/ai-learning-lab/projects/week 5/visualizations/arch_results.json</a:t>
            </a:r>
          </a:p>
          <a:p xmlns:a="http://schemas.openxmlformats.org/drawingml/2006/main">
            <a:r>
              <a:t>https://arxiv.org/abs/1706.03762</a:t>
            </a:r>
          </a:p>
          <a:p xmlns:a="http://schemas.openxmlformats.org/drawingml/2006/main">
            <a:r>
              <a:t>https://arxiv.org/abs/1607.06450</a:t>
            </a:r>
          </a:p>
          <a:p xmlns:a="http://schemas.openxmlformats.org/drawingml/2006/main">
            <a:r>
              <a:t>https://aclanthology.org/N19-1357/</a:t>
            </a:r>
          </a:p>
          <a:p xmlns:a="http://schemas.openxmlformats.org/drawingml/2006/main">
            <a:r>
              <a:t>https://aclanthology.org/D19-1002/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fb1f0d8d7047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a50745a39cf4c8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05b39b2ed943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c2ad18512f4f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ff696ae5444af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182768795a4a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222B53-8C79-4B8B-A45E-CFF8E80CFD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9A0782F-2B99-49DE-B2F8-B1E712B50D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0A7E948-8A2C-44AC-8417-A329184FB82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434F1B-5203-4F63-9FCC-93458E9885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7155359-A0F5-4093-83F5-9909BEB7279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DA03F96-2277-4F9A-9BFB-D1599AF070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E2C7B0-254A-4383-820B-643ECE1D26B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036754E-10BC-455F-A8EA-6F179D19DC3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8304509-4AE2-4228-8792-9CD94D52F1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73F590-CC07-4CDF-AF72-311C97F45E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b9c0c718c24f7f" /><Relationship Type="http://schemas.openxmlformats.org/officeDocument/2006/relationships/slideLayout" Target="/ppt/slideLayouts/slideLayout1.xml" Id="R439d859071164981" /><Relationship Type="http://schemas.openxmlformats.org/officeDocument/2006/relationships/slideLayout" Target="/ppt/slideLayouts/slideLayout2.xml" Id="R057eab538c424452" /><Relationship Type="http://schemas.openxmlformats.org/officeDocument/2006/relationships/slideLayout" Target="/ppt/slideLayouts/slideLayout3.xml" Id="Rccfb4944d05c4833" /><Relationship Type="http://schemas.openxmlformats.org/officeDocument/2006/relationships/slideLayout" Target="/ppt/slideLayouts/slideLayout4.xml" Id="R20c18de85ef54a71" /><Relationship Type="http://schemas.openxmlformats.org/officeDocument/2006/relationships/slideLayout" Target="/ppt/slideLayouts/slideLayout5.xml" Id="Rb492760e82ca41d2" /><Relationship Type="http://schemas.openxmlformats.org/officeDocument/2006/relationships/slideLayout" Target="/ppt/slideLayouts/slideLayout6.xml" Id="R85522e6abcc542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9d859071164981"/>
    <p:sldLayoutId xmlns:r="http://schemas.openxmlformats.org/officeDocument/2006/relationships" id="2147483650" r:id="R057eab538c424452"/>
    <p:sldLayoutId xmlns:r="http://schemas.openxmlformats.org/officeDocument/2006/relationships" id="2147483651" r:id="Rccfb4944d05c4833"/>
    <p:sldLayoutId xmlns:r="http://schemas.openxmlformats.org/officeDocument/2006/relationships" id="2147483652" r:id="R20c18de85ef54a71"/>
    <p:sldLayoutId xmlns:r="http://schemas.openxmlformats.org/officeDocument/2006/relationships" id="2147483653" r:id="Rb492760e82ca41d2"/>
    <p:sldLayoutId xmlns:r="http://schemas.openxmlformats.org/officeDocument/2006/relationships" id="2147483654" r:id="R85522e6abcc542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cfe119b7f864564" /><Relationship Type="http://schemas.openxmlformats.org/officeDocument/2006/relationships/notesSlide" Target="/ppt/notesSlides/notesSlide1.xml" Id="Rccff58305acf44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019912ae95e4db2" /><Relationship Type="http://schemas.openxmlformats.org/officeDocument/2006/relationships/notesSlide" Target="/ppt/notesSlides/notesSlide2.xml" Id="R0e0aca08aa084e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e220867524b4716" /><Relationship Type="http://schemas.openxmlformats.org/officeDocument/2006/relationships/notesSlide" Target="/ppt/notesSlides/notesSlide3.xml" Id="R383eee1bd31348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8eb122a1432405b" /><Relationship Type="http://schemas.openxmlformats.org/officeDocument/2006/relationships/notesSlide" Target="/ppt/notesSlides/notesSlide4.xml" Id="R4ecc01e74d1743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c810baaf23a43bf" /><Relationship Type="http://schemas.openxmlformats.org/officeDocument/2006/relationships/notesSlide" Target="/ppt/notesSlides/notesSlide5.xml" Id="R717e629ba7824c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5688b3ec27d42ac" /><Relationship Type="http://schemas.openxmlformats.org/officeDocument/2006/relationships/notesSlide" Target="/ppt/notesSlides/notesSlide6.xml" Id="Rb7bd93b518ba40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a22463ea8294f97" /><Relationship Type="http://schemas.openxmlformats.org/officeDocument/2006/relationships/notesSlide" Target="/ppt/notesSlides/notesSlide7.xml" Id="R5772f21b428d41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ba6e3daf984f9b" /><Relationship Type="http://schemas.openxmlformats.org/officeDocument/2006/relationships/notesSlide" Target="/ppt/notesSlides/notesSlide8.xml" Id="R06d6ed2ea33041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0509cac1b414cde" /><Relationship Type="http://schemas.openxmlformats.org/officeDocument/2006/relationships/notesSlide" Target="/ppt/notesSlides/notesSlide9.xml" Id="Rf85683ecc9d54f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7a4f72faced42e9" /><Relationship Type="http://schemas.openxmlformats.org/officeDocument/2006/relationships/notesSlide" Target="/ppt/notesSlides/notesSlide10.xml" Id="R52d58b752cdf46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20852cf12d640d9" /><Relationship Type="http://schemas.openxmlformats.org/officeDocument/2006/relationships/notesSlide" Target="/ppt/notesSlides/notesSlide11.xml" Id="Rf30b84c0e8ad43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19562850d6e44c7" /><Relationship Type="http://schemas.openxmlformats.org/officeDocument/2006/relationships/notesSlide" Target="/ppt/notesSlides/notesSlide12.xml" Id="R778d329e7b564e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477b783f39048cc" /><Relationship Type="http://schemas.openxmlformats.org/officeDocument/2006/relationships/notesSlide" Target="/ppt/notesSlides/notesSlide13.xml" Id="R85f133ef28bb4a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92cd6105765412d" /><Relationship Type="http://schemas.openxmlformats.org/officeDocument/2006/relationships/notesSlide" Target="/ppt/notesSlides/notesSlide14.xml" Id="Rc11b94e7e1a9474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6c43b9fba964711" /><Relationship Type="http://schemas.openxmlformats.org/officeDocument/2006/relationships/notesSlide" Target="/ppt/notesSlides/notesSlide15.xml" Id="R3f372e35858941f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bf233f72f76423b" /><Relationship Type="http://schemas.openxmlformats.org/officeDocument/2006/relationships/notesSlide" Target="/ppt/notesSlides/notesSlide16.xml" Id="R1ead2640d27d494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ef7d10b44694138" /><Relationship Type="http://schemas.openxmlformats.org/officeDocument/2006/relationships/chart" Target="/ppt/slides/charts/chart1.xml" Id="Ra4c9991e2d7149f9" /><Relationship Type="http://schemas.openxmlformats.org/officeDocument/2006/relationships/notesSlide" Target="/ppt/notesSlides/notesSlide17.xml" Id="R78d8319df121463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d2d2783ea6d24784" /><Relationship Type="http://schemas.openxmlformats.org/officeDocument/2006/relationships/notesSlide" Target="/ppt/notesSlides/notesSlide18.xml" Id="R116438160bb549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4faf02d13e344e2" /><Relationship Type="http://schemas.openxmlformats.org/officeDocument/2006/relationships/notesSlide" Target="/ppt/notesSlides/notesSlide19.xml" Id="R04e567f683a44f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c917d30e741442a" /><Relationship Type="http://schemas.openxmlformats.org/officeDocument/2006/relationships/notesSlide" Target="/ppt/notesSlides/notesSlide20.xml" Id="Rd1ead1945fa4441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ddeffe363494523" /><Relationship Type="http://schemas.openxmlformats.org/officeDocument/2006/relationships/notesSlide" Target="/ppt/notesSlides/notesSlide21.xml" Id="Ra765d640ce35471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c5d60e88fca4a4d" /><Relationship Type="http://schemas.openxmlformats.org/officeDocument/2006/relationships/notesSlide" Target="/ppt/notesSlides/notesSlide22.xml" Id="R5fc996a54cc84bd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58edc53c932477c" /><Relationship Type="http://schemas.openxmlformats.org/officeDocument/2006/relationships/notesSlide" Target="/ppt/notesSlides/notesSlide23.xml" Id="R7608c0c5363041d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5d80784101a4180" /><Relationship Type="http://schemas.openxmlformats.org/officeDocument/2006/relationships/notesSlide" Target="/ppt/notesSlides/notesSlide24.xml" Id="R82dda6f8c3fe47f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a7fa3cba1d654fe7" /><Relationship Type="http://schemas.openxmlformats.org/officeDocument/2006/relationships/notesSlide" Target="/ppt/notesSlides/notesSlide25.xml" Id="Rf0385627e04e4cf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06a7abc678943cc" /><Relationship Type="http://schemas.openxmlformats.org/officeDocument/2006/relationships/notesSlide" Target="/ppt/notesSlides/notesSlide26.xml" Id="Rc6da3aec407c42d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1fc58371f544775" /><Relationship Type="http://schemas.openxmlformats.org/officeDocument/2006/relationships/notesSlide" Target="/ppt/notesSlides/notesSlide27.xml" Id="Rb7fcf5f1ab72436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a27ab9fbcaa4260" /><Relationship Type="http://schemas.openxmlformats.org/officeDocument/2006/relationships/notesSlide" Target="/ppt/notesSlides/notesSlide28.xml" Id="Ra291414f6444441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632a350282a40bf" /><Relationship Type="http://schemas.openxmlformats.org/officeDocument/2006/relationships/notesSlide" Target="/ppt/notesSlides/notesSlide29.xml" Id="Rc5e15307ab4b4db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29246b1a7424ad8" /><Relationship Type="http://schemas.openxmlformats.org/officeDocument/2006/relationships/notesSlide" Target="/ppt/notesSlides/notesSlide30.xml" Id="Ra97b6441f0d34fb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bc18e9c79e544c90" /><Relationship Type="http://schemas.openxmlformats.org/officeDocument/2006/relationships/notesSlide" Target="/ppt/notesSlides/notesSlide31.xml" Id="R7e34813f6ab5498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8687eb8f2a44290" /><Relationship Type="http://schemas.openxmlformats.org/officeDocument/2006/relationships/notesSlide" Target="/ppt/notesSlides/notesSlide32.xml" Id="Rf6ab0d0d75704ed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c5b54b8d0a0439b" /><Relationship Type="http://schemas.openxmlformats.org/officeDocument/2006/relationships/notesSlide" Target="/ppt/notesSlides/notesSlide33.xml" Id="Rac6ca00e4034496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8778447ee524ea5" /><Relationship Type="http://schemas.openxmlformats.org/officeDocument/2006/relationships/notesSlide" Target="/ppt/notesSlides/notesSlide34.xml" Id="Rac51893d7b51464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e2c45d88bac74f40" /><Relationship Type="http://schemas.openxmlformats.org/officeDocument/2006/relationships/notesSlide" Target="/ppt/notesSlides/notesSlide35.xml" Id="Rb43a1534794042d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20e75f6f606d4ef6" /><Relationship Type="http://schemas.openxmlformats.org/officeDocument/2006/relationships/notesSlide" Target="/ppt/notesSlides/notesSlide36.xml" Id="Rd2822de6717e411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Exact notes /24</c:v>
          </c:tx>
          <c:spPr>
            <a:solidFill xmlns:a="http://schemas.openxmlformats.org/drawingml/2006/main">
              <a:srgbClr val="AF6527"/>
            </a:solidFill>
          </c:spPr>
          <c:invertIfNegative val="0"/>
          <c:cat>
            <c:strRef>
              <c:f>'Chart Data'!$A$2:$A$9</c:f>
              <c:strCache>
                <c:ptCount val="8"/>
                <c:pt idx="0">
                  <c:v>Embedding</c:v>
                </c:pt>
                <c:pt idx="1">
                  <c:v>1 head</c:v>
                </c:pt>
                <c:pt idx="2">
                  <c:v>4 heads</c:v>
                </c:pt>
                <c:pt idx="3">
                  <c:v>1 block</c:v>
                </c:pt>
                <c:pt idx="4">
                  <c:v>2 blocks</c:v>
                </c:pt>
                <c:pt idx="5">
                  <c:v>No FFN</c:v>
                </c:pt>
                <c:pt idx="6">
                  <c:v>No norm</c:v>
                </c:pt>
                <c:pt idx="7">
                  <c:v>No residual</c:v>
                </c:pt>
              </c:strCache>
            </c:strRef>
          </c:cat>
          <c:val>
            <c:numRef>
              <c:f>'Chart Data'!$B$2:$B$9</c:f>
              <c:numCache>
                <c:formatCode>0</c:formatCode>
                <c:ptCount val="8"/>
                <c:pt idx="0">
                  <c:v>2</c:v>
                </c:pt>
                <c:pt idx="1">
                  <c:v>22</c:v>
                </c:pt>
                <c:pt idx="2">
                  <c:v>20</c:v>
                </c:pt>
                <c:pt idx="3">
                  <c:v>23</c:v>
                </c:pt>
                <c:pt idx="4">
                  <c:v>23</c:v>
                </c:pt>
                <c:pt idx="5">
                  <c:v>23</c:v>
                </c:pt>
                <c:pt idx="6">
                  <c:v>23</c:v>
                </c:pt>
                <c:pt idx="7">
                  <c:v>24</c:v>
                </c:pt>
              </c:numCache>
            </c:numRef>
          </c:val>
        </c:ser>
        <c:ser>
          <c:idx val="1"/>
          <c:order val="1"/>
          <c:tx>
            <c:v>Clinical associations /24</c:v>
          </c:tx>
          <c:spPr>
            <a:solidFill xmlns:a="http://schemas.openxmlformats.org/drawingml/2006/main">
              <a:srgbClr val="267C79"/>
            </a:solidFill>
          </c:spPr>
          <c:invertIfNegative val="0"/>
          <c:cat>
            <c:strRef>
              <c:f>'Chart Data'!$C$2:$C$9</c:f>
              <c:strCache>
                <c:ptCount val="8"/>
                <c:pt idx="0">
                  <c:v>Embedding</c:v>
                </c:pt>
                <c:pt idx="1">
                  <c:v>1 head</c:v>
                </c:pt>
                <c:pt idx="2">
                  <c:v>4 heads</c:v>
                </c:pt>
                <c:pt idx="3">
                  <c:v>1 block</c:v>
                </c:pt>
                <c:pt idx="4">
                  <c:v>2 blocks</c:v>
                </c:pt>
                <c:pt idx="5">
                  <c:v>No FFN</c:v>
                </c:pt>
                <c:pt idx="6">
                  <c:v>No norm</c:v>
                </c:pt>
                <c:pt idx="7">
                  <c:v>No residual</c:v>
                </c:pt>
              </c:strCache>
            </c:strRef>
          </c:cat>
          <c:val>
            <c:numRef>
              <c:f>'Chart Data'!$D$2:$D$9</c:f>
              <c:numCache>
                <c:formatCode>0</c:formatCode>
                <c:ptCount val="8"/>
                <c:pt idx="0">
                  <c:v>1</c:v>
                </c:pt>
                <c:pt idx="1">
                  <c:v>23</c:v>
                </c:pt>
                <c:pt idx="2">
                  <c:v>21</c:v>
                </c:pt>
                <c:pt idx="3">
                  <c:v>24</c:v>
                </c:pt>
                <c:pt idx="4">
                  <c:v>23</c:v>
                </c:pt>
                <c:pt idx="5">
                  <c:v>24</c:v>
                </c:pt>
                <c:pt idx="6">
                  <c:v>23</c:v>
                </c:pt>
                <c:pt idx="7">
                  <c:v>24</c:v>
                </c:pt>
              </c:numCache>
            </c:numRef>
          </c: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Calibri"/>
                <a:ea typeface="Calibri"/>
                <a:cs typeface="Calibri"/>
              </a:defRPr>
            </a:pPr>
          </a:p>
        </c:txPr>
        <c:crossAx val="48672768"/>
      </c:catAx>
      <c:valAx>
        <c:axId val="48672768"/>
        <c:scaling>
          <c:orientation val="minMax"/>
          <c:max val="24"/>
          <c:min val="0"/>
        </c:scaling>
        <c:delete val="0"/>
        <c:axPos val="l"/>
        <c:majorGridlines>
          <c:spPr>
            <a:ln xmlns:a="http://schemas.openxmlformats.org/drawingml/2006/main" w="6668">
              <a:solidFill>
                <a:srgbClr val="D2D5D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Calibri"/>
                <a:ea typeface="Calibri"/>
                <a:cs typeface="Calibri"/>
              </a:defRPr>
            </a:pPr>
          </a:p>
        </c:txPr>
        <c:crossAx val="48650112"/>
        <c:crossBetween val="between"/>
        <c:majorUnit val="6"/>
      </c:valAx>
      <c:spPr>
        <a:solidFill xmlns:a="http://schemas.openxmlformats.org/drawingml/2006/main">
          <a:srgbClr val="F5F2EB"/>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legend>
    <c:plotVisOnly val="1"/>
  </c:chart>
  <c:spPr>
    <a:solidFill xmlns:a="http://schemas.openxmlformats.org/drawingml/2006/main">
      <a:srgbClr val="F5F2EB"/>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D3C"/>
        </a:solidFill>
      </p:bgPr>
    </p:bg>
    <p:spTree>
      <p:nvGrpSpPr>
        <p:cNvPr id="1" name=""/>
        <p:cNvGrpSpPr/>
        <p:nvPr/>
      </p:nvGrpSpPr>
      <p:grpSpPr>
        <a:xfrm xmlns:a="http://schemas.openxmlformats.org/drawingml/2006/main"/>
      </p:grpSpPr>
      <p:sp>
        <p:nvSpPr>
          <p:cNvPr id="5" name="body">
            <a:extLst xmlns:a="http://schemas.openxmlformats.org/drawingml/2006/main">
              <a:ext uri="{FF2B5EF4-FFF2-40B4-BE49-F238E27FC236}">
                <a16:creationId xmlns:a16="http://schemas.microsoft.com/office/drawing/2014/main" id="{F30D587E-EFCD-4636-B4DB-C9C1EAA7F3E8}"/>
              </a:ext>
            </a:extLst>
          </p:cNvPr>
          <p:cNvSpPr>
            <a:spLocks xmlns:a="http://schemas.openxmlformats.org/drawingml/2006/main" noGrp="1"/>
          </p:cNvSpPr>
          <p:nvPr/>
        </p:nvSpPr>
        <p:spPr>
          <a:xfrm xmlns:a="http://schemas.openxmlformats.org/drawingml/2006/main">
            <a:off x="723900" y="8096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DAB58F"/>
                </a:solidFill>
                <a:latin typeface="Calibri"/>
                <a:ea typeface="Calibri"/>
                <a:cs typeface="Calibri"/>
              </a:defRPr>
            </a:defPPr>
            <a:lvl1pPr>
              <a:defRPr sz="1800" b="0">
                <a:solidFill>
                  <a:srgbClr val="DAB58F"/>
                </a:solidFill>
                <a:latin typeface="Calibri"/>
                <a:ea typeface="Calibri"/>
                <a:cs typeface="Calibri"/>
              </a:defRPr>
            </a:lvl1pPr>
            <a:lvl2pPr>
              <a:defRPr sz="1800" b="0">
                <a:solidFill>
                  <a:srgbClr val="DAB58F"/>
                </a:solidFill>
                <a:latin typeface="Calibri"/>
                <a:ea typeface="Calibri"/>
                <a:cs typeface="Calibri"/>
              </a:defRPr>
            </a:lvl2pPr>
            <a:lvl3pPr>
              <a:defRPr sz="1800" b="0">
                <a:solidFill>
                  <a:srgbClr val="DAB58F"/>
                </a:solidFill>
                <a:latin typeface="Calibri"/>
                <a:ea typeface="Calibri"/>
                <a:cs typeface="Calibri"/>
              </a:defRPr>
            </a:lvl3pPr>
            <a:lvl4pPr>
              <a:defRPr sz="1800" b="0">
                <a:solidFill>
                  <a:srgbClr val="DAB58F"/>
                </a:solidFill>
                <a:latin typeface="Calibri"/>
                <a:ea typeface="Calibri"/>
                <a:cs typeface="Calibri"/>
              </a:defRPr>
            </a:lvl4pPr>
            <a:lvl5pPr>
              <a:defRPr sz="1800" b="0">
                <a:solidFill>
                  <a:srgbClr val="DAB58F"/>
                </a:solidFill>
                <a:latin typeface="Calibri"/>
                <a:ea typeface="Calibri"/>
                <a:cs typeface="Calibri"/>
              </a:defRPr>
            </a:lvl5pPr>
            <a:lvl6pPr>
              <a:defRPr sz="1800" b="0">
                <a:solidFill>
                  <a:srgbClr val="DAB58F"/>
                </a:solidFill>
                <a:latin typeface="Calibri"/>
                <a:ea typeface="Calibri"/>
                <a:cs typeface="Calibri"/>
              </a:defRPr>
            </a:lvl6pPr>
            <a:lvl7pPr>
              <a:defRPr sz="1800" b="0">
                <a:solidFill>
                  <a:srgbClr val="DAB58F"/>
                </a:solidFill>
                <a:latin typeface="Calibri"/>
                <a:ea typeface="Calibri"/>
                <a:cs typeface="Calibri"/>
              </a:defRPr>
            </a:lvl7pPr>
            <a:lvl8pPr>
              <a:defRPr sz="1800" b="0">
                <a:solidFill>
                  <a:srgbClr val="DAB58F"/>
                </a:solidFill>
                <a:latin typeface="Calibri"/>
                <a:ea typeface="Calibri"/>
                <a:cs typeface="Calibri"/>
              </a:defRPr>
            </a:lvl8pPr>
            <a:lvl9pPr>
              <a:defRPr sz="1800" b="0">
                <a:solidFill>
                  <a:srgbClr val="DAB58F"/>
                </a:solidFill>
                <a:latin typeface="Calibri"/>
                <a:ea typeface="Calibri"/>
                <a:cs typeface="Calibri"/>
              </a:defRPr>
            </a:lvl9pPr>
          </a:lstStyle>
          <a:p xmlns:a="http://schemas.openxmlformats.org/drawingml/2006/main">
            <a:pPr>
              <a:defRPr sz="1800" b="0">
                <a:solidFill>
                  <a:srgbClr val="DAB58F"/>
                </a:solidFill>
                <a:latin typeface="Calibri"/>
                <a:ea typeface="Calibri"/>
                <a:cs typeface="Calibri"/>
              </a:defRPr>
            </a:pPr>
            <a:r>
              <a:rPr sz="1800" b="0">
                <a:solidFill>
                  <a:srgbClr val="DAB58F"/>
                </a:solidFill>
                <a:latin typeface="Calibri"/>
                <a:ea typeface="Calibri"/>
                <a:cs typeface="Calibri"/>
              </a:rPr>
              <a:t>AI Learning Lab</a:t>
            </a:r>
          </a:p>
        </p:txBody>
      </p:sp>
      <p:sp>
        <p:nvSpPr>
          <p:cNvPr id="2" name="heading">
            <a:extLst xmlns:a="http://schemas.openxmlformats.org/drawingml/2006/main">
              <a:ext uri="{FF2B5EF4-FFF2-40B4-BE49-F238E27FC236}">
                <a16:creationId xmlns:a16="http://schemas.microsoft.com/office/drawing/2014/main" id="{FCACB7BB-0D5A-4AB9-B5C7-0BCCC1DE803E}"/>
              </a:ext>
            </a:extLst>
          </p:cNvPr>
          <p:cNvSpPr>
            <a:spLocks xmlns:a="http://schemas.openxmlformats.org/drawingml/2006/main" noGrp="1"/>
          </p:cNvSpPr>
          <p:nvPr/>
        </p:nvSpPr>
        <p:spPr>
          <a:xfrm xmlns:a="http://schemas.openxmlformats.org/drawingml/2006/main">
            <a:off x="685800" y="2047875"/>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00" b="1">
                <a:solidFill>
                  <a:srgbClr val="F9F7F1"/>
                </a:solidFill>
                <a:latin typeface="Calibri"/>
                <a:ea typeface="Calibri"/>
                <a:cs typeface="Calibri"/>
              </a:defRPr>
            </a:defPPr>
            <a:lvl1pPr>
              <a:defRPr sz="7800" b="1">
                <a:solidFill>
                  <a:srgbClr val="F9F7F1"/>
                </a:solidFill>
                <a:latin typeface="Calibri"/>
                <a:ea typeface="Calibri"/>
                <a:cs typeface="Calibri"/>
              </a:defRPr>
            </a:lvl1pPr>
            <a:lvl2pPr>
              <a:defRPr sz="7800" b="1">
                <a:solidFill>
                  <a:srgbClr val="F9F7F1"/>
                </a:solidFill>
                <a:latin typeface="Calibri"/>
                <a:ea typeface="Calibri"/>
                <a:cs typeface="Calibri"/>
              </a:defRPr>
            </a:lvl2pPr>
            <a:lvl3pPr>
              <a:defRPr sz="7800" b="1">
                <a:solidFill>
                  <a:srgbClr val="F9F7F1"/>
                </a:solidFill>
                <a:latin typeface="Calibri"/>
                <a:ea typeface="Calibri"/>
                <a:cs typeface="Calibri"/>
              </a:defRPr>
            </a:lvl3pPr>
            <a:lvl4pPr>
              <a:defRPr sz="7800" b="1">
                <a:solidFill>
                  <a:srgbClr val="F9F7F1"/>
                </a:solidFill>
                <a:latin typeface="Calibri"/>
                <a:ea typeface="Calibri"/>
                <a:cs typeface="Calibri"/>
              </a:defRPr>
            </a:lvl4pPr>
            <a:lvl5pPr>
              <a:defRPr sz="7800" b="1">
                <a:solidFill>
                  <a:srgbClr val="F9F7F1"/>
                </a:solidFill>
                <a:latin typeface="Calibri"/>
                <a:ea typeface="Calibri"/>
                <a:cs typeface="Calibri"/>
              </a:defRPr>
            </a:lvl5pPr>
            <a:lvl6pPr>
              <a:defRPr sz="7800" b="1">
                <a:solidFill>
                  <a:srgbClr val="F9F7F1"/>
                </a:solidFill>
                <a:latin typeface="Calibri"/>
                <a:ea typeface="Calibri"/>
                <a:cs typeface="Calibri"/>
              </a:defRPr>
            </a:lvl6pPr>
            <a:lvl7pPr>
              <a:defRPr sz="7800" b="1">
                <a:solidFill>
                  <a:srgbClr val="F9F7F1"/>
                </a:solidFill>
                <a:latin typeface="Calibri"/>
                <a:ea typeface="Calibri"/>
                <a:cs typeface="Calibri"/>
              </a:defRPr>
            </a:lvl7pPr>
            <a:lvl8pPr>
              <a:defRPr sz="7800" b="1">
                <a:solidFill>
                  <a:srgbClr val="F9F7F1"/>
                </a:solidFill>
                <a:latin typeface="Calibri"/>
                <a:ea typeface="Calibri"/>
                <a:cs typeface="Calibri"/>
              </a:defRPr>
            </a:lvl8pPr>
            <a:lvl9pPr>
              <a:defRPr sz="7800" b="1">
                <a:solidFill>
                  <a:srgbClr val="F9F7F1"/>
                </a:solidFill>
                <a:latin typeface="Calibri"/>
                <a:ea typeface="Calibri"/>
                <a:cs typeface="Calibri"/>
              </a:defRPr>
            </a:lvl9pPr>
          </a:lstStyle>
          <a:p xmlns:a="http://schemas.openxmlformats.org/drawingml/2006/main">
            <a:pPr>
              <a:defRPr sz="7800" b="1">
                <a:solidFill>
                  <a:srgbClr val="F9F7F1"/>
                </a:solidFill>
                <a:latin typeface="Calibri"/>
                <a:ea typeface="Calibri"/>
                <a:cs typeface="Calibri"/>
              </a:defRPr>
            </a:pPr>
            <a:r>
              <a:rPr sz="7800" b="1">
                <a:solidFill>
                  <a:srgbClr val="F9F7F1"/>
                </a:solidFill>
                <a:latin typeface="Calibri"/>
                <a:ea typeface="Calibri"/>
                <a:cs typeface="Calibri"/>
              </a:rPr>
              <a:t>Tiny Mitra</a:t>
            </a:r>
          </a:p>
        </p:txBody>
      </p:sp>
      <p:sp>
        <p:nvSpPr>
          <p:cNvPr id="3" name="body">
            <a:extLst xmlns:a="http://schemas.openxmlformats.org/drawingml/2006/main">
              <a:ext uri="{FF2B5EF4-FFF2-40B4-BE49-F238E27FC236}">
                <a16:creationId xmlns:a16="http://schemas.microsoft.com/office/drawing/2014/main" id="{3552CDD3-22F1-4A2C-A251-914045F363D7}"/>
              </a:ext>
            </a:extLst>
          </p:cNvPr>
          <p:cNvSpPr>
            <a:spLocks xmlns:a="http://schemas.openxmlformats.org/drawingml/2006/main" noGrp="1"/>
          </p:cNvSpPr>
          <p:nvPr/>
        </p:nvSpPr>
        <p:spPr>
          <a:xfrm xmlns:a="http://schemas.openxmlformats.org/drawingml/2006/main">
            <a:off x="733425" y="3505200"/>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150" b="0">
                <a:solidFill>
                  <a:srgbClr val="F9F7F1"/>
                </a:solidFill>
                <a:latin typeface="Calibri"/>
                <a:ea typeface="Calibri"/>
                <a:cs typeface="Calibri"/>
              </a:defRPr>
            </a:defPPr>
            <a:lvl1pPr>
              <a:defRPr sz="3150" b="0">
                <a:solidFill>
                  <a:srgbClr val="F9F7F1"/>
                </a:solidFill>
                <a:latin typeface="Calibri"/>
                <a:ea typeface="Calibri"/>
                <a:cs typeface="Calibri"/>
              </a:defRPr>
            </a:lvl1pPr>
            <a:lvl2pPr>
              <a:defRPr sz="3150" b="0">
                <a:solidFill>
                  <a:srgbClr val="F9F7F1"/>
                </a:solidFill>
                <a:latin typeface="Calibri"/>
                <a:ea typeface="Calibri"/>
                <a:cs typeface="Calibri"/>
              </a:defRPr>
            </a:lvl2pPr>
            <a:lvl3pPr>
              <a:defRPr sz="3150" b="0">
                <a:solidFill>
                  <a:srgbClr val="F9F7F1"/>
                </a:solidFill>
                <a:latin typeface="Calibri"/>
                <a:ea typeface="Calibri"/>
                <a:cs typeface="Calibri"/>
              </a:defRPr>
            </a:lvl3pPr>
            <a:lvl4pPr>
              <a:defRPr sz="3150" b="0">
                <a:solidFill>
                  <a:srgbClr val="F9F7F1"/>
                </a:solidFill>
                <a:latin typeface="Calibri"/>
                <a:ea typeface="Calibri"/>
                <a:cs typeface="Calibri"/>
              </a:defRPr>
            </a:lvl4pPr>
            <a:lvl5pPr>
              <a:defRPr sz="3150" b="0">
                <a:solidFill>
                  <a:srgbClr val="F9F7F1"/>
                </a:solidFill>
                <a:latin typeface="Calibri"/>
                <a:ea typeface="Calibri"/>
                <a:cs typeface="Calibri"/>
              </a:defRPr>
            </a:lvl5pPr>
            <a:lvl6pPr>
              <a:defRPr sz="3150" b="0">
                <a:solidFill>
                  <a:srgbClr val="F9F7F1"/>
                </a:solidFill>
                <a:latin typeface="Calibri"/>
                <a:ea typeface="Calibri"/>
                <a:cs typeface="Calibri"/>
              </a:defRPr>
            </a:lvl6pPr>
            <a:lvl7pPr>
              <a:defRPr sz="3150" b="0">
                <a:solidFill>
                  <a:srgbClr val="F9F7F1"/>
                </a:solidFill>
                <a:latin typeface="Calibri"/>
                <a:ea typeface="Calibri"/>
                <a:cs typeface="Calibri"/>
              </a:defRPr>
            </a:lvl7pPr>
            <a:lvl8pPr>
              <a:defRPr sz="3150" b="0">
                <a:solidFill>
                  <a:srgbClr val="F9F7F1"/>
                </a:solidFill>
                <a:latin typeface="Calibri"/>
                <a:ea typeface="Calibri"/>
                <a:cs typeface="Calibri"/>
              </a:defRPr>
            </a:lvl8pPr>
            <a:lvl9pPr>
              <a:defRPr sz="3150" b="0">
                <a:solidFill>
                  <a:srgbClr val="F9F7F1"/>
                </a:solidFill>
                <a:latin typeface="Calibri"/>
                <a:ea typeface="Calibri"/>
                <a:cs typeface="Calibri"/>
              </a:defRPr>
            </a:lvl9pPr>
          </a:lstStyle>
          <a:p xmlns:a="http://schemas.openxmlformats.org/drawingml/2006/main">
            <a:pPr>
              <a:defRPr sz="3150" b="0">
                <a:solidFill>
                  <a:srgbClr val="F9F7F1"/>
                </a:solidFill>
                <a:latin typeface="Calibri"/>
                <a:ea typeface="Calibri"/>
                <a:cs typeface="Calibri"/>
              </a:defRPr>
            </a:pPr>
            <a:r>
              <a:rPr sz="3150" b="0">
                <a:solidFill>
                  <a:srgbClr val="F9F7F1"/>
                </a:solidFill>
                <a:latin typeface="Calibri"/>
                <a:ea typeface="Calibri"/>
                <a:cs typeface="Calibri"/>
              </a:rPr>
              <a:t>A GPT built from primitives</a:t>
            </a:r>
          </a:p>
          <a:p xmlns:a="http://schemas.openxmlformats.org/drawingml/2006/main">
            <a:pPr>
              <a:defRPr sz="3150" b="0">
                <a:solidFill>
                  <a:srgbClr val="F9F7F1"/>
                </a:solidFill>
                <a:latin typeface="Calibri"/>
                <a:ea typeface="Calibri"/>
                <a:cs typeface="Calibri"/>
              </a:defRPr>
            </a:pPr>
            <a:r>
              <a:rPr sz="3150" b="0">
                <a:solidFill>
                  <a:srgbClr val="F9F7F1"/>
                </a:solidFill>
                <a:latin typeface="Calibri"/>
                <a:ea typeface="Calibri"/>
                <a:cs typeface="Calibri"/>
              </a:rPr>
              <a:t>for synthetic note transformation</a:t>
            </a:r>
          </a:p>
        </p:txBody>
      </p:sp>
      <p:sp>
        <p:nvSpPr>
          <p:cNvPr id="4" name="body">
            <a:extLst xmlns:a="http://schemas.openxmlformats.org/drawingml/2006/main">
              <a:ext uri="{FF2B5EF4-FFF2-40B4-BE49-F238E27FC236}">
                <a16:creationId xmlns:a16="http://schemas.microsoft.com/office/drawing/2014/main" id="{3A0622D2-8382-4B38-B788-3A50DB67F8F4}"/>
              </a:ext>
            </a:extLst>
          </p:cNvPr>
          <p:cNvSpPr>
            <a:spLocks xmlns:a="http://schemas.openxmlformats.org/drawingml/2006/main" noGrp="1"/>
          </p:cNvSpPr>
          <p:nvPr/>
        </p:nvSpPr>
        <p:spPr>
          <a:xfrm xmlns:a="http://schemas.openxmlformats.org/drawingml/2006/main">
            <a:off x="733425" y="5962650"/>
            <a:ext cx="952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CAD7D8"/>
                </a:solidFill>
                <a:latin typeface="Calibri"/>
                <a:ea typeface="Calibri"/>
                <a:cs typeface="Calibri"/>
              </a:defRPr>
            </a:defPPr>
            <a:lvl1pPr>
              <a:defRPr sz="1575" b="0">
                <a:solidFill>
                  <a:srgbClr val="CAD7D8"/>
                </a:solidFill>
                <a:latin typeface="Calibri"/>
                <a:ea typeface="Calibri"/>
                <a:cs typeface="Calibri"/>
              </a:defRPr>
            </a:lvl1pPr>
            <a:lvl2pPr>
              <a:defRPr sz="1575" b="0">
                <a:solidFill>
                  <a:srgbClr val="CAD7D8"/>
                </a:solidFill>
                <a:latin typeface="Calibri"/>
                <a:ea typeface="Calibri"/>
                <a:cs typeface="Calibri"/>
              </a:defRPr>
            </a:lvl2pPr>
            <a:lvl3pPr>
              <a:defRPr sz="1575" b="0">
                <a:solidFill>
                  <a:srgbClr val="CAD7D8"/>
                </a:solidFill>
                <a:latin typeface="Calibri"/>
                <a:ea typeface="Calibri"/>
                <a:cs typeface="Calibri"/>
              </a:defRPr>
            </a:lvl3pPr>
            <a:lvl4pPr>
              <a:defRPr sz="1575" b="0">
                <a:solidFill>
                  <a:srgbClr val="CAD7D8"/>
                </a:solidFill>
                <a:latin typeface="Calibri"/>
                <a:ea typeface="Calibri"/>
                <a:cs typeface="Calibri"/>
              </a:defRPr>
            </a:lvl4pPr>
            <a:lvl5pPr>
              <a:defRPr sz="1575" b="0">
                <a:solidFill>
                  <a:srgbClr val="CAD7D8"/>
                </a:solidFill>
                <a:latin typeface="Calibri"/>
                <a:ea typeface="Calibri"/>
                <a:cs typeface="Calibri"/>
              </a:defRPr>
            </a:lvl5pPr>
            <a:lvl6pPr>
              <a:defRPr sz="1575" b="0">
                <a:solidFill>
                  <a:srgbClr val="CAD7D8"/>
                </a:solidFill>
                <a:latin typeface="Calibri"/>
                <a:ea typeface="Calibri"/>
                <a:cs typeface="Calibri"/>
              </a:defRPr>
            </a:lvl6pPr>
            <a:lvl7pPr>
              <a:defRPr sz="1575" b="0">
                <a:solidFill>
                  <a:srgbClr val="CAD7D8"/>
                </a:solidFill>
                <a:latin typeface="Calibri"/>
                <a:ea typeface="Calibri"/>
                <a:cs typeface="Calibri"/>
              </a:defRPr>
            </a:lvl7pPr>
            <a:lvl8pPr>
              <a:defRPr sz="1575" b="0">
                <a:solidFill>
                  <a:srgbClr val="CAD7D8"/>
                </a:solidFill>
                <a:latin typeface="Calibri"/>
                <a:ea typeface="Calibri"/>
                <a:cs typeface="Calibri"/>
              </a:defRPr>
            </a:lvl8pPr>
            <a:lvl9pPr>
              <a:defRPr sz="1575" b="0">
                <a:solidFill>
                  <a:srgbClr val="CAD7D8"/>
                </a:solidFill>
                <a:latin typeface="Calibri"/>
                <a:ea typeface="Calibri"/>
                <a:cs typeface="Calibri"/>
              </a:defRPr>
            </a:lvl9pPr>
          </a:lstStyle>
          <a:p xmlns:a="http://schemas.openxmlformats.org/drawingml/2006/main">
            <a:pPr>
              <a:defRPr sz="1575" b="0">
                <a:solidFill>
                  <a:srgbClr val="CAD7D8"/>
                </a:solidFill>
                <a:latin typeface="Calibri"/>
                <a:ea typeface="Calibri"/>
                <a:cs typeface="Calibri"/>
              </a:defRPr>
            </a:pPr>
            <a:r>
              <a:rPr sz="1575" b="0">
                <a:solidFill>
                  <a:srgbClr val="CAD7D8"/>
                </a:solidFill>
                <a:latin typeface="Calibri"/>
                <a:ea typeface="Calibri"/>
                <a:cs typeface="Calibri"/>
              </a:rPr>
              <a:t>Presentation     23 October 2026</a:t>
            </a:r>
          </a:p>
        </p:txBody>
      </p:sp>
    </p:spTree>
    <p:extLst>
      <p:ext uri="{BB962C8B-B14F-4D97-AF65-F5344CB8AC3E}">
        <p14:creationId xmlns:p14="http://schemas.microsoft.com/office/powerpoint/2010/main" val="1592997229"/>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F7DC53C9-1106-4493-B85D-D9FE2337570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Our learning journey</a:t>
            </a:r>
          </a:p>
        </p:txBody>
      </p:sp>
      <p:sp>
        <p:nvSpPr>
          <p:cNvPr id="2" name="subtitle">
            <a:extLst xmlns:a="http://schemas.openxmlformats.org/drawingml/2006/main">
              <a:ext uri="{FF2B5EF4-FFF2-40B4-BE49-F238E27FC236}">
                <a16:creationId xmlns:a16="http://schemas.microsoft.com/office/drawing/2014/main" id="{CA6ABB7A-5BC0-4DE9-B55A-5A965E0AAE73}"/>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Each week removed a limitation in the previous model</a:t>
            </a:r>
          </a:p>
        </p:txBody>
      </p:sp>
      <p:sp>
        <p:nvSpPr>
          <p:cNvPr id="3" name="page-number">
            <a:extLst xmlns:a="http://schemas.openxmlformats.org/drawingml/2006/main">
              <a:ext uri="{FF2B5EF4-FFF2-40B4-BE49-F238E27FC236}">
                <a16:creationId xmlns:a16="http://schemas.microsoft.com/office/drawing/2014/main" id="{DC31889D-D871-4D8C-87D3-1996108DFE9C}"/>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02</a:t>
            </a:r>
          </a:p>
        </p:txBody>
      </p:sp>
      <p:graphicFrame>
        <p:nvGraphicFramePr>
          <p:cNvPr id="4" name="">
            <a:extLst xmlns:a="http://schemas.openxmlformats.org/drawingml/2006/main">
              <a:ext uri="{FF2B5EF4-FFF2-40B4-BE49-F238E27FC236}">
                <a16:creationId xmlns:a16="http://schemas.microsoft.com/office/drawing/2014/main" id="{6EDBA5F9-EBC5-4CE9-A037-10B2934D005A}"/>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1381125"/>
                <a:gridCol w="4238625"/>
                <a:gridCol w="5200650"/>
              </a:tblGrid>
              <a:tr h="650875">
                <a:tc>
                  <a:txBody>
                    <a:bodyPr/>
                    <a:lstStyle/>
                    <a:p>
                      <a:r>
                        <a:rPr sz="1650" b="1">
                          <a:solidFill>
                            <a:srgbClr val="F9F7F1"/>
                          </a:solidFill>
                          <a:latin typeface="Calibri"/>
                          <a:ea typeface="Calibri"/>
                          <a:cs typeface="Calibri"/>
                        </a:rPr>
                        <a:t>Stage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we built or studied</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Why it matters for Mitra</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Week 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Forward pass, loss and learning</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Turn prediction errors into parameter updates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Tokenization and embeddings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Represent text as trainable vectors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3</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Causal self-attention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Use relevant earlier context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4</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Multiple attention heads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 several context distributions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Week 5</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Transformer blocks and ablations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Test what added components actually buy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291372940"/>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9" name="heading">
            <a:extLst xmlns:a="http://schemas.openxmlformats.org/drawingml/2006/main">
              <a:ext uri="{FF2B5EF4-FFF2-40B4-BE49-F238E27FC236}">
                <a16:creationId xmlns:a16="http://schemas.microsoft.com/office/drawing/2014/main" id="{2B0D9EAF-FBAC-4CE6-98DF-8075CFDE26D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The synthetic transformation task</a:t>
            </a:r>
          </a:p>
        </p:txBody>
      </p:sp>
      <p:sp>
        <p:nvSpPr>
          <p:cNvPr id="2" name="subtitle">
            <a:extLst xmlns:a="http://schemas.openxmlformats.org/drawingml/2006/main">
              <a:ext uri="{FF2B5EF4-FFF2-40B4-BE49-F238E27FC236}">
                <a16:creationId xmlns:a16="http://schemas.microsoft.com/office/drawing/2014/main" id="{68CEEC09-44EA-4DCA-A2A4-BD05ECA86E8C}"/>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Synthetic examples with an explicit redaction policy</a:t>
            </a:r>
          </a:p>
        </p:txBody>
      </p:sp>
      <p:sp>
        <p:nvSpPr>
          <p:cNvPr id="3" name="page-number">
            <a:extLst xmlns:a="http://schemas.openxmlformats.org/drawingml/2006/main">
              <a:ext uri="{FF2B5EF4-FFF2-40B4-BE49-F238E27FC236}">
                <a16:creationId xmlns:a16="http://schemas.microsoft.com/office/drawing/2014/main" id="{3FEC3170-476F-4CDC-B06D-1B6FC591FEE7}"/>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03</a:t>
            </a:r>
          </a:p>
        </p:txBody>
      </p:sp>
      <p:sp>
        <p:nvSpPr>
          <p:cNvPr id="4" name="body">
            <a:extLst xmlns:a="http://schemas.openxmlformats.org/drawingml/2006/main">
              <a:ext uri="{FF2B5EF4-FFF2-40B4-BE49-F238E27FC236}">
                <a16:creationId xmlns:a16="http://schemas.microsoft.com/office/drawing/2014/main" id="{7B068502-8779-4743-9F00-EEC844217A26}"/>
              </a:ext>
            </a:extLst>
          </p:cNvPr>
          <p:cNvSpPr>
            <a:spLocks xmlns:a="http://schemas.openxmlformats.org/drawingml/2006/main" noGrp="1"/>
          </p:cNvSpPr>
          <p:nvPr/>
        </p:nvSpPr>
        <p:spPr>
          <a:xfrm xmlns:a="http://schemas.openxmlformats.org/drawingml/2006/main">
            <a:off x="685800" y="2095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SOURCE NOTE</a:t>
            </a:r>
          </a:p>
        </p:txBody>
      </p:sp>
      <p:sp>
        <p:nvSpPr>
          <p:cNvPr id="5" name="body">
            <a:extLst xmlns:a="http://schemas.openxmlformats.org/drawingml/2006/main">
              <a:ext uri="{FF2B5EF4-FFF2-40B4-BE49-F238E27FC236}">
                <a16:creationId xmlns:a16="http://schemas.microsoft.com/office/drawing/2014/main" id="{C51BEE0F-1B99-47DE-8821-910E84D64AD9}"/>
              </a:ext>
            </a:extLst>
          </p:cNvPr>
          <p:cNvSpPr>
            <a:spLocks xmlns:a="http://schemas.openxmlformats.org/drawingml/2006/main" noGrp="1"/>
          </p:cNvSpPr>
          <p:nvPr/>
        </p:nvSpPr>
        <p:spPr>
          <a:xfrm xmlns:a="http://schemas.openxmlformats.org/drawingml/2006/main">
            <a:off x="685800" y="254317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John Smith VISITED Dr Jones ON January 12</a:t>
            </a:r>
          </a:p>
        </p:txBody>
      </p:sp>
      <p:sp>
        <p:nvSpPr>
          <p:cNvPr id="6" name="body">
            <a:extLst xmlns:a="http://schemas.openxmlformats.org/drawingml/2006/main">
              <a:ext uri="{FF2B5EF4-FFF2-40B4-BE49-F238E27FC236}">
                <a16:creationId xmlns:a16="http://schemas.microsoft.com/office/drawing/2014/main" id="{25211673-CD16-45D3-B9C6-73072501346A}"/>
              </a:ext>
            </a:extLst>
          </p:cNvPr>
          <p:cNvSpPr>
            <a:spLocks xmlns:a="http://schemas.openxmlformats.org/drawingml/2006/main" noGrp="1"/>
          </p:cNvSpPr>
          <p:nvPr/>
        </p:nvSpPr>
        <p:spPr>
          <a:xfrm xmlns:a="http://schemas.openxmlformats.org/drawingml/2006/main">
            <a:off x="685800" y="39719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TARGET OUTPUT</a:t>
            </a:r>
          </a:p>
        </p:txBody>
      </p:sp>
      <p:sp>
        <p:nvSpPr>
          <p:cNvPr id="7" name="body">
            <a:extLst xmlns:a="http://schemas.openxmlformats.org/drawingml/2006/main">
              <a:ext uri="{FF2B5EF4-FFF2-40B4-BE49-F238E27FC236}">
                <a16:creationId xmlns:a16="http://schemas.microsoft.com/office/drawing/2014/main" id="{C2165728-3C08-445D-9E38-146B56338C86}"/>
              </a:ext>
            </a:extLst>
          </p:cNvPr>
          <p:cNvSpPr>
            <a:spLocks xmlns:a="http://schemas.openxmlformats.org/drawingml/2006/main" noGrp="1"/>
          </p:cNvSpPr>
          <p:nvPr/>
        </p:nvSpPr>
        <p:spPr>
          <a:xfrm xmlns:a="http://schemas.openxmlformats.org/drawingml/2006/main">
            <a:off x="685800" y="44005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[NAME] VISITED [DOCTOR] ON [DATE]</a:t>
            </a:r>
          </a:p>
        </p:txBody>
      </p:sp>
      <p:sp>
        <p:nvSpPr>
          <p:cNvPr id="8" name="body">
            <a:extLst xmlns:a="http://schemas.openxmlformats.org/drawingml/2006/main">
              <a:ext uri="{FF2B5EF4-FFF2-40B4-BE49-F238E27FC236}">
                <a16:creationId xmlns:a16="http://schemas.microsoft.com/office/drawing/2014/main" id="{8B9E28DB-6F07-40C5-B0DD-08D72D42FBBC}"/>
              </a:ext>
            </a:extLst>
          </p:cNvPr>
          <p:cNvSpPr>
            <a:spLocks xmlns:a="http://schemas.openxmlformats.org/drawingml/2006/main" noGrp="1"/>
          </p:cNvSpPr>
          <p:nvPr/>
        </p:nvSpPr>
        <p:spPr>
          <a:xfrm xmlns:a="http://schemas.openxmlformats.org/drawingml/2006/main">
            <a:off x="685800" y="59817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Expected target for teaching; actual generated notes may differ</a:t>
            </a:r>
          </a:p>
        </p:txBody>
      </p:sp>
    </p:spTree>
    <p:extLst>
      <p:ext uri="{BB962C8B-B14F-4D97-AF65-F5344CB8AC3E}">
        <p14:creationId xmlns:p14="http://schemas.microsoft.com/office/powerpoint/2010/main" val="144558222"/>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087F05F3-6F30-42C1-B2EC-18C86AB9A9C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Final experiment design</a:t>
            </a:r>
          </a:p>
        </p:txBody>
      </p:sp>
      <p:sp>
        <p:nvSpPr>
          <p:cNvPr id="2" name="subtitle">
            <a:extLst xmlns:a="http://schemas.openxmlformats.org/drawingml/2006/main">
              <a:ext uri="{FF2B5EF4-FFF2-40B4-BE49-F238E27FC236}">
                <a16:creationId xmlns:a16="http://schemas.microsoft.com/office/drawing/2014/main" id="{0ED9A6E7-7078-4A48-A1C7-84C24B7D251C}"/>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One corpus and the same declared checkpoint rule</a:t>
            </a:r>
          </a:p>
        </p:txBody>
      </p:sp>
      <p:sp>
        <p:nvSpPr>
          <p:cNvPr id="3" name="page-number">
            <a:extLst xmlns:a="http://schemas.openxmlformats.org/drawingml/2006/main">
              <a:ext uri="{FF2B5EF4-FFF2-40B4-BE49-F238E27FC236}">
                <a16:creationId xmlns:a16="http://schemas.microsoft.com/office/drawing/2014/main" id="{5AD4F693-2D1A-4F0B-8A63-E39CDF086B28}"/>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04</a:t>
            </a:r>
          </a:p>
        </p:txBody>
      </p:sp>
      <p:graphicFrame>
        <p:nvGraphicFramePr>
          <p:cNvPr id="4" name="">
            <a:extLst xmlns:a="http://schemas.openxmlformats.org/drawingml/2006/main">
              <a:ext uri="{FF2B5EF4-FFF2-40B4-BE49-F238E27FC236}">
                <a16:creationId xmlns:a16="http://schemas.microsoft.com/office/drawing/2014/main" id="{FDCAF014-53C7-4CB1-8BFB-73BB0EBF22AE}"/>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000250"/>
                <a:gridCol w="4857750"/>
                <a:gridCol w="3962400"/>
              </a:tblGrid>
              <a:tr h="650875">
                <a:tc>
                  <a:txBody>
                    <a:bodyPr/>
                    <a:lstStyle/>
                    <a:p>
                      <a:r>
                        <a:rPr sz="1650" b="1">
                          <a:solidFill>
                            <a:srgbClr val="F9F7F1"/>
                          </a:solidFill>
                          <a:latin typeface="Calibri"/>
                          <a:ea typeface="Calibri"/>
                          <a:cs typeface="Calibri"/>
                        </a:rPr>
                        <a:t>Setting</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Primary comparison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Scope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Data</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700 training /100 validation /200 final</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1,000 unique synthetic source notes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Model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Width64, FFN 192, context 256, vocabulary 146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Eight declared architectures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Optimization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AdamW,lr 0.0007,batch 16,4,000 updates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Random initial weights, seed 42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Checkpoint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Final update4,000 for every model</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Minimum-loss weights retained separately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Repeats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Four architectures, seeds 7 and123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Initialization and minibatch order vary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762002912"/>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EAE80CE1-90BD-4F72-A461-A9B536C1F93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 transformation as next-token prediction</a:t>
            </a:r>
          </a:p>
        </p:txBody>
      </p:sp>
      <p:sp>
        <p:nvSpPr>
          <p:cNvPr id="2" name="subtitle">
            <a:extLst xmlns:a="http://schemas.openxmlformats.org/drawingml/2006/main">
              <a:ext uri="{FF2B5EF4-FFF2-40B4-BE49-F238E27FC236}">
                <a16:creationId xmlns:a16="http://schemas.microsoft.com/office/drawing/2014/main" id="{92454D5A-0CEB-42F5-B2DC-B2B1D7855AC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same sequence contains the source and the desired continuation</a:t>
            </a:r>
          </a:p>
        </p:txBody>
      </p:sp>
      <p:sp>
        <p:nvSpPr>
          <p:cNvPr id="3" name="page-number">
            <a:extLst xmlns:a="http://schemas.openxmlformats.org/drawingml/2006/main">
              <a:ext uri="{FF2B5EF4-FFF2-40B4-BE49-F238E27FC236}">
                <a16:creationId xmlns:a16="http://schemas.microsoft.com/office/drawing/2014/main" id="{BA975BDD-9298-43B5-9759-02D311032008}"/>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05</a:t>
            </a:r>
          </a:p>
        </p:txBody>
      </p:sp>
      <p:sp>
        <p:nvSpPr>
          <p:cNvPr id="4" name="body">
            <a:extLst xmlns:a="http://schemas.openxmlformats.org/drawingml/2006/main">
              <a:ext uri="{FF2B5EF4-FFF2-40B4-BE49-F238E27FC236}">
                <a16:creationId xmlns:a16="http://schemas.microsoft.com/office/drawing/2014/main" id="{D230FE2C-86B5-466C-A2BD-CF8D68AE827F}"/>
              </a:ext>
            </a:extLst>
          </p:cNvPr>
          <p:cNvSpPr>
            <a:spLocks xmlns:a="http://schemas.openxmlformats.org/drawingml/2006/main" noGrp="1"/>
          </p:cNvSpPr>
          <p:nvPr/>
        </p:nvSpPr>
        <p:spPr>
          <a:xfrm xmlns:a="http://schemas.openxmlformats.org/drawingml/2006/main">
            <a:off x="685800" y="22383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42D3C"/>
                </a:solidFill>
                <a:latin typeface="Calibri"/>
                <a:ea typeface="Calibri"/>
                <a:cs typeface="Calibri"/>
              </a:defRPr>
            </a:defPPr>
            <a:lvl1pPr>
              <a:defRPr sz="2325" b="1">
                <a:solidFill>
                  <a:srgbClr val="142D3C"/>
                </a:solidFill>
                <a:latin typeface="Calibri"/>
                <a:ea typeface="Calibri"/>
                <a:cs typeface="Calibri"/>
              </a:defRPr>
            </a:lvl1pPr>
            <a:lvl2pPr>
              <a:defRPr sz="2325" b="1">
                <a:solidFill>
                  <a:srgbClr val="142D3C"/>
                </a:solidFill>
                <a:latin typeface="Calibri"/>
                <a:ea typeface="Calibri"/>
                <a:cs typeface="Calibri"/>
              </a:defRPr>
            </a:lvl2pPr>
            <a:lvl3pPr>
              <a:defRPr sz="2325" b="1">
                <a:solidFill>
                  <a:srgbClr val="142D3C"/>
                </a:solidFill>
                <a:latin typeface="Calibri"/>
                <a:ea typeface="Calibri"/>
                <a:cs typeface="Calibri"/>
              </a:defRPr>
            </a:lvl3pPr>
            <a:lvl4pPr>
              <a:defRPr sz="2325" b="1">
                <a:solidFill>
                  <a:srgbClr val="142D3C"/>
                </a:solidFill>
                <a:latin typeface="Calibri"/>
                <a:ea typeface="Calibri"/>
                <a:cs typeface="Calibri"/>
              </a:defRPr>
            </a:lvl4pPr>
            <a:lvl5pPr>
              <a:defRPr sz="2325" b="1">
                <a:solidFill>
                  <a:srgbClr val="142D3C"/>
                </a:solidFill>
                <a:latin typeface="Calibri"/>
                <a:ea typeface="Calibri"/>
                <a:cs typeface="Calibri"/>
              </a:defRPr>
            </a:lvl5pPr>
            <a:lvl6pPr>
              <a:defRPr sz="2325" b="1">
                <a:solidFill>
                  <a:srgbClr val="142D3C"/>
                </a:solidFill>
                <a:latin typeface="Calibri"/>
                <a:ea typeface="Calibri"/>
                <a:cs typeface="Calibri"/>
              </a:defRPr>
            </a:lvl6pPr>
            <a:lvl7pPr>
              <a:defRPr sz="2325" b="1">
                <a:solidFill>
                  <a:srgbClr val="142D3C"/>
                </a:solidFill>
                <a:latin typeface="Calibri"/>
                <a:ea typeface="Calibri"/>
                <a:cs typeface="Calibri"/>
              </a:defRPr>
            </a:lvl7pPr>
            <a:lvl8pPr>
              <a:defRPr sz="2325" b="1">
                <a:solidFill>
                  <a:srgbClr val="142D3C"/>
                </a:solidFill>
                <a:latin typeface="Calibri"/>
                <a:ea typeface="Calibri"/>
                <a:cs typeface="Calibri"/>
              </a:defRPr>
            </a:lvl8pPr>
            <a:lvl9pPr>
              <a:defRPr sz="2325" b="1">
                <a:solidFill>
                  <a:srgbClr val="142D3C"/>
                </a:solidFill>
                <a:latin typeface="Calibri"/>
                <a:ea typeface="Calibri"/>
                <a:cs typeface="Calibri"/>
              </a:defRPr>
            </a:lvl9pPr>
          </a:lstStyle>
          <a:p xmlns:a="http://schemas.openxmlformats.org/drawingml/2006/main">
            <a:pPr>
              <a:defRPr sz="2325" b="1">
                <a:solidFill>
                  <a:srgbClr val="142D3C"/>
                </a:solidFill>
                <a:latin typeface="Calibri"/>
                <a:ea typeface="Calibri"/>
                <a:cs typeface="Calibri"/>
              </a:defRPr>
            </a:pPr>
            <a:r>
              <a:rPr sz="2325" b="1">
                <a:solidFill>
                  <a:srgbClr val="142D3C"/>
                </a:solidFill>
                <a:latin typeface="Calibri"/>
                <a:ea typeface="Calibri"/>
                <a:cs typeface="Calibri"/>
              </a:rPr>
              <a:t>&lt;BOS&gt;&lt;INPUT&gt;PATIENT John&lt;OUTPUT&gt;</a:t>
            </a:r>
          </a:p>
        </p:txBody>
      </p:sp>
      <p:sp>
        <p:nvSpPr>
          <p:cNvPr id="5" name="body">
            <a:extLst xmlns:a="http://schemas.openxmlformats.org/drawingml/2006/main">
              <a:ext uri="{FF2B5EF4-FFF2-40B4-BE49-F238E27FC236}">
                <a16:creationId xmlns:a16="http://schemas.microsoft.com/office/drawing/2014/main" id="{6B0E2EEA-5C18-4E1A-93BE-7882DA54DE19}"/>
              </a:ext>
            </a:extLst>
          </p:cNvPr>
          <p:cNvSpPr>
            <a:spLocks xmlns:a="http://schemas.openxmlformats.org/drawingml/2006/main" noGrp="1"/>
          </p:cNvSpPr>
          <p:nvPr/>
        </p:nvSpPr>
        <p:spPr>
          <a:xfrm xmlns:a="http://schemas.openxmlformats.org/drawingml/2006/main">
            <a:off x="685800" y="2857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42D3C"/>
                </a:solidFill>
                <a:latin typeface="Calibri"/>
                <a:ea typeface="Calibri"/>
                <a:cs typeface="Calibri"/>
              </a:defRPr>
            </a:defPPr>
            <a:lvl1pPr>
              <a:defRPr sz="2325" b="1">
                <a:solidFill>
                  <a:srgbClr val="142D3C"/>
                </a:solidFill>
                <a:latin typeface="Calibri"/>
                <a:ea typeface="Calibri"/>
                <a:cs typeface="Calibri"/>
              </a:defRPr>
            </a:lvl1pPr>
            <a:lvl2pPr>
              <a:defRPr sz="2325" b="1">
                <a:solidFill>
                  <a:srgbClr val="142D3C"/>
                </a:solidFill>
                <a:latin typeface="Calibri"/>
                <a:ea typeface="Calibri"/>
                <a:cs typeface="Calibri"/>
              </a:defRPr>
            </a:lvl2pPr>
            <a:lvl3pPr>
              <a:defRPr sz="2325" b="1">
                <a:solidFill>
                  <a:srgbClr val="142D3C"/>
                </a:solidFill>
                <a:latin typeface="Calibri"/>
                <a:ea typeface="Calibri"/>
                <a:cs typeface="Calibri"/>
              </a:defRPr>
            </a:lvl3pPr>
            <a:lvl4pPr>
              <a:defRPr sz="2325" b="1">
                <a:solidFill>
                  <a:srgbClr val="142D3C"/>
                </a:solidFill>
                <a:latin typeface="Calibri"/>
                <a:ea typeface="Calibri"/>
                <a:cs typeface="Calibri"/>
              </a:defRPr>
            </a:lvl4pPr>
            <a:lvl5pPr>
              <a:defRPr sz="2325" b="1">
                <a:solidFill>
                  <a:srgbClr val="142D3C"/>
                </a:solidFill>
                <a:latin typeface="Calibri"/>
                <a:ea typeface="Calibri"/>
                <a:cs typeface="Calibri"/>
              </a:defRPr>
            </a:lvl5pPr>
            <a:lvl6pPr>
              <a:defRPr sz="2325" b="1">
                <a:solidFill>
                  <a:srgbClr val="142D3C"/>
                </a:solidFill>
                <a:latin typeface="Calibri"/>
                <a:ea typeface="Calibri"/>
                <a:cs typeface="Calibri"/>
              </a:defRPr>
            </a:lvl6pPr>
            <a:lvl7pPr>
              <a:defRPr sz="2325" b="1">
                <a:solidFill>
                  <a:srgbClr val="142D3C"/>
                </a:solidFill>
                <a:latin typeface="Calibri"/>
                <a:ea typeface="Calibri"/>
                <a:cs typeface="Calibri"/>
              </a:defRPr>
            </a:lvl7pPr>
            <a:lvl8pPr>
              <a:defRPr sz="2325" b="1">
                <a:solidFill>
                  <a:srgbClr val="142D3C"/>
                </a:solidFill>
                <a:latin typeface="Calibri"/>
                <a:ea typeface="Calibri"/>
                <a:cs typeface="Calibri"/>
              </a:defRPr>
            </a:lvl8pPr>
            <a:lvl9pPr>
              <a:defRPr sz="2325" b="1">
                <a:solidFill>
                  <a:srgbClr val="142D3C"/>
                </a:solidFill>
                <a:latin typeface="Calibri"/>
                <a:ea typeface="Calibri"/>
                <a:cs typeface="Calibri"/>
              </a:defRPr>
            </a:lvl9pPr>
          </a:lstStyle>
          <a:p xmlns:a="http://schemas.openxmlformats.org/drawingml/2006/main">
            <a:pPr>
              <a:defRPr sz="2325" b="1">
                <a:solidFill>
                  <a:srgbClr val="142D3C"/>
                </a:solidFill>
                <a:latin typeface="Calibri"/>
                <a:ea typeface="Calibri"/>
                <a:cs typeface="Calibri"/>
              </a:defRPr>
            </a:pPr>
            <a:r>
              <a:rPr sz="2325" b="1">
                <a:solidFill>
                  <a:srgbClr val="142D3C"/>
                </a:solidFill>
                <a:latin typeface="Calibri"/>
                <a:ea typeface="Calibri"/>
                <a:cs typeface="Calibri"/>
              </a:rPr>
              <a:t>PATIENT [NAME]&lt;EOS&gt;</a:t>
            </a:r>
          </a:p>
        </p:txBody>
      </p:sp>
      <p:sp>
        <p:nvSpPr>
          <p:cNvPr id="6" name="body">
            <a:extLst xmlns:a="http://schemas.openxmlformats.org/drawingml/2006/main">
              <a:ext uri="{FF2B5EF4-FFF2-40B4-BE49-F238E27FC236}">
                <a16:creationId xmlns:a16="http://schemas.microsoft.com/office/drawing/2014/main" id="{3E424D51-C870-4FCE-8389-F641A2B182E6}"/>
              </a:ext>
            </a:extLst>
          </p:cNvPr>
          <p:cNvSpPr>
            <a:spLocks xmlns:a="http://schemas.openxmlformats.org/drawingml/2006/main" noGrp="1"/>
          </p:cNvSpPr>
          <p:nvPr/>
        </p:nvSpPr>
        <p:spPr>
          <a:xfrm xmlns:a="http://schemas.openxmlformats.org/drawingml/2006/main">
            <a:off x="685800" y="40481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Protocol markers</a:t>
            </a:r>
          </a:p>
        </p:txBody>
      </p:sp>
      <p:sp>
        <p:nvSpPr>
          <p:cNvPr id="7" name="body">
            <a:extLst xmlns:a="http://schemas.openxmlformats.org/drawingml/2006/main">
              <a:ext uri="{FF2B5EF4-FFF2-40B4-BE49-F238E27FC236}">
                <a16:creationId xmlns:a16="http://schemas.microsoft.com/office/drawing/2014/main" id="{CB848BFF-8AFC-41E4-8353-9853362142A3}"/>
              </a:ext>
            </a:extLst>
          </p:cNvPr>
          <p:cNvSpPr>
            <a:spLocks xmlns:a="http://schemas.openxmlformats.org/drawingml/2006/main" noGrp="1"/>
          </p:cNvSpPr>
          <p:nvPr/>
        </p:nvSpPr>
        <p:spPr>
          <a:xfrm xmlns:a="http://schemas.openxmlformats.org/drawingml/2006/main">
            <a:off x="4171950" y="40481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BOS / INPUT / OUTPUT / EOS each have one ID</a:t>
            </a:r>
          </a:p>
        </p:txBody>
      </p:sp>
      <p:sp>
        <p:nvSpPr>
          <p:cNvPr id="8" name="body">
            <a:extLst xmlns:a="http://schemas.openxmlformats.org/drawingml/2006/main">
              <a:ext uri="{FF2B5EF4-FFF2-40B4-BE49-F238E27FC236}">
                <a16:creationId xmlns:a16="http://schemas.microsoft.com/office/drawing/2014/main" id="{0AF2473D-4E1B-4E2F-B939-D21D55E01289}"/>
              </a:ext>
            </a:extLst>
          </p:cNvPr>
          <p:cNvSpPr>
            <a:spLocks xmlns:a="http://schemas.openxmlformats.org/drawingml/2006/main" noGrp="1"/>
          </p:cNvSpPr>
          <p:nvPr/>
        </p:nvSpPr>
        <p:spPr>
          <a:xfrm xmlns:a="http://schemas.openxmlformats.org/drawingml/2006/main">
            <a:off x="685800" y="47339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Task pieces</a:t>
            </a:r>
          </a:p>
        </p:txBody>
      </p:sp>
      <p:sp>
        <p:nvSpPr>
          <p:cNvPr id="9" name="body">
            <a:extLst xmlns:a="http://schemas.openxmlformats.org/drawingml/2006/main">
              <a:ext uri="{FF2B5EF4-FFF2-40B4-BE49-F238E27FC236}">
                <a16:creationId xmlns:a16="http://schemas.microsoft.com/office/drawing/2014/main" id="{5D5FB9E6-6264-4DCE-B25D-8E18CBF0AB2F}"/>
              </a:ext>
            </a:extLst>
          </p:cNvPr>
          <p:cNvSpPr>
            <a:spLocks xmlns:a="http://schemas.openxmlformats.org/drawingml/2006/main" noGrp="1"/>
          </p:cNvSpPr>
          <p:nvPr/>
        </p:nvSpPr>
        <p:spPr>
          <a:xfrm xmlns:a="http://schemas.openxmlformats.org/drawingml/2006/main">
            <a:off x="4171950" y="47339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PATIENT and [NAME] each have one ID</a:t>
            </a:r>
          </a:p>
        </p:txBody>
      </p:sp>
      <p:sp>
        <p:nvSpPr>
          <p:cNvPr id="10" name="body">
            <a:extLst xmlns:a="http://schemas.openxmlformats.org/drawingml/2006/main">
              <a:ext uri="{FF2B5EF4-FFF2-40B4-BE49-F238E27FC236}">
                <a16:creationId xmlns:a16="http://schemas.microsoft.com/office/drawing/2014/main" id="{C254B984-EA54-4688-B165-83611D7990CC}"/>
              </a:ext>
            </a:extLst>
          </p:cNvPr>
          <p:cNvSpPr>
            <a:spLocks xmlns:a="http://schemas.openxmlformats.org/drawingml/2006/main" noGrp="1"/>
          </p:cNvSpPr>
          <p:nvPr/>
        </p:nvSpPr>
        <p:spPr>
          <a:xfrm xmlns:a="http://schemas.openxmlformats.org/drawingml/2006/main">
            <a:off x="685800" y="54197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Other spelling</a:t>
            </a:r>
          </a:p>
        </p:txBody>
      </p:sp>
      <p:sp>
        <p:nvSpPr>
          <p:cNvPr id="11" name="body">
            <a:extLst xmlns:a="http://schemas.openxmlformats.org/drawingml/2006/main">
              <a:ext uri="{FF2B5EF4-FFF2-40B4-BE49-F238E27FC236}">
                <a16:creationId xmlns:a16="http://schemas.microsoft.com/office/drawing/2014/main" id="{4766F83A-735A-4BFE-A3ED-BD4547AAD3AC}"/>
              </a:ext>
            </a:extLst>
          </p:cNvPr>
          <p:cNvSpPr>
            <a:spLocks xmlns:a="http://schemas.openxmlformats.org/drawingml/2006/main" noGrp="1"/>
          </p:cNvSpPr>
          <p:nvPr/>
        </p:nvSpPr>
        <p:spPr>
          <a:xfrm xmlns:a="http://schemas.openxmlformats.org/drawingml/2006/main">
            <a:off x="4171950" y="5419725"/>
            <a:ext cx="733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John retains its character sequence</a:t>
            </a:r>
          </a:p>
        </p:txBody>
      </p:sp>
    </p:spTree>
    <p:extLst>
      <p:ext uri="{BB962C8B-B14F-4D97-AF65-F5344CB8AC3E}">
        <p14:creationId xmlns:p14="http://schemas.microsoft.com/office/powerpoint/2010/main" val="376572143"/>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0B59B1B2-DABB-4718-8026-6D255107F4E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Training and generation</a:t>
            </a:r>
          </a:p>
        </p:txBody>
      </p:sp>
      <p:sp>
        <p:nvSpPr>
          <p:cNvPr id="2" name="subtitle">
            <a:extLst xmlns:a="http://schemas.openxmlformats.org/drawingml/2006/main">
              <a:ext uri="{FF2B5EF4-FFF2-40B4-BE49-F238E27FC236}">
                <a16:creationId xmlns:a16="http://schemas.microsoft.com/office/drawing/2014/main" id="{F1D5514A-7698-4234-917B-E05708D8D7CB}"/>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Parallel scoring during training, one appended token during inference</a:t>
            </a:r>
          </a:p>
        </p:txBody>
      </p:sp>
      <p:sp>
        <p:nvSpPr>
          <p:cNvPr id="3" name="page-number">
            <a:extLst xmlns:a="http://schemas.openxmlformats.org/drawingml/2006/main">
              <a:ext uri="{FF2B5EF4-FFF2-40B4-BE49-F238E27FC236}">
                <a16:creationId xmlns:a16="http://schemas.microsoft.com/office/drawing/2014/main" id="{FBB155C9-EE50-4FE3-9A84-EC5E3757A1C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06</a:t>
            </a:r>
          </a:p>
        </p:txBody>
      </p:sp>
      <p:graphicFrame>
        <p:nvGraphicFramePr>
          <p:cNvPr id="4" name="">
            <a:extLst xmlns:a="http://schemas.openxmlformats.org/drawingml/2006/main">
              <a:ext uri="{FF2B5EF4-FFF2-40B4-BE49-F238E27FC236}">
                <a16:creationId xmlns:a16="http://schemas.microsoft.com/office/drawing/2014/main" id="{E0B3DB85-A53F-44E0-AC2F-89C1D1ECB31E}"/>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1809750"/>
                <a:gridCol w="4505325"/>
                <a:gridCol w="4505325"/>
              </a:tblGrid>
              <a:tr h="650875">
                <a:tc>
                  <a:txBody>
                    <a:bodyPr/>
                    <a:lstStyle/>
                    <a:p>
                      <a:r>
                        <a:rPr sz="1650" b="1">
                          <a:solidFill>
                            <a:srgbClr val="F9F7F1"/>
                          </a:solidFill>
                          <a:latin typeface="Calibri"/>
                          <a:ea typeface="Calibri"/>
                          <a:cs typeface="Calibri"/>
                        </a:rPr>
                        <a:t>Aspect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Training</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Generation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Available text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and correct output prefix</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and model-generated prefix</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Model input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Shifted complete example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Current prompt plus generated tokens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Prediction used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 scored output positions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Final position only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Update</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Loss, backpropagation, optimizer step</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Append one token without weight updates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Main risk</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Target leakage through an incorrect mask</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An early error becomes future context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964007563"/>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9B175E09-6171-4ACB-B6FD-8B2E06B86496}"/>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Tokens, IDs and unseen spelling</a:t>
            </a:r>
          </a:p>
        </p:txBody>
      </p:sp>
      <p:sp>
        <p:nvSpPr>
          <p:cNvPr id="2" name="page-number">
            <a:extLst xmlns:a="http://schemas.openxmlformats.org/drawingml/2006/main">
              <a:ext uri="{FF2B5EF4-FFF2-40B4-BE49-F238E27FC236}">
                <a16:creationId xmlns:a16="http://schemas.microsoft.com/office/drawing/2014/main" id="{13CC2D13-6A4B-4DEE-A680-99577F59DB6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07</a:t>
            </a:r>
          </a:p>
        </p:txBody>
      </p:sp>
      <p:sp>
        <p:nvSpPr>
          <p:cNvPr id="3" name="body">
            <a:extLst xmlns:a="http://schemas.openxmlformats.org/drawingml/2006/main">
              <a:ext uri="{FF2B5EF4-FFF2-40B4-BE49-F238E27FC236}">
                <a16:creationId xmlns:a16="http://schemas.microsoft.com/office/drawing/2014/main" id="{D705516C-A2BE-4C20-AA65-EF90250DFFCA}"/>
              </a:ext>
            </a:extLst>
          </p:cNvPr>
          <p:cNvSpPr>
            <a:spLocks xmlns:a="http://schemas.openxmlformats.org/drawingml/2006/main" noGrp="1"/>
          </p:cNvSpPr>
          <p:nvPr/>
        </p:nvSpPr>
        <p:spPr>
          <a:xfrm xmlns:a="http://schemas.openxmlformats.org/drawingml/2006/main">
            <a:off x="685800" y="21431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A token ID is a table address</a:t>
            </a:r>
          </a:p>
        </p:txBody>
      </p:sp>
      <p:sp>
        <p:nvSpPr>
          <p:cNvPr id="4" name="body">
            <a:extLst xmlns:a="http://schemas.openxmlformats.org/drawingml/2006/main">
              <a:ext uri="{FF2B5EF4-FFF2-40B4-BE49-F238E27FC236}">
                <a16:creationId xmlns:a16="http://schemas.microsoft.com/office/drawing/2014/main" id="{718BAB62-D145-422B-94B4-E1A243B7A4DE}"/>
              </a:ext>
            </a:extLst>
          </p:cNvPr>
          <p:cNvSpPr>
            <a:spLocks xmlns:a="http://schemas.openxmlformats.org/drawingml/2006/main" noGrp="1"/>
          </p:cNvSpPr>
          <p:nvPr/>
        </p:nvSpPr>
        <p:spPr>
          <a:xfrm xmlns:a="http://schemas.openxmlformats.org/drawingml/2006/main">
            <a:off x="6429375" y="2143125"/>
            <a:ext cx="507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Fixed pieces with character fallback</a:t>
            </a:r>
          </a:p>
        </p:txBody>
      </p:sp>
      <p:sp>
        <p:nvSpPr>
          <p:cNvPr id="5" name="body">
            <a:extLst xmlns:a="http://schemas.openxmlformats.org/drawingml/2006/main">
              <a:ext uri="{FF2B5EF4-FFF2-40B4-BE49-F238E27FC236}">
                <a16:creationId xmlns:a16="http://schemas.microsoft.com/office/drawing/2014/main" id="{1CDCF5DF-522D-41CC-99A3-61C973327070}"/>
              </a:ext>
            </a:extLst>
          </p:cNvPr>
          <p:cNvSpPr>
            <a:spLocks xmlns:a="http://schemas.openxmlformats.org/drawingml/2006/main" noGrp="1"/>
          </p:cNvSpPr>
          <p:nvPr/>
        </p:nvSpPr>
        <p:spPr>
          <a:xfrm xmlns:a="http://schemas.openxmlformats.org/drawingml/2006/main">
            <a:off x="685800" y="30289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PATIENT has declared ID109</a:t>
            </a:r>
          </a:p>
        </p:txBody>
      </p:sp>
      <p:sp>
        <p:nvSpPr>
          <p:cNvPr id="6" name="body">
            <a:extLst xmlns:a="http://schemas.openxmlformats.org/drawingml/2006/main">
              <a:ext uri="{FF2B5EF4-FFF2-40B4-BE49-F238E27FC236}">
                <a16:creationId xmlns:a16="http://schemas.microsoft.com/office/drawing/2014/main" id="{71F598F6-4ECC-43D6-B4B4-8F085FEB5581}"/>
              </a:ext>
            </a:extLst>
          </p:cNvPr>
          <p:cNvSpPr>
            <a:spLocks xmlns:a="http://schemas.openxmlformats.org/drawingml/2006/main" noGrp="1"/>
          </p:cNvSpPr>
          <p:nvPr/>
        </p:nvSpPr>
        <p:spPr>
          <a:xfrm xmlns:a="http://schemas.openxmlformats.org/drawingml/2006/main">
            <a:off x="685800" y="38957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An ID selects one embedding row</a:t>
            </a:r>
          </a:p>
        </p:txBody>
      </p:sp>
      <p:sp>
        <p:nvSpPr>
          <p:cNvPr id="7" name="body">
            <a:extLst xmlns:a="http://schemas.openxmlformats.org/drawingml/2006/main">
              <a:ext uri="{FF2B5EF4-FFF2-40B4-BE49-F238E27FC236}">
                <a16:creationId xmlns:a16="http://schemas.microsoft.com/office/drawing/2014/main" id="{04E9E42C-8912-4010-A480-0B0AF6363AED}"/>
              </a:ext>
            </a:extLst>
          </p:cNvPr>
          <p:cNvSpPr>
            <a:spLocks xmlns:a="http://schemas.openxmlformats.org/drawingml/2006/main" noGrp="1"/>
          </p:cNvSpPr>
          <p:nvPr/>
        </p:nvSpPr>
        <p:spPr>
          <a:xfrm xmlns:a="http://schemas.openxmlformats.org/drawingml/2006/main">
            <a:off x="685800" y="47625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The tokenizer never learns that row</a:t>
            </a:r>
          </a:p>
        </p:txBody>
      </p:sp>
      <p:sp>
        <p:nvSpPr>
          <p:cNvPr id="8" name="body">
            <a:extLst xmlns:a="http://schemas.openxmlformats.org/drawingml/2006/main">
              <a:ext uri="{FF2B5EF4-FFF2-40B4-BE49-F238E27FC236}">
                <a16:creationId xmlns:a16="http://schemas.microsoft.com/office/drawing/2014/main" id="{0307990F-A356-4E21-BC31-7F69060AB80C}"/>
              </a:ext>
            </a:extLst>
          </p:cNvPr>
          <p:cNvSpPr>
            <a:spLocks xmlns:a="http://schemas.openxmlformats.org/drawingml/2006/main" noGrp="1"/>
          </p:cNvSpPr>
          <p:nvPr/>
        </p:nvSpPr>
        <p:spPr>
          <a:xfrm xmlns:a="http://schemas.openxmlformats.org/drawingml/2006/main">
            <a:off x="6429375" y="302895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John uses J,o,h,n plus the spaces</a:t>
            </a:r>
          </a:p>
        </p:txBody>
      </p:sp>
      <p:sp>
        <p:nvSpPr>
          <p:cNvPr id="9" name="body">
            <a:extLst xmlns:a="http://schemas.openxmlformats.org/drawingml/2006/main">
              <a:ext uri="{FF2B5EF4-FFF2-40B4-BE49-F238E27FC236}">
                <a16:creationId xmlns:a16="http://schemas.microsoft.com/office/drawing/2014/main" id="{24F72862-BD9D-49A3-AC2B-876859F81976}"/>
              </a:ext>
            </a:extLst>
          </p:cNvPr>
          <p:cNvSpPr>
            <a:spLocks xmlns:a="http://schemas.openxmlformats.org/drawingml/2006/main" noGrp="1"/>
          </p:cNvSpPr>
          <p:nvPr/>
        </p:nvSpPr>
        <p:spPr>
          <a:xfrm xmlns:a="http://schemas.openxmlformats.org/drawingml/2006/main">
            <a:off x="6429375" y="3895725"/>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Unseen supported names retain spelling</a:t>
            </a:r>
          </a:p>
        </p:txBody>
      </p:sp>
      <p:sp>
        <p:nvSpPr>
          <p:cNvPr id="10" name="body">
            <a:extLst xmlns:a="http://schemas.openxmlformats.org/drawingml/2006/main">
              <a:ext uri="{FF2B5EF4-FFF2-40B4-BE49-F238E27FC236}">
                <a16:creationId xmlns:a16="http://schemas.microsoft.com/office/drawing/2014/main" id="{3C2EABCB-EA8F-4999-976E-DBC7E3EE2C65}"/>
              </a:ext>
            </a:extLst>
          </p:cNvPr>
          <p:cNvSpPr>
            <a:spLocks xmlns:a="http://schemas.openxmlformats.org/drawingml/2006/main" noGrp="1"/>
          </p:cNvSpPr>
          <p:nvPr/>
        </p:nvSpPr>
        <p:spPr>
          <a:xfrm xmlns:a="http://schemas.openxmlformats.org/drawingml/2006/main">
            <a:off x="6429375" y="476250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A piece can also occur inside a word</a:t>
            </a:r>
          </a:p>
        </p:txBody>
      </p:sp>
      <p:sp>
        <p:nvSpPr>
          <p:cNvPr id="11" name="body">
            <a:extLst xmlns:a="http://schemas.openxmlformats.org/drawingml/2006/main">
              <a:ext uri="{FF2B5EF4-FFF2-40B4-BE49-F238E27FC236}">
                <a16:creationId xmlns:a16="http://schemas.microsoft.com/office/drawing/2014/main" id="{D0A34142-1D1D-4793-92FA-8A5BAD46E14B}"/>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An ID selects an embedding row; it is not a learned meaning vector</a:t>
            </a:r>
          </a:p>
        </p:txBody>
      </p:sp>
    </p:spTree>
    <p:extLst>
      <p:ext uri="{BB962C8B-B14F-4D97-AF65-F5344CB8AC3E}">
        <p14:creationId xmlns:p14="http://schemas.microsoft.com/office/powerpoint/2010/main" val="1290465735"/>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572CE7A2-28B3-4076-967D-7333CEE87D9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Embeddings and position</a:t>
            </a:r>
          </a:p>
        </p:txBody>
      </p:sp>
      <p:sp>
        <p:nvSpPr>
          <p:cNvPr id="2" name="subtitle">
            <a:extLst xmlns:a="http://schemas.openxmlformats.org/drawingml/2006/main">
              <a:ext uri="{FF2B5EF4-FFF2-40B4-BE49-F238E27FC236}">
                <a16:creationId xmlns:a16="http://schemas.microsoft.com/office/drawing/2014/main" id="{996E2028-8F42-4F54-8188-C136FFA3E430}"/>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A token ID selects a vector, then position adds order information</a:t>
            </a:r>
          </a:p>
        </p:txBody>
      </p:sp>
      <p:sp>
        <p:nvSpPr>
          <p:cNvPr id="3" name="page-number">
            <a:extLst xmlns:a="http://schemas.openxmlformats.org/drawingml/2006/main">
              <a:ext uri="{FF2B5EF4-FFF2-40B4-BE49-F238E27FC236}">
                <a16:creationId xmlns:a16="http://schemas.microsoft.com/office/drawing/2014/main" id="{F3A2A44E-4430-4E6E-B72A-D7E8400EB08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08</a:t>
            </a:r>
          </a:p>
        </p:txBody>
      </p:sp>
      <p:sp>
        <p:nvSpPr>
          <p:cNvPr id="4" name="body">
            <a:extLst xmlns:a="http://schemas.openxmlformats.org/drawingml/2006/main">
              <a:ext uri="{FF2B5EF4-FFF2-40B4-BE49-F238E27FC236}">
                <a16:creationId xmlns:a16="http://schemas.microsoft.com/office/drawing/2014/main" id="{07EDF856-A18A-4E5E-8823-F75004609E3F}"/>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X[b, t, :] = E[token_id] + P[t]</a:t>
            </a:r>
          </a:p>
        </p:txBody>
      </p:sp>
      <p:sp>
        <p:nvSpPr>
          <p:cNvPr id="5" name="body">
            <a:extLst xmlns:a="http://schemas.openxmlformats.org/drawingml/2006/main">
              <a:ext uri="{FF2B5EF4-FFF2-40B4-BE49-F238E27FC236}">
                <a16:creationId xmlns:a16="http://schemas.microsoft.com/office/drawing/2014/main" id="{4A21B48E-FF33-40BF-85A4-11C79824CCCC}"/>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E</a:t>
            </a:r>
          </a:p>
        </p:txBody>
      </p:sp>
      <p:sp>
        <p:nvSpPr>
          <p:cNvPr id="6" name="body">
            <a:extLst xmlns:a="http://schemas.openxmlformats.org/drawingml/2006/main">
              <a:ext uri="{FF2B5EF4-FFF2-40B4-BE49-F238E27FC236}">
                <a16:creationId xmlns:a16="http://schemas.microsoft.com/office/drawing/2014/main" id="{D1A2FE63-9D08-4637-ACE4-07C2A6D5487F}"/>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token embedding table</a:t>
            </a:r>
          </a:p>
        </p:txBody>
      </p:sp>
      <p:sp>
        <p:nvSpPr>
          <p:cNvPr id="7" name="body">
            <a:extLst xmlns:a="http://schemas.openxmlformats.org/drawingml/2006/main">
              <a:ext uri="{FF2B5EF4-FFF2-40B4-BE49-F238E27FC236}">
                <a16:creationId xmlns:a16="http://schemas.microsoft.com/office/drawing/2014/main" id="{08A699C3-CFCC-48E6-B6BD-1CFBA59F55F6}"/>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P</a:t>
            </a:r>
          </a:p>
        </p:txBody>
      </p:sp>
      <p:sp>
        <p:nvSpPr>
          <p:cNvPr id="8" name="body">
            <a:extLst xmlns:a="http://schemas.openxmlformats.org/drawingml/2006/main">
              <a:ext uri="{FF2B5EF4-FFF2-40B4-BE49-F238E27FC236}">
                <a16:creationId xmlns:a16="http://schemas.microsoft.com/office/drawing/2014/main" id="{C19BB68B-5246-478A-BBB8-4144C47AEF81}"/>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position embedding table</a:t>
            </a:r>
          </a:p>
        </p:txBody>
      </p:sp>
      <p:sp>
        <p:nvSpPr>
          <p:cNvPr id="9" name="body">
            <a:extLst xmlns:a="http://schemas.openxmlformats.org/drawingml/2006/main">
              <a:ext uri="{FF2B5EF4-FFF2-40B4-BE49-F238E27FC236}">
                <a16:creationId xmlns:a16="http://schemas.microsoft.com/office/drawing/2014/main" id="{83A6F164-1968-426A-9AA3-AA69840B60DB}"/>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b, t</a:t>
            </a:r>
          </a:p>
        </p:txBody>
      </p:sp>
      <p:sp>
        <p:nvSpPr>
          <p:cNvPr id="10" name="body">
            <a:extLst xmlns:a="http://schemas.openxmlformats.org/drawingml/2006/main">
              <a:ext uri="{FF2B5EF4-FFF2-40B4-BE49-F238E27FC236}">
                <a16:creationId xmlns:a16="http://schemas.microsoft.com/office/drawing/2014/main" id="{B35E1905-ABF1-4B28-B1D8-3A3B27FF2727}"/>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Batch item and token position</a:t>
            </a:r>
          </a:p>
        </p:txBody>
      </p:sp>
      <p:sp>
        <p:nvSpPr>
          <p:cNvPr id="11" name="body">
            <a:extLst xmlns:a="http://schemas.openxmlformats.org/drawingml/2006/main">
              <a:ext uri="{FF2B5EF4-FFF2-40B4-BE49-F238E27FC236}">
                <a16:creationId xmlns:a16="http://schemas.microsoft.com/office/drawing/2014/main" id="{D1165106-061E-49B1-BB2A-0498B8856597}"/>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X</a:t>
            </a:r>
          </a:p>
        </p:txBody>
      </p:sp>
      <p:sp>
        <p:nvSpPr>
          <p:cNvPr id="12" name="body">
            <a:extLst xmlns:a="http://schemas.openxmlformats.org/drawingml/2006/main">
              <a:ext uri="{FF2B5EF4-FFF2-40B4-BE49-F238E27FC236}">
                <a16:creationId xmlns:a16="http://schemas.microsoft.com/office/drawing/2014/main" id="{9E1E54D1-14B6-4307-A0BC-E34C2E0ABA72}"/>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vectors entering the first decoder block</a:t>
            </a:r>
          </a:p>
        </p:txBody>
      </p:sp>
      <p:sp>
        <p:nvSpPr>
          <p:cNvPr id="13" name="body">
            <a:extLst xmlns:a="http://schemas.openxmlformats.org/drawingml/2006/main">
              <a:ext uri="{FF2B5EF4-FFF2-40B4-BE49-F238E27FC236}">
                <a16:creationId xmlns:a16="http://schemas.microsoft.com/office/drawing/2014/main" id="{94082197-D542-4107-9B80-618D6A0F0A91}"/>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Teaching arithmetic: [0.2, -0.1] + [0.01, 0.04] = [0.21, -0.06]</a:t>
            </a:r>
          </a:p>
        </p:txBody>
      </p:sp>
    </p:spTree>
    <p:extLst>
      <p:ext uri="{BB962C8B-B14F-4D97-AF65-F5344CB8AC3E}">
        <p14:creationId xmlns:p14="http://schemas.microsoft.com/office/powerpoint/2010/main" val="1104713832"/>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4CFF6849-B31A-47D9-8A97-EC5BF152DEE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Attention retrieves a weighted mixture</a:t>
            </a:r>
          </a:p>
        </p:txBody>
      </p:sp>
      <p:sp>
        <p:nvSpPr>
          <p:cNvPr id="2" name="subtitle">
            <a:extLst xmlns:a="http://schemas.openxmlformats.org/drawingml/2006/main">
              <a:ext uri="{FF2B5EF4-FFF2-40B4-BE49-F238E27FC236}">
                <a16:creationId xmlns:a16="http://schemas.microsoft.com/office/drawing/2014/main" id="{579B89F7-BBA1-4B90-8015-26B6744A4CD0}"/>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Learned compatibility determines how much each earlier value contributes</a:t>
            </a:r>
          </a:p>
        </p:txBody>
      </p:sp>
      <p:sp>
        <p:nvSpPr>
          <p:cNvPr id="3" name="page-number">
            <a:extLst xmlns:a="http://schemas.openxmlformats.org/drawingml/2006/main">
              <a:ext uri="{FF2B5EF4-FFF2-40B4-BE49-F238E27FC236}">
                <a16:creationId xmlns:a16="http://schemas.microsoft.com/office/drawing/2014/main" id="{C5505CF2-FA7F-41B2-ADC8-259C98140C26}"/>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09</a:t>
            </a:r>
          </a:p>
        </p:txBody>
      </p:sp>
      <p:sp>
        <p:nvSpPr>
          <p:cNvPr id="4" name="body">
            <a:extLst xmlns:a="http://schemas.openxmlformats.org/drawingml/2006/main">
              <a:ext uri="{FF2B5EF4-FFF2-40B4-BE49-F238E27FC236}">
                <a16:creationId xmlns:a16="http://schemas.microsoft.com/office/drawing/2014/main" id="{BE428E0A-B7F8-4B15-966C-D3ACC9108AFE}"/>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A = softmax((QKᵀ / √dₕ) + M)    C = AV</a:t>
            </a:r>
          </a:p>
        </p:txBody>
      </p:sp>
      <p:sp>
        <p:nvSpPr>
          <p:cNvPr id="5" name="body">
            <a:extLst xmlns:a="http://schemas.openxmlformats.org/drawingml/2006/main">
              <a:ext uri="{FF2B5EF4-FFF2-40B4-BE49-F238E27FC236}">
                <a16:creationId xmlns:a16="http://schemas.microsoft.com/office/drawing/2014/main" id="{8ACD903B-495D-4526-9BC1-2E7C3A124FF1}"/>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Q, K</a:t>
            </a:r>
          </a:p>
        </p:txBody>
      </p:sp>
      <p:sp>
        <p:nvSpPr>
          <p:cNvPr id="6" name="body">
            <a:extLst xmlns:a="http://schemas.openxmlformats.org/drawingml/2006/main">
              <a:ext uri="{FF2B5EF4-FFF2-40B4-BE49-F238E27FC236}">
                <a16:creationId xmlns:a16="http://schemas.microsoft.com/office/drawing/2014/main" id="{2AD06668-7E58-40E3-AB8A-6B27BB4AAE81}"/>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query and key projections used for compatibility</a:t>
            </a:r>
          </a:p>
        </p:txBody>
      </p:sp>
      <p:sp>
        <p:nvSpPr>
          <p:cNvPr id="7" name="body">
            <a:extLst xmlns:a="http://schemas.openxmlformats.org/drawingml/2006/main">
              <a:ext uri="{FF2B5EF4-FFF2-40B4-BE49-F238E27FC236}">
                <a16:creationId xmlns:a16="http://schemas.microsoft.com/office/drawing/2014/main" id="{35869DC2-D25C-40D1-A9E2-0A4B58BBDB2A}"/>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V, C</a:t>
            </a:r>
          </a:p>
        </p:txBody>
      </p:sp>
      <p:sp>
        <p:nvSpPr>
          <p:cNvPr id="8" name="body">
            <a:extLst xmlns:a="http://schemas.openxmlformats.org/drawingml/2006/main">
              <a:ext uri="{FF2B5EF4-FFF2-40B4-BE49-F238E27FC236}">
                <a16:creationId xmlns:a16="http://schemas.microsoft.com/office/drawing/2014/main" id="{9386CEA2-B4CA-40C6-BABE-6DD2A5BCBEBA}"/>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Value vectors and their weighted context mixture</a:t>
            </a:r>
          </a:p>
        </p:txBody>
      </p:sp>
      <p:sp>
        <p:nvSpPr>
          <p:cNvPr id="9" name="body">
            <a:extLst xmlns:a="http://schemas.openxmlformats.org/drawingml/2006/main">
              <a:ext uri="{FF2B5EF4-FFF2-40B4-BE49-F238E27FC236}">
                <a16:creationId xmlns:a16="http://schemas.microsoft.com/office/drawing/2014/main" id="{C51D7EFA-52EA-4CC6-8D26-27F6DE4A3F45}"/>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dₕ</a:t>
            </a:r>
          </a:p>
        </p:txBody>
      </p:sp>
      <p:sp>
        <p:nvSpPr>
          <p:cNvPr id="10" name="body">
            <a:extLst xmlns:a="http://schemas.openxmlformats.org/drawingml/2006/main">
              <a:ext uri="{FF2B5EF4-FFF2-40B4-BE49-F238E27FC236}">
                <a16:creationId xmlns:a16="http://schemas.microsoft.com/office/drawing/2014/main" id="{0B523E53-5B40-4D33-9423-BFC37AF725BC}"/>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Feature width within one head</a:t>
            </a:r>
          </a:p>
        </p:txBody>
      </p:sp>
      <p:sp>
        <p:nvSpPr>
          <p:cNvPr id="11" name="body">
            <a:extLst xmlns:a="http://schemas.openxmlformats.org/drawingml/2006/main">
              <a:ext uri="{FF2B5EF4-FFF2-40B4-BE49-F238E27FC236}">
                <a16:creationId xmlns:a16="http://schemas.microsoft.com/office/drawing/2014/main" id="{3B55687A-C0A1-4E94-B10B-F73186A68E5C}"/>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M, A</a:t>
            </a:r>
          </a:p>
        </p:txBody>
      </p:sp>
      <p:sp>
        <p:nvSpPr>
          <p:cNvPr id="12" name="body">
            <a:extLst xmlns:a="http://schemas.openxmlformats.org/drawingml/2006/main">
              <a:ext uri="{FF2B5EF4-FFF2-40B4-BE49-F238E27FC236}">
                <a16:creationId xmlns:a16="http://schemas.microsoft.com/office/drawing/2014/main" id="{96146F95-F8A6-4D79-8891-E5617176E4F7}"/>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Mask added before softmax, then normalized attention weights</a:t>
            </a:r>
          </a:p>
        </p:txBody>
      </p:sp>
      <p:sp>
        <p:nvSpPr>
          <p:cNvPr id="13" name="body">
            <a:extLst xmlns:a="http://schemas.openxmlformats.org/drawingml/2006/main">
              <a:ext uri="{FF2B5EF4-FFF2-40B4-BE49-F238E27FC236}">
                <a16:creationId xmlns:a16="http://schemas.microsoft.com/office/drawing/2014/main" id="{CB22008E-E648-47B0-A14B-BE12C8BFDAF9}"/>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The weights describe internal routing. A role or explanation needs supporting tests</a:t>
            </a:r>
          </a:p>
        </p:txBody>
      </p:sp>
    </p:spTree>
    <p:extLst>
      <p:ext uri="{BB962C8B-B14F-4D97-AF65-F5344CB8AC3E}">
        <p14:creationId xmlns:p14="http://schemas.microsoft.com/office/powerpoint/2010/main" val="822208632"/>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C91C95E7-CF92-43A6-9330-33913CBBB36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Three masks, three jobs</a:t>
            </a:r>
          </a:p>
        </p:txBody>
      </p:sp>
      <p:sp>
        <p:nvSpPr>
          <p:cNvPr id="2" name="subtitle">
            <a:extLst xmlns:a="http://schemas.openxmlformats.org/drawingml/2006/main">
              <a:ext uri="{FF2B5EF4-FFF2-40B4-BE49-F238E27FC236}">
                <a16:creationId xmlns:a16="http://schemas.microsoft.com/office/drawing/2014/main" id="{13229CDC-3595-4A8F-9895-23A8885E5164}"/>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Visibility masks act on attention, while the loss mask chooses targets</a:t>
            </a:r>
          </a:p>
        </p:txBody>
      </p:sp>
      <p:sp>
        <p:nvSpPr>
          <p:cNvPr id="3" name="page-number">
            <a:extLst xmlns:a="http://schemas.openxmlformats.org/drawingml/2006/main">
              <a:ext uri="{FF2B5EF4-FFF2-40B4-BE49-F238E27FC236}">
                <a16:creationId xmlns:a16="http://schemas.microsoft.com/office/drawing/2014/main" id="{CBDE6604-56D7-48BD-AB43-4A5901424D9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10</a:t>
            </a:r>
          </a:p>
        </p:txBody>
      </p:sp>
      <p:graphicFrame>
        <p:nvGraphicFramePr>
          <p:cNvPr id="4" name="">
            <a:extLst xmlns:a="http://schemas.openxmlformats.org/drawingml/2006/main">
              <a:ext uri="{FF2B5EF4-FFF2-40B4-BE49-F238E27FC236}">
                <a16:creationId xmlns:a16="http://schemas.microsoft.com/office/drawing/2014/main" id="{CDCE5BFD-A2CE-4ABC-BEAC-0C4855F700CC}"/>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286000"/>
                <a:gridCol w="2133600"/>
                <a:gridCol w="2133600"/>
                <a:gridCol w="2133600"/>
                <a:gridCol w="2133600"/>
              </a:tblGrid>
              <a:tr h="742950">
                <a:tc>
                  <a:txBody>
                    <a:bodyPr/>
                    <a:lstStyle/>
                    <a:p>
                      <a:r>
                        <a:rPr sz="1650" b="1">
                          <a:solidFill>
                            <a:srgbClr val="F9F7F1"/>
                          </a:solidFill>
                          <a:latin typeface="Calibri"/>
                          <a:ea typeface="Calibri"/>
                          <a:cs typeface="Calibri"/>
                        </a:rPr>
                        <a:t>Query / key</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&lt;OUTPUT&gt;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PATIENT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[NAME]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DIAGNOSIS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&lt;OUTPUT&gt;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PATIENT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[NAME]</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block</a:t>
                      </a:r>
                    </a:p>
                  </a:txBody>
                  <a:tcPr marL="142875" marR="142875" marT="57150" marB="57150" anchor="ctr">
                    <a:lnR w="6668">
                      <a:solidFill>
                        <a:srgbClr val="D2D5D1"/>
                      </a:solidFill>
                      <a:prstDash val="solid"/>
                    </a:lnR>
                    <a:lnB w="6668">
                      <a:solidFill>
                        <a:srgbClr val="D2D5D1"/>
                      </a:solidFill>
                      <a:prstDash val="solid"/>
                    </a:lnB>
                    <a:solidFill>
                      <a:srgbClr val="ECECE4"/>
                    </a:solidFill>
                  </a:tcPr>
                </a:tc>
              </a:tr>
              <a:tr h="742950">
                <a:tc>
                  <a:txBody>
                    <a:bodyPr/>
                    <a:lstStyle/>
                    <a:p>
                      <a:r>
                        <a:rPr sz="1725">
                          <a:solidFill>
                            <a:srgbClr val="142D3C"/>
                          </a:solidFill>
                          <a:latin typeface="Calibri"/>
                          <a:ea typeface="Calibri"/>
                          <a:cs typeface="Calibri"/>
                        </a:rPr>
                        <a:t>DIAGNOSIS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c>
                  <a:txBody>
                    <a:bodyPr/>
                    <a:lstStyle/>
                    <a:p>
                      <a:r>
                        <a:rPr sz="1725">
                          <a:solidFill>
                            <a:srgbClr val="142D3C"/>
                          </a:solidFill>
                          <a:latin typeface="Calibri"/>
                          <a:ea typeface="Calibri"/>
                          <a:cs typeface="Calibri"/>
                        </a:rPr>
                        <a:t>allow</a:t>
                      </a:r>
                    </a:p>
                  </a:txBody>
                  <a:tcPr marL="142875" marR="142875" marT="57150" marB="57150" anchor="ctr">
                    <a:lnR w="6668">
                      <a:solidFill>
                        <a:srgbClr val="D2D5D1"/>
                      </a:solidFill>
                      <a:prstDash val="solid"/>
                    </a:lnR>
                    <a:lnB w="6668">
                      <a:solidFill>
                        <a:srgbClr val="D2D5D1"/>
                      </a:solidFill>
                      <a:prstDash val="solid"/>
                    </a:lnB>
                    <a:solidFill>
                      <a:srgbClr val="DDE9DF"/>
                    </a:solidFill>
                  </a:tcPr>
                </a:tc>
              </a:tr>
            </a:tbl>
          </a:graphicData>
        </a:graphic>
      </p:graphicFrame>
      <p:sp>
        <p:nvSpPr>
          <p:cNvPr id="5" name="body">
            <a:extLst xmlns:a="http://schemas.openxmlformats.org/drawingml/2006/main">
              <a:ext uri="{FF2B5EF4-FFF2-40B4-BE49-F238E27FC236}">
                <a16:creationId xmlns:a16="http://schemas.microsoft.com/office/drawing/2014/main" id="{FA3AAB99-9580-477B-BE3D-66F98FAD364E}"/>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Causal mask: future visibility     Padding mask: filler keys     Loss mask: scored targets</a:t>
            </a:r>
          </a:p>
        </p:txBody>
      </p:sp>
    </p:spTree>
    <p:extLst>
      <p:ext uri="{BB962C8B-B14F-4D97-AF65-F5344CB8AC3E}">
        <p14:creationId xmlns:p14="http://schemas.microsoft.com/office/powerpoint/2010/main" val="504982493"/>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289DDB33-9584-4E59-9C44-3952E8A2FF5F}"/>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Heads share positions and split features</a:t>
            </a:r>
          </a:p>
        </p:txBody>
      </p:sp>
      <p:sp>
        <p:nvSpPr>
          <p:cNvPr id="2" name="subtitle">
            <a:extLst xmlns:a="http://schemas.openxmlformats.org/drawingml/2006/main">
              <a:ext uri="{FF2B5EF4-FFF2-40B4-BE49-F238E27FC236}">
                <a16:creationId xmlns:a16="http://schemas.microsoft.com/office/drawing/2014/main" id="{3FCD34EB-16BC-49B1-8C6A-AD823DDC5B7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feature dimension divides across heads, while every head keeps all token positions</a:t>
            </a:r>
          </a:p>
        </p:txBody>
      </p:sp>
      <p:sp>
        <p:nvSpPr>
          <p:cNvPr id="3" name="page-number">
            <a:extLst xmlns:a="http://schemas.openxmlformats.org/drawingml/2006/main">
              <a:ext uri="{FF2B5EF4-FFF2-40B4-BE49-F238E27FC236}">
                <a16:creationId xmlns:a16="http://schemas.microsoft.com/office/drawing/2014/main" id="{82B81405-81DD-4E6A-BAE9-71DFFA122CAD}"/>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11</a:t>
            </a:r>
          </a:p>
        </p:txBody>
      </p:sp>
      <p:graphicFrame>
        <p:nvGraphicFramePr>
          <p:cNvPr id="4" name="">
            <a:extLst xmlns:a="http://schemas.openxmlformats.org/drawingml/2006/main">
              <a:ext uri="{FF2B5EF4-FFF2-40B4-BE49-F238E27FC236}">
                <a16:creationId xmlns:a16="http://schemas.microsoft.com/office/drawing/2014/main" id="{669B093A-ABC7-4B2D-9285-F491B5A660CC}"/>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857500"/>
                <a:gridCol w="2857500"/>
                <a:gridCol w="5105400"/>
              </a:tblGrid>
              <a:tr h="650875">
                <a:tc>
                  <a:txBody>
                    <a:bodyPr/>
                    <a:lstStyle/>
                    <a:p>
                      <a:r>
                        <a:rPr sz="1650" b="1">
                          <a:solidFill>
                            <a:srgbClr val="F9F7F1"/>
                          </a:solidFill>
                          <a:latin typeface="Calibri"/>
                          <a:ea typeface="Calibri"/>
                          <a:cs typeface="Calibri"/>
                        </a:rPr>
                        <a:t>Operation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Illustrative shape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Meaning</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Input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64 features at every position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Q, K, V after split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4, T, 16)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Four head-specific feature views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Per-head 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4, T, 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 separate distribution per query and head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Concatenate contexts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Rejoin 4 × 16 features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Output projection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 T,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Mix information across head outputs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961164844"/>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55EA618A-B98E-4391-AA39-9201A57AC7F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Two decoder blocks</a:t>
            </a:r>
          </a:p>
        </p:txBody>
      </p:sp>
      <p:sp>
        <p:nvSpPr>
          <p:cNvPr id="2" name="subtitle">
            <a:extLst xmlns:a="http://schemas.openxmlformats.org/drawingml/2006/main">
              <a:ext uri="{FF2B5EF4-FFF2-40B4-BE49-F238E27FC236}">
                <a16:creationId xmlns:a16="http://schemas.microsoft.com/office/drawing/2014/main" id="{24743245-5C9F-443A-8821-2CFE70C74C3D}"/>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Our full model normalizes before each sublayer</a:t>
            </a:r>
          </a:p>
        </p:txBody>
      </p:sp>
      <p:sp>
        <p:nvSpPr>
          <p:cNvPr id="3" name="page-number">
            <a:extLst xmlns:a="http://schemas.openxmlformats.org/drawingml/2006/main">
              <a:ext uri="{FF2B5EF4-FFF2-40B4-BE49-F238E27FC236}">
                <a16:creationId xmlns:a16="http://schemas.microsoft.com/office/drawing/2014/main" id="{C6EDCBFE-A1B8-4C5D-A2A7-D42F9522CD36}"/>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12</a:t>
            </a:r>
          </a:p>
        </p:txBody>
      </p:sp>
      <p:sp>
        <p:nvSpPr>
          <p:cNvPr id="4" name="body">
            <a:extLst xmlns:a="http://schemas.openxmlformats.org/drawingml/2006/main">
              <a:ext uri="{FF2B5EF4-FFF2-40B4-BE49-F238E27FC236}">
                <a16:creationId xmlns:a16="http://schemas.microsoft.com/office/drawing/2014/main" id="{C54A8C55-4368-40C2-97FB-E5FAE887028F}"/>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U = X + Attention(LN₁(X))</a:t>
            </a:r>
          </a:p>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Y = U + FFN(LN₂(U))</a:t>
            </a:r>
          </a:p>
        </p:txBody>
      </p:sp>
      <p:sp>
        <p:nvSpPr>
          <p:cNvPr id="5" name="body">
            <a:extLst xmlns:a="http://schemas.openxmlformats.org/drawingml/2006/main">
              <a:ext uri="{FF2B5EF4-FFF2-40B4-BE49-F238E27FC236}">
                <a16:creationId xmlns:a16="http://schemas.microsoft.com/office/drawing/2014/main" id="{7F29D999-2BE6-4D1E-87C5-845B879E6403}"/>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LN</a:t>
            </a:r>
          </a:p>
        </p:txBody>
      </p:sp>
      <p:sp>
        <p:nvSpPr>
          <p:cNvPr id="6" name="body">
            <a:extLst xmlns:a="http://schemas.openxmlformats.org/drawingml/2006/main">
              <a:ext uri="{FF2B5EF4-FFF2-40B4-BE49-F238E27FC236}">
                <a16:creationId xmlns:a16="http://schemas.microsoft.com/office/drawing/2014/main" id="{274ECB56-4C80-4D8C-8AA5-0E23945A4FDF}"/>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Normalize features independently at each token position</a:t>
            </a:r>
          </a:p>
        </p:txBody>
      </p:sp>
      <p:sp>
        <p:nvSpPr>
          <p:cNvPr id="7" name="body">
            <a:extLst xmlns:a="http://schemas.openxmlformats.org/drawingml/2006/main">
              <a:ext uri="{FF2B5EF4-FFF2-40B4-BE49-F238E27FC236}">
                <a16:creationId xmlns:a16="http://schemas.microsoft.com/office/drawing/2014/main" id="{FD9CFE61-8B83-4247-98A3-A2ED069D5789}"/>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Residual addition</a:t>
            </a:r>
          </a:p>
        </p:txBody>
      </p:sp>
      <p:sp>
        <p:nvSpPr>
          <p:cNvPr id="8" name="body">
            <a:extLst xmlns:a="http://schemas.openxmlformats.org/drawingml/2006/main">
              <a:ext uri="{FF2B5EF4-FFF2-40B4-BE49-F238E27FC236}">
                <a16:creationId xmlns:a16="http://schemas.microsoft.com/office/drawing/2014/main" id="{DB28AFFA-3112-45A5-8C4A-85CF25ACA2B7}"/>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Retain a direct path for features and gradients</a:t>
            </a:r>
          </a:p>
        </p:txBody>
      </p:sp>
      <p:sp>
        <p:nvSpPr>
          <p:cNvPr id="9" name="body">
            <a:extLst xmlns:a="http://schemas.openxmlformats.org/drawingml/2006/main">
              <a:ext uri="{FF2B5EF4-FFF2-40B4-BE49-F238E27FC236}">
                <a16:creationId xmlns:a16="http://schemas.microsoft.com/office/drawing/2014/main" id="{3065B73D-915F-4712-9238-155AD9F95651}"/>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Attention</a:t>
            </a:r>
          </a:p>
        </p:txBody>
      </p:sp>
      <p:sp>
        <p:nvSpPr>
          <p:cNvPr id="10" name="body">
            <a:extLst xmlns:a="http://schemas.openxmlformats.org/drawingml/2006/main">
              <a:ext uri="{FF2B5EF4-FFF2-40B4-BE49-F238E27FC236}">
                <a16:creationId xmlns:a16="http://schemas.microsoft.com/office/drawing/2014/main" id="{0DCB5BB0-C06B-478B-A261-9F083CB1BA70}"/>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Mix information across eligible positions</a:t>
            </a:r>
          </a:p>
        </p:txBody>
      </p:sp>
      <p:sp>
        <p:nvSpPr>
          <p:cNvPr id="11" name="body">
            <a:extLst xmlns:a="http://schemas.openxmlformats.org/drawingml/2006/main">
              <a:ext uri="{FF2B5EF4-FFF2-40B4-BE49-F238E27FC236}">
                <a16:creationId xmlns:a16="http://schemas.microsoft.com/office/drawing/2014/main" id="{C997964E-F30F-4C3D-8281-CF8ED06741AC}"/>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FFN</a:t>
            </a:r>
          </a:p>
        </p:txBody>
      </p:sp>
      <p:sp>
        <p:nvSpPr>
          <p:cNvPr id="12" name="body">
            <a:extLst xmlns:a="http://schemas.openxmlformats.org/drawingml/2006/main">
              <a:ext uri="{FF2B5EF4-FFF2-40B4-BE49-F238E27FC236}">
                <a16:creationId xmlns:a16="http://schemas.microsoft.com/office/drawing/2014/main" id="{848EDA9B-195C-4BB6-A08B-ADA21050768B}"/>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Transform features separately at each position</a:t>
            </a:r>
          </a:p>
        </p:txBody>
      </p:sp>
      <p:sp>
        <p:nvSpPr>
          <p:cNvPr id="13" name="body">
            <a:extLst xmlns:a="http://schemas.openxmlformats.org/drawingml/2006/main">
              <a:ext uri="{FF2B5EF4-FFF2-40B4-BE49-F238E27FC236}">
                <a16:creationId xmlns:a16="http://schemas.microsoft.com/office/drawing/2014/main" id="{7DC0BB3D-6673-4DD6-9DD2-240CFEB545BD}"/>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Two blocks repeat this process, followed by final normalization and vocabulary projection</a:t>
            </a:r>
          </a:p>
        </p:txBody>
      </p:sp>
    </p:spTree>
    <p:extLst>
      <p:ext uri="{BB962C8B-B14F-4D97-AF65-F5344CB8AC3E}">
        <p14:creationId xmlns:p14="http://schemas.microsoft.com/office/powerpoint/2010/main" val="1667538055"/>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193B5237-68BC-44D3-B8A5-1586EE271BE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Learning the output continuation</a:t>
            </a:r>
          </a:p>
        </p:txBody>
      </p:sp>
      <p:sp>
        <p:nvSpPr>
          <p:cNvPr id="2" name="subtitle">
            <a:extLst xmlns:a="http://schemas.openxmlformats.org/drawingml/2006/main">
              <a:ext uri="{FF2B5EF4-FFF2-40B4-BE49-F238E27FC236}">
                <a16:creationId xmlns:a16="http://schemas.microsoft.com/office/drawing/2014/main" id="{849637A1-8149-4AF8-9A5D-A415EE6CA14C}"/>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The source contributes context while selected targets contribute loss</a:t>
            </a:r>
          </a:p>
        </p:txBody>
      </p:sp>
      <p:sp>
        <p:nvSpPr>
          <p:cNvPr id="3" name="page-number">
            <a:extLst xmlns:a="http://schemas.openxmlformats.org/drawingml/2006/main">
              <a:ext uri="{FF2B5EF4-FFF2-40B4-BE49-F238E27FC236}">
                <a16:creationId xmlns:a16="http://schemas.microsoft.com/office/drawing/2014/main" id="{CB42127A-DCF8-4891-AE8A-E763D22D3E97}"/>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13</a:t>
            </a:r>
          </a:p>
        </p:txBody>
      </p:sp>
      <p:sp>
        <p:nvSpPr>
          <p:cNvPr id="4" name="body">
            <a:extLst xmlns:a="http://schemas.openxmlformats.org/drawingml/2006/main">
              <a:ext uri="{FF2B5EF4-FFF2-40B4-BE49-F238E27FC236}">
                <a16:creationId xmlns:a16="http://schemas.microsoft.com/office/drawing/2014/main" id="{9A09FC97-F0EE-47E7-B13F-FB96F54BA639}"/>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L = −Σₜ mₜ log p(yₜ | prefixₜ) / Σₜ mₜ</a:t>
            </a:r>
          </a:p>
        </p:txBody>
      </p:sp>
      <p:sp>
        <p:nvSpPr>
          <p:cNvPr id="5" name="body">
            <a:extLst xmlns:a="http://schemas.openxmlformats.org/drawingml/2006/main">
              <a:ext uri="{FF2B5EF4-FFF2-40B4-BE49-F238E27FC236}">
                <a16:creationId xmlns:a16="http://schemas.microsoft.com/office/drawing/2014/main" id="{D3BAD96C-68C7-46FC-B520-A775186D88B9}"/>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yₜ</a:t>
            </a:r>
          </a:p>
        </p:txBody>
      </p:sp>
      <p:sp>
        <p:nvSpPr>
          <p:cNvPr id="6" name="body">
            <a:extLst xmlns:a="http://schemas.openxmlformats.org/drawingml/2006/main">
              <a:ext uri="{FF2B5EF4-FFF2-40B4-BE49-F238E27FC236}">
                <a16:creationId xmlns:a16="http://schemas.microsoft.com/office/drawing/2014/main" id="{28500394-BFA8-4696-8B80-B09DCE211DC5}"/>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correct next token at prediction position t</a:t>
            </a:r>
          </a:p>
        </p:txBody>
      </p:sp>
      <p:sp>
        <p:nvSpPr>
          <p:cNvPr id="7" name="body">
            <a:extLst xmlns:a="http://schemas.openxmlformats.org/drawingml/2006/main">
              <a:ext uri="{FF2B5EF4-FFF2-40B4-BE49-F238E27FC236}">
                <a16:creationId xmlns:a16="http://schemas.microsoft.com/office/drawing/2014/main" id="{B689C914-0C6F-4C4B-A469-A8C82E10116A}"/>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p</a:t>
            </a:r>
          </a:p>
        </p:txBody>
      </p:sp>
      <p:sp>
        <p:nvSpPr>
          <p:cNvPr id="8" name="body">
            <a:extLst xmlns:a="http://schemas.openxmlformats.org/drawingml/2006/main">
              <a:ext uri="{FF2B5EF4-FFF2-40B4-BE49-F238E27FC236}">
                <a16:creationId xmlns:a16="http://schemas.microsoft.com/office/drawing/2014/main" id="{F366DA95-AF3D-46C6-9E96-B15AD50992F5}"/>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The model probability assigned to that correct token</a:t>
            </a:r>
          </a:p>
        </p:txBody>
      </p:sp>
      <p:sp>
        <p:nvSpPr>
          <p:cNvPr id="9" name="body">
            <a:extLst xmlns:a="http://schemas.openxmlformats.org/drawingml/2006/main">
              <a:ext uri="{FF2B5EF4-FFF2-40B4-BE49-F238E27FC236}">
                <a16:creationId xmlns:a16="http://schemas.microsoft.com/office/drawing/2014/main" id="{E929C36E-C07B-482D-91DE-0054BEBAE231}"/>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mₜ</a:t>
            </a:r>
          </a:p>
        </p:txBody>
      </p:sp>
      <p:sp>
        <p:nvSpPr>
          <p:cNvPr id="10" name="body">
            <a:extLst xmlns:a="http://schemas.openxmlformats.org/drawingml/2006/main">
              <a:ext uri="{FF2B5EF4-FFF2-40B4-BE49-F238E27FC236}">
                <a16:creationId xmlns:a16="http://schemas.microsoft.com/office/drawing/2014/main" id="{020E0621-1609-4091-A79A-5C23D1F97878}"/>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1 for a scored output target, 0 for prompt or padding</a:t>
            </a:r>
          </a:p>
        </p:txBody>
      </p:sp>
      <p:sp>
        <p:nvSpPr>
          <p:cNvPr id="11" name="body">
            <a:extLst xmlns:a="http://schemas.openxmlformats.org/drawingml/2006/main">
              <a:ext uri="{FF2B5EF4-FFF2-40B4-BE49-F238E27FC236}">
                <a16:creationId xmlns:a16="http://schemas.microsoft.com/office/drawing/2014/main" id="{8D62D62A-1087-4CF1-9395-52677EA59062}"/>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Σ, log</a:t>
            </a:r>
          </a:p>
        </p:txBody>
      </p:sp>
      <p:sp>
        <p:nvSpPr>
          <p:cNvPr id="12" name="body">
            <a:extLst xmlns:a="http://schemas.openxmlformats.org/drawingml/2006/main">
              <a:ext uri="{FF2B5EF4-FFF2-40B4-BE49-F238E27FC236}">
                <a16:creationId xmlns:a16="http://schemas.microsoft.com/office/drawing/2014/main" id="{9F2E8242-ECB3-4735-833B-4A76B7441EFF}"/>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Sum over positions, using the natural logarithm</a:t>
            </a:r>
          </a:p>
        </p:txBody>
      </p:sp>
      <p:sp>
        <p:nvSpPr>
          <p:cNvPr id="13" name="body">
            <a:extLst xmlns:a="http://schemas.openxmlformats.org/drawingml/2006/main">
              <a:ext uri="{FF2B5EF4-FFF2-40B4-BE49-F238E27FC236}">
                <a16:creationId xmlns:a16="http://schemas.microsoft.com/office/drawing/2014/main" id="{0AC0E4D3-2E92-41AC-99F6-BB5110768682}"/>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Illustrative loss: correct-token probability 0.10 gives 2.303, while 0.80 gives 0.223</a:t>
            </a:r>
          </a:p>
        </p:txBody>
      </p:sp>
    </p:spTree>
    <p:extLst>
      <p:ext uri="{BB962C8B-B14F-4D97-AF65-F5344CB8AC3E}">
        <p14:creationId xmlns:p14="http://schemas.microsoft.com/office/powerpoint/2010/main" val="1125822001"/>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9E43FDA6-D51D-44F7-B085-CBF7BE0149D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Eight trained architecture variants</a:t>
            </a:r>
          </a:p>
        </p:txBody>
      </p:sp>
      <p:sp>
        <p:nvSpPr>
          <p:cNvPr id="2" name="subtitle">
            <a:extLst xmlns:a="http://schemas.openxmlformats.org/drawingml/2006/main">
              <a:ext uri="{FF2B5EF4-FFF2-40B4-BE49-F238E27FC236}">
                <a16:creationId xmlns:a16="http://schemas.microsoft.com/office/drawing/2014/main" id="{197BBD81-3A7A-4977-8C56-139F33E8594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Every choice loads its own trained checkpoint</a:t>
            </a:r>
          </a:p>
        </p:txBody>
      </p:sp>
      <p:sp>
        <p:nvSpPr>
          <p:cNvPr id="3" name="page-number">
            <a:extLst xmlns:a="http://schemas.openxmlformats.org/drawingml/2006/main">
              <a:ext uri="{FF2B5EF4-FFF2-40B4-BE49-F238E27FC236}">
                <a16:creationId xmlns:a16="http://schemas.microsoft.com/office/drawing/2014/main" id="{9B2AA4C5-D0FE-485B-A6EF-830A37BBAFD4}"/>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14</a:t>
            </a:r>
          </a:p>
        </p:txBody>
      </p:sp>
      <p:graphicFrame>
        <p:nvGraphicFramePr>
          <p:cNvPr id="4" name="">
            <a:extLst xmlns:a="http://schemas.openxmlformats.org/drawingml/2006/main">
              <a:ext uri="{FF2B5EF4-FFF2-40B4-BE49-F238E27FC236}">
                <a16:creationId xmlns:a16="http://schemas.microsoft.com/office/drawing/2014/main" id="{333D77AE-E3E3-487A-ACCD-9BC605666E5E}"/>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2762250"/>
                <a:gridCol w="2000250"/>
                <a:gridCol w="6057900"/>
              </a:tblGrid>
              <a:tr h="448733">
                <a:tc>
                  <a:txBody>
                    <a:bodyPr/>
                    <a:lstStyle/>
                    <a:p>
                      <a:r>
                        <a:rPr sz="1650" b="1">
                          <a:solidFill>
                            <a:srgbClr val="F9F7F1"/>
                          </a:solidFill>
                          <a:latin typeface="Calibri"/>
                          <a:ea typeface="Calibri"/>
                          <a:cs typeface="Calibri"/>
                        </a:rPr>
                        <a:t>Model</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Assignment role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Architecture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448733">
                <a:tc>
                  <a:txBody>
                    <a:bodyPr/>
                    <a:lstStyle/>
                    <a:p>
                      <a:r>
                        <a:rPr sz="1650">
                          <a:solidFill>
                            <a:srgbClr val="142D3C"/>
                          </a:solidFill>
                          <a:latin typeface="Calibri"/>
                          <a:ea typeface="Calibri"/>
                          <a:cs typeface="Calibri"/>
                        </a:rPr>
                        <a:t>Embedding only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Token + position embeddings → logits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Single 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One bare causal head → logits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Multi attention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Additional</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Same bare arrangement, four heads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One full block</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Depth</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Pre-LN attention + FFN + residuals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C</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Two decoder blocks + final norm</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FFN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Two blocks without FFN branch</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LayerNorm</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All block/final norms omitted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No residual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Ablation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Residual additions omitted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275900767"/>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CFC6CAEA-F65F-4B09-AF98-7D64EFFD69D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Measure the transformation</a:t>
            </a:r>
          </a:p>
        </p:txBody>
      </p:sp>
      <p:sp>
        <p:nvSpPr>
          <p:cNvPr id="2" name="subtitle">
            <a:extLst xmlns:a="http://schemas.openxmlformats.org/drawingml/2006/main">
              <a:ext uri="{FF2B5EF4-FFF2-40B4-BE49-F238E27FC236}">
                <a16:creationId xmlns:a16="http://schemas.microsoft.com/office/drawing/2014/main" id="{110C000F-497E-4BFD-BC53-C47B046C1D9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Token accuracy alone can miss leakage and clinical corruption</a:t>
            </a:r>
          </a:p>
        </p:txBody>
      </p:sp>
      <p:sp>
        <p:nvSpPr>
          <p:cNvPr id="3" name="page-number">
            <a:extLst xmlns:a="http://schemas.openxmlformats.org/drawingml/2006/main">
              <a:ext uri="{FF2B5EF4-FFF2-40B4-BE49-F238E27FC236}">
                <a16:creationId xmlns:a16="http://schemas.microsoft.com/office/drawing/2014/main" id="{834D65E6-C99D-4943-B386-C6D406251CF6}"/>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15</a:t>
            </a:r>
          </a:p>
        </p:txBody>
      </p:sp>
      <p:graphicFrame>
        <p:nvGraphicFramePr>
          <p:cNvPr id="4" name="">
            <a:extLst xmlns:a="http://schemas.openxmlformats.org/drawingml/2006/main">
              <a:ext uri="{FF2B5EF4-FFF2-40B4-BE49-F238E27FC236}">
                <a16:creationId xmlns:a16="http://schemas.microsoft.com/office/drawing/2014/main" id="{16DAB0BF-7F69-4259-A071-D15A03992AA9}"/>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3143250"/>
                <a:gridCol w="4286250"/>
                <a:gridCol w="3390900"/>
              </a:tblGrid>
              <a:tr h="650875">
                <a:tc>
                  <a:txBody>
                    <a:bodyPr/>
                    <a:lstStyle/>
                    <a:p>
                      <a:r>
                        <a:rPr sz="1650" b="1">
                          <a:solidFill>
                            <a:srgbClr val="F9F7F1"/>
                          </a:solidFill>
                          <a:latin typeface="Calibri"/>
                          <a:ea typeface="Calibri"/>
                          <a:cs typeface="Calibri"/>
                        </a:rPr>
                        <a:t>Measure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Question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What must accompany it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Token loss / accuracy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How well is the next token predicted?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Teacher-forced scored-token count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Redaction precision / recall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Correct placeholder at the correct field?</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TP / FP / FN and category support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Exact note match</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Was the entire note reproduced correctly?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Number of complete generated notes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Clinical preservation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Did the original field/value relation survive?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Correct fields / supported fields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Leakage / EOS / latency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What failed or cost time?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Raw text, stop reason and hardware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2036787539"/>
      </p:ext>
    </p:extLst>
  </p:cSld>
</p:sld>
</file>

<file path=ppt/slides/slide1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462B41C0-70F8-4CB7-9ED0-F35828A2067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Loss and next-token accuracy</a:t>
            </a:r>
          </a:p>
        </p:txBody>
      </p:sp>
      <p:sp>
        <p:nvSpPr>
          <p:cNvPr id="2" name="subtitle">
            <a:extLst xmlns:a="http://schemas.openxmlformats.org/drawingml/2006/main">
              <a:ext uri="{FF2B5EF4-FFF2-40B4-BE49-F238E27FC236}">
                <a16:creationId xmlns:a16="http://schemas.microsoft.com/office/drawing/2014/main" id="{48791A60-4B48-425A-A3EF-6F7A6D17549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Teacher forcing supplies the correct prefix; free generation remains a separate test</a:t>
            </a:r>
          </a:p>
        </p:txBody>
      </p:sp>
      <p:sp>
        <p:nvSpPr>
          <p:cNvPr id="3" name="page-number">
            <a:extLst xmlns:a="http://schemas.openxmlformats.org/drawingml/2006/main">
              <a:ext uri="{FF2B5EF4-FFF2-40B4-BE49-F238E27FC236}">
                <a16:creationId xmlns:a16="http://schemas.microsoft.com/office/drawing/2014/main" id="{E047EA92-EE6B-4DFD-866C-B68F0B2065AA}"/>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16</a:t>
            </a:r>
          </a:p>
        </p:txBody>
      </p:sp>
      <p:graphicFrame>
        <p:nvGraphicFramePr>
          <p:cNvPr id="4" name="">
            <a:extLst xmlns:a="http://schemas.openxmlformats.org/drawingml/2006/main">
              <a:ext uri="{FF2B5EF4-FFF2-40B4-BE49-F238E27FC236}">
                <a16:creationId xmlns:a16="http://schemas.microsoft.com/office/drawing/2014/main" id="{BB44AD2E-2934-414E-9D5A-867BEFD2F645}"/>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571750"/>
                <a:gridCol w="1619250"/>
                <a:gridCol w="1619250"/>
                <a:gridCol w="2505075"/>
                <a:gridCol w="2505075"/>
              </a:tblGrid>
              <a:tr h="742950">
                <a:tc>
                  <a:txBody>
                    <a:bodyPr/>
                    <a:lstStyle/>
                    <a:p>
                      <a:r>
                        <a:rPr sz="1650" b="1">
                          <a:solidFill>
                            <a:srgbClr val="F9F7F1"/>
                          </a:solidFill>
                          <a:latin typeface="Calibri"/>
                          <a:ea typeface="Calibri"/>
                          <a:cs typeface="Calibri"/>
                        </a:rPr>
                        <a:t>Architecture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Last batch loss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Validation loss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Familiar test: loss / accuracy</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New layout: loss / accuracy</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Embedding only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0.937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1.801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1.082 / 66.7%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2.245 / 52.6%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One attention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0.007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4.717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0.163 / 97.0%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6.878 / 57.2%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Four attention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0.002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3.541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0.198 / 96.8%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5.898 / 56.9%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1.915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0.024 / 99.4%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2.875 / 64.4%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93438754"/>
      </p:ext>
    </p:extLst>
  </p:cSld>
</p:sld>
</file>

<file path=ppt/slides/slide1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D696F58E-561F-467D-898D-7911AFFE48A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Architecture comparison</a:t>
            </a:r>
          </a:p>
        </p:txBody>
      </p:sp>
      <p:sp>
        <p:nvSpPr>
          <p:cNvPr id="2" name="subtitle">
            <a:extLst xmlns:a="http://schemas.openxmlformats.org/drawingml/2006/main">
              <a:ext uri="{FF2B5EF4-FFF2-40B4-BE49-F238E27FC236}">
                <a16:creationId xmlns:a16="http://schemas.microsoft.com/office/drawing/2014/main" id="{03627A99-7A7A-4D5F-967E-29941C8A7203}"/>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Primary seed 42, fixed4,000 updates,24 familiar-condition validation notes</a:t>
            </a:r>
          </a:p>
        </p:txBody>
      </p:sp>
      <p:sp>
        <p:nvSpPr>
          <p:cNvPr id="3" name="page-number">
            <a:extLst xmlns:a="http://schemas.openxmlformats.org/drawingml/2006/main">
              <a:ext uri="{FF2B5EF4-FFF2-40B4-BE49-F238E27FC236}">
                <a16:creationId xmlns:a16="http://schemas.microsoft.com/office/drawing/2014/main" id="{DCCE33B8-2784-4667-9B0D-7FB31C1CBAB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17</a:t>
            </a:r>
          </a:p>
        </p:txBody>
      </p:sp>
      <p:graphicFrame>
        <p:nvGraphicFramePr>
          <p:cNvPr id="4" name="Chart">
            <a:extLst xmlns:a="http://schemas.openxmlformats.org/drawingml/2006/main">
              <a:ext uri="{FF2B5EF4-FFF2-40B4-BE49-F238E27FC236}">
                <a16:creationId xmlns:a16="http://schemas.microsoft.com/office/drawing/2014/main" id="{8FCCEED1-5CA9-4EA6-9116-BC656D5FA62D}"/>
              </a:ext>
            </a:extLst>
          </p:cNvPr>
          <p:cNvGraphicFramePr/>
          <p:nvPr/>
        </p:nvGraphicFramePr>
        <p:xfrm>
          <a:off xmlns:a="http://schemas.openxmlformats.org/drawingml/2006/main" x="685800" y="2095500"/>
          <a:ext xmlns:a="http://schemas.openxmlformats.org/drawingml/2006/main" cx="10820400" cy="3905250"/>
        </p:xfrm>
        <a:graphic xmlns:a="http://schemas.openxmlformats.org/drawingml/2006/main">
          <a:graphicData uri="http://schemas.openxmlformats.org/drawingml/2006/chart">
            <c:chart xmlns:r="http://schemas.openxmlformats.org/officeDocument/2006/relationships" xmlns:c="http://schemas.openxmlformats.org/drawingml/2006/chart" r:id="Ra4c9991e2d7149f9"/>
          </a:graphicData>
        </a:graphic>
      </p:graphicFrame>
      <p:sp>
        <p:nvSpPr>
          <p:cNvPr id="5" name="body">
            <a:extLst xmlns:a="http://schemas.openxmlformats.org/drawingml/2006/main">
              <a:ext uri="{FF2B5EF4-FFF2-40B4-BE49-F238E27FC236}">
                <a16:creationId xmlns:a16="http://schemas.microsoft.com/office/drawing/2014/main" id="{192FB2B1-D220-43F7-AA70-0537332FC29B}"/>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Familiar diagnostics show learned behavior, while final partitions test transfer</a:t>
            </a:r>
          </a:p>
        </p:txBody>
      </p:sp>
    </p:spTree>
    <p:extLst>
      <p:ext uri="{BB962C8B-B14F-4D97-AF65-F5344CB8AC3E}">
        <p14:creationId xmlns:p14="http://schemas.microsoft.com/office/powerpoint/2010/main" val="226767039"/>
      </p:ext>
    </p:extLst>
  </p:cSld>
</p:sld>
</file>

<file path=ppt/slides/slide1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E6DE94D7-D5A5-4A07-AA8D-24F852F0245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Component removal experiments</a:t>
            </a:r>
          </a:p>
        </p:txBody>
      </p:sp>
      <p:sp>
        <p:nvSpPr>
          <p:cNvPr id="2" name="subtitle">
            <a:extLst xmlns:a="http://schemas.openxmlformats.org/drawingml/2006/main">
              <a:ext uri="{FF2B5EF4-FFF2-40B4-BE49-F238E27FC236}">
                <a16:creationId xmlns:a16="http://schemas.microsoft.com/office/drawing/2014/main" id="{32DB5D30-0A32-4F3E-B527-C55B19E58406}"/>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Separate training runs under the same seed 42 policy</a:t>
            </a:r>
          </a:p>
        </p:txBody>
      </p:sp>
      <p:sp>
        <p:nvSpPr>
          <p:cNvPr id="3" name="page-number">
            <a:extLst xmlns:a="http://schemas.openxmlformats.org/drawingml/2006/main">
              <a:ext uri="{FF2B5EF4-FFF2-40B4-BE49-F238E27FC236}">
                <a16:creationId xmlns:a16="http://schemas.microsoft.com/office/drawing/2014/main" id="{7A213245-7C44-4A1C-8BBB-73E7BAA3E6C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18</a:t>
            </a:r>
          </a:p>
        </p:txBody>
      </p:sp>
      <p:graphicFrame>
        <p:nvGraphicFramePr>
          <p:cNvPr id="4" name="">
            <a:extLst xmlns:a="http://schemas.openxmlformats.org/drawingml/2006/main">
              <a:ext uri="{FF2B5EF4-FFF2-40B4-BE49-F238E27FC236}">
                <a16:creationId xmlns:a16="http://schemas.microsoft.com/office/drawing/2014/main" id="{668444F3-2A24-4588-AABC-9430B1D3B25A}"/>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762250"/>
                <a:gridCol w="1809750"/>
                <a:gridCol w="2095500"/>
                <a:gridCol w="2000250"/>
                <a:gridCol w="2152650"/>
              </a:tblGrid>
              <a:tr h="742950">
                <a:tc>
                  <a:txBody>
                    <a:bodyPr/>
                    <a:lstStyle/>
                    <a:p>
                      <a:r>
                        <a:rPr sz="1650" b="1">
                          <a:solidFill>
                            <a:srgbClr val="F9F7F1"/>
                          </a:solidFill>
                          <a:latin typeface="Calibri"/>
                          <a:ea typeface="Calibri"/>
                          <a:cs typeface="Calibri"/>
                        </a:rPr>
                        <a:t>Variant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 /24</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Clinical /24</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Max logged gradient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118,802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23/24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23/24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1.38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Without LayerNorm</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118,162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23/24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23/24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2.69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Without residuals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118,802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24/24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24/24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3.11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Without FFN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68,882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23/24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24/24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1.39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828623474"/>
      </p:ext>
    </p:extLst>
  </p:cSld>
</p:sld>
</file>

<file path=ppt/slides/slide1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846B7CCA-F2A7-477A-93DB-AF46E27514B0}"/>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Training-seed sensitivity</a:t>
            </a:r>
          </a:p>
        </p:txBody>
      </p:sp>
      <p:sp>
        <p:nvSpPr>
          <p:cNvPr id="2" name="subtitle">
            <a:extLst xmlns:a="http://schemas.openxmlformats.org/drawingml/2006/main">
              <a:ext uri="{FF2B5EF4-FFF2-40B4-BE49-F238E27FC236}">
                <a16:creationId xmlns:a16="http://schemas.microsoft.com/office/drawing/2014/main" id="{DA306927-3E0E-4D13-9565-58A8C8D910F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Same development notes, different initialization and minibatch order</a:t>
            </a:r>
          </a:p>
        </p:txBody>
      </p:sp>
      <p:sp>
        <p:nvSpPr>
          <p:cNvPr id="3" name="page-number">
            <a:extLst xmlns:a="http://schemas.openxmlformats.org/drawingml/2006/main">
              <a:ext uri="{FF2B5EF4-FFF2-40B4-BE49-F238E27FC236}">
                <a16:creationId xmlns:a16="http://schemas.microsoft.com/office/drawing/2014/main" id="{F962E04D-B704-47D7-8EEC-D93F1CCDD489}"/>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19</a:t>
            </a:r>
          </a:p>
        </p:txBody>
      </p:sp>
      <p:graphicFrame>
        <p:nvGraphicFramePr>
          <p:cNvPr id="4" name="">
            <a:extLst xmlns:a="http://schemas.openxmlformats.org/drawingml/2006/main">
              <a:ext uri="{FF2B5EF4-FFF2-40B4-BE49-F238E27FC236}">
                <a16:creationId xmlns:a16="http://schemas.microsoft.com/office/drawing/2014/main" id="{9FE3AD71-09C6-4F85-99B2-1650CEAB8493}"/>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143250"/>
                <a:gridCol w="1905000"/>
                <a:gridCol w="1905000"/>
                <a:gridCol w="1905000"/>
                <a:gridCol w="1962150"/>
              </a:tblGrid>
              <a:tr h="742950">
                <a:tc>
                  <a:txBody>
                    <a:bodyPr/>
                    <a:lstStyle/>
                    <a:p>
                      <a:r>
                        <a:rPr sz="1650" b="1">
                          <a:solidFill>
                            <a:srgbClr val="F9F7F1"/>
                          </a:solidFill>
                          <a:latin typeface="Calibri"/>
                          <a:ea typeface="Calibri"/>
                          <a:cs typeface="Calibri"/>
                        </a:rPr>
                        <a:t>Architecture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Seed 42 exact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Seed 7 exact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Seed 123 exact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Authored range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Embedding only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0–0/11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One attention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18/24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9–11/11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Four attention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20/24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24/24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8–9/11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23/24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24/24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24/24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10–11/11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974585101"/>
      </p:ext>
    </p:extLst>
  </p:cSld>
</p:sld>
</file>

<file path=ppt/slides/slide2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BB242D29-D516-45DC-8287-60AB0F39E29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Individual head interventions</a:t>
            </a:r>
          </a:p>
        </p:txBody>
      </p:sp>
      <p:sp>
        <p:nvSpPr>
          <p:cNvPr id="2" name="subtitle">
            <a:extLst xmlns:a="http://schemas.openxmlformats.org/drawingml/2006/main">
              <a:ext uri="{FF2B5EF4-FFF2-40B4-BE49-F238E27FC236}">
                <a16:creationId xmlns:a16="http://schemas.microsoft.com/office/drawing/2014/main" id="{6A67A474-B53C-4734-BD67-547232418B7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Full seed 42 at4,000 updates, same eight validation notes</a:t>
            </a:r>
          </a:p>
        </p:txBody>
      </p:sp>
      <p:sp>
        <p:nvSpPr>
          <p:cNvPr id="3" name="page-number">
            <a:extLst xmlns:a="http://schemas.openxmlformats.org/drawingml/2006/main">
              <a:ext uri="{FF2B5EF4-FFF2-40B4-BE49-F238E27FC236}">
                <a16:creationId xmlns:a16="http://schemas.microsoft.com/office/drawing/2014/main" id="{E4E82054-93A4-4E1C-8251-1EC7E5EDF44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20</a:t>
            </a:r>
          </a:p>
        </p:txBody>
      </p:sp>
      <p:graphicFrame>
        <p:nvGraphicFramePr>
          <p:cNvPr id="4" name="">
            <a:extLst xmlns:a="http://schemas.openxmlformats.org/drawingml/2006/main">
              <a:ext uri="{FF2B5EF4-FFF2-40B4-BE49-F238E27FC236}">
                <a16:creationId xmlns:a16="http://schemas.microsoft.com/office/drawing/2014/main" id="{47FB0045-1BEA-4405-8E65-6F0F5B4EA9FD}"/>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2667000"/>
                <a:gridCol w="2857500"/>
                <a:gridCol w="2571750"/>
                <a:gridCol w="2724150"/>
              </a:tblGrid>
              <a:tr h="448733">
                <a:tc>
                  <a:txBody>
                    <a:bodyPr/>
                    <a:lstStyle/>
                    <a:p>
                      <a:r>
                        <a:rPr sz="1650" b="1">
                          <a:solidFill>
                            <a:srgbClr val="F9F7F1"/>
                          </a:solidFill>
                          <a:latin typeface="Calibri"/>
                          <a:ea typeface="Calibri"/>
                          <a:cs typeface="Calibri"/>
                        </a:rPr>
                        <a:t>Disabled head</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Correct identifiers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Conditional loss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448733">
                <a:tc>
                  <a:txBody>
                    <a:bodyPr/>
                    <a:lstStyle/>
                    <a:p>
                      <a:r>
                        <a:rPr sz="1650">
                          <a:solidFill>
                            <a:srgbClr val="142D3C"/>
                          </a:solidFill>
                          <a:latin typeface="Calibri"/>
                          <a:ea typeface="Calibri"/>
                          <a:cs typeface="Calibri"/>
                        </a:rPr>
                        <a:t>L0 H0</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1.1057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10/14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0.3461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12/14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5/8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0.3369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L0 H3</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14/14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7/8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0.0268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H0</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13/14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7/8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0.0637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14/14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7/8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0.0193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13/14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0.1524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448733">
                <a:tc>
                  <a:txBody>
                    <a:bodyPr/>
                    <a:lstStyle/>
                    <a:p>
                      <a:r>
                        <a:rPr sz="1650">
                          <a:solidFill>
                            <a:srgbClr val="142D3C"/>
                          </a:solidFill>
                          <a:latin typeface="Calibri"/>
                          <a:ea typeface="Calibri"/>
                          <a:cs typeface="Calibri"/>
                        </a:rPr>
                        <a:t>L1 H3</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14/14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7/8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0.0995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B96541E1-9BAA-44C0-994F-986A7952E8D7}"/>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Baseline14/14 identifiers and8/8 notes. Head index0 is the first head</a:t>
            </a:r>
          </a:p>
        </p:txBody>
      </p:sp>
    </p:spTree>
    <p:extLst>
      <p:ext uri="{BB962C8B-B14F-4D97-AF65-F5344CB8AC3E}">
        <p14:creationId xmlns:p14="http://schemas.microsoft.com/office/powerpoint/2010/main" val="1892310006"/>
      </p:ext>
    </p:extLst>
  </p:cSld>
</p:sld>
</file>

<file path=ppt/slides/slide2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99F77992-F40D-4346-B4FF-250BBF1630D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Controlled source dependence</a:t>
            </a:r>
          </a:p>
        </p:txBody>
      </p:sp>
      <p:sp>
        <p:nvSpPr>
          <p:cNvPr id="2" name="subtitle">
            <a:extLst xmlns:a="http://schemas.openxmlformats.org/drawingml/2006/main">
              <a:ext uri="{FF2B5EF4-FFF2-40B4-BE49-F238E27FC236}">
                <a16:creationId xmlns:a16="http://schemas.microsoft.com/office/drawing/2014/main" id="{687EAD8E-DF8E-4518-8562-CDA5CE12AF04}"/>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Change DrugA to DrugB while keeping prefix and position fixed</a:t>
            </a:r>
          </a:p>
        </p:txBody>
      </p:sp>
      <p:sp>
        <p:nvSpPr>
          <p:cNvPr id="3" name="page-number">
            <a:extLst xmlns:a="http://schemas.openxmlformats.org/drawingml/2006/main">
              <a:ext uri="{FF2B5EF4-FFF2-40B4-BE49-F238E27FC236}">
                <a16:creationId xmlns:a16="http://schemas.microsoft.com/office/drawing/2014/main" id="{CB72DD7A-01BE-42C5-A037-D17389F47545}"/>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21</a:t>
            </a:r>
          </a:p>
        </p:txBody>
      </p:sp>
      <p:graphicFrame>
        <p:nvGraphicFramePr>
          <p:cNvPr id="4" name="">
            <a:extLst xmlns:a="http://schemas.openxmlformats.org/drawingml/2006/main">
              <a:ext uri="{FF2B5EF4-FFF2-40B4-BE49-F238E27FC236}">
                <a16:creationId xmlns:a16="http://schemas.microsoft.com/office/drawing/2014/main" id="{2EADB817-F4B6-4228-8E6A-5B9BA02F5641}"/>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952750"/>
                <a:gridCol w="2095500"/>
                <a:gridCol w="2095500"/>
                <a:gridCol w="3676650"/>
              </a:tblGrid>
              <a:tr h="742950">
                <a:tc>
                  <a:txBody>
                    <a:bodyPr/>
                    <a:lstStyle/>
                    <a:p>
                      <a:r>
                        <a:rPr sz="1650" b="1">
                          <a:solidFill>
                            <a:srgbClr val="F9F7F1"/>
                          </a:solidFill>
                          <a:latin typeface="Calibri"/>
                          <a:ea typeface="Calibri"/>
                          <a:cs typeface="Calibri"/>
                        </a:rPr>
                        <a:t>Checkpoint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DrugA source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DrugB source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P(DrugA),A / B sources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Embedding only</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[MRN]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[MRN]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0.002 / 0.002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One attention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DrugA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DrugB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0.448 / 0.000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Four attention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Chemotherapy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DrugB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0.089 / 0.000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DrugA</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DrugB</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0.970 / 0.000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837439565"/>
      </p:ext>
    </p:extLst>
  </p:cSld>
</p:sld>
</file>

<file path=ppt/slides/slide2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95E1D26D-2ECA-4A7F-889B-1D101D1C051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Sampling temperature</a:t>
            </a:r>
          </a:p>
        </p:txBody>
      </p:sp>
      <p:sp>
        <p:nvSpPr>
          <p:cNvPr id="2" name="subtitle">
            <a:extLst xmlns:a="http://schemas.openxmlformats.org/drawingml/2006/main">
              <a:ext uri="{FF2B5EF4-FFF2-40B4-BE49-F238E27FC236}">
                <a16:creationId xmlns:a16="http://schemas.microsoft.com/office/drawing/2014/main" id="{06B7576F-1105-4C69-92DC-726C1F64B997}"/>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Same seed 42 checkpoint, eight notes and matched sampling seeds</a:t>
            </a:r>
          </a:p>
        </p:txBody>
      </p:sp>
      <p:sp>
        <p:nvSpPr>
          <p:cNvPr id="3" name="page-number">
            <a:extLst xmlns:a="http://schemas.openxmlformats.org/drawingml/2006/main">
              <a:ext uri="{FF2B5EF4-FFF2-40B4-BE49-F238E27FC236}">
                <a16:creationId xmlns:a16="http://schemas.microsoft.com/office/drawing/2014/main" id="{BB1856A3-E0B4-48C4-80A5-8637F869710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22</a:t>
            </a:r>
          </a:p>
        </p:txBody>
      </p:sp>
      <p:graphicFrame>
        <p:nvGraphicFramePr>
          <p:cNvPr id="4" name="">
            <a:extLst xmlns:a="http://schemas.openxmlformats.org/drawingml/2006/main">
              <a:ext uri="{FF2B5EF4-FFF2-40B4-BE49-F238E27FC236}">
                <a16:creationId xmlns:a16="http://schemas.microsoft.com/office/drawing/2014/main" id="{87D7882B-13FA-420A-9FAE-F95AFBE2BBC7}"/>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381250"/>
                <a:gridCol w="3238500"/>
                <a:gridCol w="2667000"/>
                <a:gridCol w="2533650"/>
              </a:tblGrid>
              <a:tr h="928688">
                <a:tc>
                  <a:txBody>
                    <a:bodyPr/>
                    <a:lstStyle/>
                    <a:p>
                      <a:r>
                        <a:rPr sz="1650" b="1">
                          <a:solidFill>
                            <a:srgbClr val="F9F7F1"/>
                          </a:solidFill>
                          <a:latin typeface="Calibri"/>
                          <a:ea typeface="Calibri"/>
                          <a:cs typeface="Calibri"/>
                        </a:rPr>
                        <a:t>Temperature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Correct identifiers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Exact 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Valid EOS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928688">
                <a:tc>
                  <a:txBody>
                    <a:bodyPr/>
                    <a:lstStyle/>
                    <a:p>
                      <a:r>
                        <a:rPr sz="1725">
                          <a:solidFill>
                            <a:srgbClr val="142D3C"/>
                          </a:solidFill>
                          <a:latin typeface="Calibri"/>
                          <a:ea typeface="Calibri"/>
                          <a:cs typeface="Calibri"/>
                        </a:rPr>
                        <a:t>0.1</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0.7</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928688">
                <a:tc>
                  <a:txBody>
                    <a:bodyPr/>
                    <a:lstStyle/>
                    <a:p>
                      <a:r>
                        <a:rPr sz="1725">
                          <a:solidFill>
                            <a:srgbClr val="142D3C"/>
                          </a:solidFill>
                          <a:latin typeface="Calibri"/>
                          <a:ea typeface="Calibri"/>
                          <a:cs typeface="Calibri"/>
                        </a:rPr>
                        <a:t>1.2</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14/14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8/8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734163955"/>
      </p:ext>
    </p:extLst>
  </p:cSld>
</p:sld>
</file>

<file path=ppt/slides/slide2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9" name="heading">
            <a:extLst xmlns:a="http://schemas.openxmlformats.org/drawingml/2006/main">
              <a:ext uri="{FF2B5EF4-FFF2-40B4-BE49-F238E27FC236}">
                <a16:creationId xmlns:a16="http://schemas.microsoft.com/office/drawing/2014/main" id="{9EC0CAFE-7485-460E-BC66-59E60C1FAE3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Out-of-distribution substitution</a:t>
            </a:r>
          </a:p>
        </p:txBody>
      </p:sp>
      <p:sp>
        <p:nvSpPr>
          <p:cNvPr id="2" name="subtitle">
            <a:extLst xmlns:a="http://schemas.openxmlformats.org/drawingml/2006/main">
              <a:ext uri="{FF2B5EF4-FFF2-40B4-BE49-F238E27FC236}">
                <a16:creationId xmlns:a16="http://schemas.microsoft.com/office/drawing/2014/main" id="{CF37833B-3EFF-466A-AEC0-C41EB8EA007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Primary seed 42, actual greedy generation</a:t>
            </a:r>
          </a:p>
        </p:txBody>
      </p:sp>
      <p:sp>
        <p:nvSpPr>
          <p:cNvPr id="3" name="page-number">
            <a:extLst xmlns:a="http://schemas.openxmlformats.org/drawingml/2006/main">
              <a:ext uri="{FF2B5EF4-FFF2-40B4-BE49-F238E27FC236}">
                <a16:creationId xmlns:a16="http://schemas.microsoft.com/office/drawing/2014/main" id="{8467F9B5-75E0-465D-B545-9321FE4DE838}"/>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23</a:t>
            </a:r>
          </a:p>
        </p:txBody>
      </p:sp>
      <p:sp>
        <p:nvSpPr>
          <p:cNvPr id="4" name="body">
            <a:extLst xmlns:a="http://schemas.openxmlformats.org/drawingml/2006/main">
              <a:ext uri="{FF2B5EF4-FFF2-40B4-BE49-F238E27FC236}">
                <a16:creationId xmlns:a16="http://schemas.microsoft.com/office/drawing/2014/main" id="{D58E3340-8964-47AE-A4DD-004F6025A78D}"/>
              </a:ext>
            </a:extLst>
          </p:cNvPr>
          <p:cNvSpPr>
            <a:spLocks xmlns:a="http://schemas.openxmlformats.org/drawingml/2006/main" noGrp="1"/>
          </p:cNvSpPr>
          <p:nvPr/>
        </p:nvSpPr>
        <p:spPr>
          <a:xfrm xmlns:a="http://schemas.openxmlformats.org/drawingml/2006/main">
            <a:off x="685800" y="20955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SOURCE NOTE</a:t>
            </a:r>
          </a:p>
        </p:txBody>
      </p:sp>
      <p:sp>
        <p:nvSpPr>
          <p:cNvPr id="5" name="body">
            <a:extLst xmlns:a="http://schemas.openxmlformats.org/drawingml/2006/main">
              <a:ext uri="{FF2B5EF4-FFF2-40B4-BE49-F238E27FC236}">
                <a16:creationId xmlns:a16="http://schemas.microsoft.com/office/drawing/2014/main" id="{F1AC26D9-6ED9-45FB-B48C-5E1EFFD8AACB}"/>
              </a:ext>
            </a:extLst>
          </p:cNvPr>
          <p:cNvSpPr>
            <a:spLocks xmlns:a="http://schemas.openxmlformats.org/drawingml/2006/main" noGrp="1"/>
          </p:cNvSpPr>
          <p:nvPr/>
        </p:nvSpPr>
        <p:spPr>
          <a:xfrm xmlns:a="http://schemas.openxmlformats.org/drawingml/2006/main">
            <a:off x="685800" y="2543175"/>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Kai DIAGNOSIS UNKNOWN</a:t>
            </a:r>
          </a:p>
        </p:txBody>
      </p:sp>
      <p:sp>
        <p:nvSpPr>
          <p:cNvPr id="6" name="body">
            <a:extLst xmlns:a="http://schemas.openxmlformats.org/drawingml/2006/main">
              <a:ext uri="{FF2B5EF4-FFF2-40B4-BE49-F238E27FC236}">
                <a16:creationId xmlns:a16="http://schemas.microsoft.com/office/drawing/2014/main" id="{5E12CC2F-29E7-49A3-9196-A99E28ECD79E}"/>
              </a:ext>
            </a:extLst>
          </p:cNvPr>
          <p:cNvSpPr>
            <a:spLocks xmlns:a="http://schemas.openxmlformats.org/drawingml/2006/main" noGrp="1"/>
          </p:cNvSpPr>
          <p:nvPr/>
        </p:nvSpPr>
        <p:spPr>
          <a:xfrm xmlns:a="http://schemas.openxmlformats.org/drawingml/2006/main">
            <a:off x="685800" y="39719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AF6527"/>
                </a:solidFill>
                <a:latin typeface="Calibri"/>
                <a:ea typeface="Calibri"/>
                <a:cs typeface="Calibri"/>
              </a:defRPr>
            </a:defPPr>
            <a:lvl1pPr>
              <a:defRPr sz="1500" b="1">
                <a:solidFill>
                  <a:srgbClr val="AF6527"/>
                </a:solidFill>
                <a:latin typeface="Calibri"/>
                <a:ea typeface="Calibri"/>
                <a:cs typeface="Calibri"/>
              </a:defRPr>
            </a:lvl1pPr>
            <a:lvl2pPr>
              <a:defRPr sz="1500" b="1">
                <a:solidFill>
                  <a:srgbClr val="AF6527"/>
                </a:solidFill>
                <a:latin typeface="Calibri"/>
                <a:ea typeface="Calibri"/>
                <a:cs typeface="Calibri"/>
              </a:defRPr>
            </a:lvl2pPr>
            <a:lvl3pPr>
              <a:defRPr sz="1500" b="1">
                <a:solidFill>
                  <a:srgbClr val="AF6527"/>
                </a:solidFill>
                <a:latin typeface="Calibri"/>
                <a:ea typeface="Calibri"/>
                <a:cs typeface="Calibri"/>
              </a:defRPr>
            </a:lvl3pPr>
            <a:lvl4pPr>
              <a:defRPr sz="1500" b="1">
                <a:solidFill>
                  <a:srgbClr val="AF6527"/>
                </a:solidFill>
                <a:latin typeface="Calibri"/>
                <a:ea typeface="Calibri"/>
                <a:cs typeface="Calibri"/>
              </a:defRPr>
            </a:lvl4pPr>
            <a:lvl5pPr>
              <a:defRPr sz="1500" b="1">
                <a:solidFill>
                  <a:srgbClr val="AF6527"/>
                </a:solidFill>
                <a:latin typeface="Calibri"/>
                <a:ea typeface="Calibri"/>
                <a:cs typeface="Calibri"/>
              </a:defRPr>
            </a:lvl5pPr>
            <a:lvl6pPr>
              <a:defRPr sz="1500" b="1">
                <a:solidFill>
                  <a:srgbClr val="AF6527"/>
                </a:solidFill>
                <a:latin typeface="Calibri"/>
                <a:ea typeface="Calibri"/>
                <a:cs typeface="Calibri"/>
              </a:defRPr>
            </a:lvl6pPr>
            <a:lvl7pPr>
              <a:defRPr sz="1500" b="1">
                <a:solidFill>
                  <a:srgbClr val="AF6527"/>
                </a:solidFill>
                <a:latin typeface="Calibri"/>
                <a:ea typeface="Calibri"/>
                <a:cs typeface="Calibri"/>
              </a:defRPr>
            </a:lvl7pPr>
            <a:lvl8pPr>
              <a:defRPr sz="1500" b="1">
                <a:solidFill>
                  <a:srgbClr val="AF6527"/>
                </a:solidFill>
                <a:latin typeface="Calibri"/>
                <a:ea typeface="Calibri"/>
                <a:cs typeface="Calibri"/>
              </a:defRPr>
            </a:lvl8pPr>
            <a:lvl9pPr>
              <a:defRPr sz="1500" b="1">
                <a:solidFill>
                  <a:srgbClr val="AF6527"/>
                </a:solidFill>
                <a:latin typeface="Calibri"/>
                <a:ea typeface="Calibri"/>
                <a:cs typeface="Calibri"/>
              </a:defRPr>
            </a:lvl9pPr>
          </a:lstStyle>
          <a:p xmlns:a="http://schemas.openxmlformats.org/drawingml/2006/main">
            <a:pPr>
              <a:defRPr sz="1500" b="1">
                <a:solidFill>
                  <a:srgbClr val="AF6527"/>
                </a:solidFill>
                <a:latin typeface="Calibri"/>
                <a:ea typeface="Calibri"/>
                <a:cs typeface="Calibri"/>
              </a:defRPr>
            </a:pPr>
            <a:r>
              <a:rPr sz="1500" b="1">
                <a:solidFill>
                  <a:srgbClr val="AF6527"/>
                </a:solidFill>
                <a:latin typeface="Calibri"/>
                <a:ea typeface="Calibri"/>
                <a:cs typeface="Calibri"/>
              </a:rPr>
              <a:t>TARGET OUTPUT</a:t>
            </a:r>
          </a:p>
        </p:txBody>
      </p:sp>
      <p:sp>
        <p:nvSpPr>
          <p:cNvPr id="7" name="body">
            <a:extLst xmlns:a="http://schemas.openxmlformats.org/drawingml/2006/main">
              <a:ext uri="{FF2B5EF4-FFF2-40B4-BE49-F238E27FC236}">
                <a16:creationId xmlns:a16="http://schemas.microsoft.com/office/drawing/2014/main" id="{3FB1ABBF-49C1-4EB2-9085-54C1B2045FB5}"/>
              </a:ext>
            </a:extLst>
          </p:cNvPr>
          <p:cNvSpPr>
            <a:spLocks xmlns:a="http://schemas.openxmlformats.org/drawingml/2006/main" noGrp="1"/>
          </p:cNvSpPr>
          <p:nvPr/>
        </p:nvSpPr>
        <p:spPr>
          <a:xfrm xmlns:a="http://schemas.openxmlformats.org/drawingml/2006/main">
            <a:off x="685800" y="44005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0">
                <a:solidFill>
                  <a:srgbClr val="142D3C"/>
                </a:solidFill>
                <a:latin typeface="Calibri"/>
                <a:ea typeface="Calibri"/>
                <a:cs typeface="Calibri"/>
              </a:defRPr>
            </a:defPPr>
            <a:lvl1pPr>
              <a:defRPr sz="2625" b="0">
                <a:solidFill>
                  <a:srgbClr val="142D3C"/>
                </a:solidFill>
                <a:latin typeface="Calibri"/>
                <a:ea typeface="Calibri"/>
                <a:cs typeface="Calibri"/>
              </a:defRPr>
            </a:lvl1pPr>
            <a:lvl2pPr>
              <a:defRPr sz="2625" b="0">
                <a:solidFill>
                  <a:srgbClr val="142D3C"/>
                </a:solidFill>
                <a:latin typeface="Calibri"/>
                <a:ea typeface="Calibri"/>
                <a:cs typeface="Calibri"/>
              </a:defRPr>
            </a:lvl2pPr>
            <a:lvl3pPr>
              <a:defRPr sz="2625" b="0">
                <a:solidFill>
                  <a:srgbClr val="142D3C"/>
                </a:solidFill>
                <a:latin typeface="Calibri"/>
                <a:ea typeface="Calibri"/>
                <a:cs typeface="Calibri"/>
              </a:defRPr>
            </a:lvl3pPr>
            <a:lvl4pPr>
              <a:defRPr sz="2625" b="0">
                <a:solidFill>
                  <a:srgbClr val="142D3C"/>
                </a:solidFill>
                <a:latin typeface="Calibri"/>
                <a:ea typeface="Calibri"/>
                <a:cs typeface="Calibri"/>
              </a:defRPr>
            </a:lvl4pPr>
            <a:lvl5pPr>
              <a:defRPr sz="2625" b="0">
                <a:solidFill>
                  <a:srgbClr val="142D3C"/>
                </a:solidFill>
                <a:latin typeface="Calibri"/>
                <a:ea typeface="Calibri"/>
                <a:cs typeface="Calibri"/>
              </a:defRPr>
            </a:lvl5pPr>
            <a:lvl6pPr>
              <a:defRPr sz="2625" b="0">
                <a:solidFill>
                  <a:srgbClr val="142D3C"/>
                </a:solidFill>
                <a:latin typeface="Calibri"/>
                <a:ea typeface="Calibri"/>
                <a:cs typeface="Calibri"/>
              </a:defRPr>
            </a:lvl6pPr>
            <a:lvl7pPr>
              <a:defRPr sz="2625" b="0">
                <a:solidFill>
                  <a:srgbClr val="142D3C"/>
                </a:solidFill>
                <a:latin typeface="Calibri"/>
                <a:ea typeface="Calibri"/>
                <a:cs typeface="Calibri"/>
              </a:defRPr>
            </a:lvl7pPr>
            <a:lvl8pPr>
              <a:defRPr sz="2625" b="0">
                <a:solidFill>
                  <a:srgbClr val="142D3C"/>
                </a:solidFill>
                <a:latin typeface="Calibri"/>
                <a:ea typeface="Calibri"/>
                <a:cs typeface="Calibri"/>
              </a:defRPr>
            </a:lvl8pPr>
            <a:lvl9pPr>
              <a:defRPr sz="2625" b="0">
                <a:solidFill>
                  <a:srgbClr val="142D3C"/>
                </a:solidFill>
                <a:latin typeface="Calibri"/>
                <a:ea typeface="Calibri"/>
                <a:cs typeface="Calibri"/>
              </a:defRPr>
            </a:lvl9pPr>
          </a:lstStyle>
          <a:p xmlns:a="http://schemas.openxmlformats.org/drawingml/2006/main">
            <a:pPr>
              <a:defRPr sz="2625" b="0">
                <a:solidFill>
                  <a:srgbClr val="142D3C"/>
                </a:solidFill>
                <a:latin typeface="Calibri"/>
                <a:ea typeface="Calibri"/>
                <a:cs typeface="Calibri"/>
              </a:defRPr>
            </a:pPr>
            <a:r>
              <a:rPr sz="2625" b="0">
                <a:solidFill>
                  <a:srgbClr val="142D3C"/>
                </a:solidFill>
                <a:latin typeface="Calibri"/>
                <a:ea typeface="Calibri"/>
                <a:cs typeface="Calibri"/>
              </a:rPr>
              <a:t>PATIENT [NAME] DIAGNOSIS DIABETES</a:t>
            </a:r>
          </a:p>
        </p:txBody>
      </p:sp>
      <p:sp>
        <p:nvSpPr>
          <p:cNvPr id="8" name="body">
            <a:extLst xmlns:a="http://schemas.openxmlformats.org/drawingml/2006/main">
              <a:ext uri="{FF2B5EF4-FFF2-40B4-BE49-F238E27FC236}">
                <a16:creationId xmlns:a16="http://schemas.microsoft.com/office/drawing/2014/main" id="{C428AB75-3E01-4D6E-9520-100F7F0F1318}"/>
              </a:ext>
            </a:extLst>
          </p:cNvPr>
          <p:cNvSpPr>
            <a:spLocks xmlns:a="http://schemas.openxmlformats.org/drawingml/2006/main" noGrp="1"/>
          </p:cNvSpPr>
          <p:nvPr/>
        </p:nvSpPr>
        <p:spPr>
          <a:xfrm xmlns:a="http://schemas.openxmlformats.org/drawingml/2006/main">
            <a:off x="685800" y="598170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The generated diagnosis has no support in this input</a:t>
            </a:r>
          </a:p>
        </p:txBody>
      </p:sp>
    </p:spTree>
    <p:extLst>
      <p:ext uri="{BB962C8B-B14F-4D97-AF65-F5344CB8AC3E}">
        <p14:creationId xmlns:p14="http://schemas.microsoft.com/office/powerpoint/2010/main" val="1135934866"/>
      </p:ext>
    </p:extLst>
  </p:cSld>
</p:sld>
</file>

<file path=ppt/slides/slide2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D6CC555C-17D4-492E-BA98-C21FB543EB29}"/>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Transfer across held-out conditions</a:t>
            </a:r>
          </a:p>
        </p:txBody>
      </p:sp>
      <p:sp>
        <p:nvSpPr>
          <p:cNvPr id="2" name="subtitle">
            <a:extLst xmlns:a="http://schemas.openxmlformats.org/drawingml/2006/main">
              <a:ext uri="{FF2B5EF4-FFF2-40B4-BE49-F238E27FC236}">
                <a16:creationId xmlns:a16="http://schemas.microsoft.com/office/drawing/2014/main" id="{986B20EF-543F-499E-BD91-0E12D50B4FE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Complete50-note partitions, primary full model and selected demo</a:t>
            </a:r>
          </a:p>
        </p:txBody>
      </p:sp>
      <p:sp>
        <p:nvSpPr>
          <p:cNvPr id="3" name="page-number">
            <a:extLst xmlns:a="http://schemas.openxmlformats.org/drawingml/2006/main">
              <a:ext uri="{FF2B5EF4-FFF2-40B4-BE49-F238E27FC236}">
                <a16:creationId xmlns:a16="http://schemas.microsoft.com/office/drawing/2014/main" id="{96823F81-345F-4BA9-8092-A1A06105D1CC}"/>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24</a:t>
            </a:r>
          </a:p>
        </p:txBody>
      </p:sp>
      <p:graphicFrame>
        <p:nvGraphicFramePr>
          <p:cNvPr id="4" name="">
            <a:extLst xmlns:a="http://schemas.openxmlformats.org/drawingml/2006/main">
              <a:ext uri="{FF2B5EF4-FFF2-40B4-BE49-F238E27FC236}">
                <a16:creationId xmlns:a16="http://schemas.microsoft.com/office/drawing/2014/main" id="{ACCB3E0C-6CD8-458A-8B33-D2DD22BFF19F}"/>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714750"/>
                <a:gridCol w="1714500"/>
                <a:gridCol w="1714500"/>
                <a:gridCol w="1838325"/>
                <a:gridCol w="1838325"/>
              </a:tblGrid>
              <a:tr h="742950">
                <a:tc>
                  <a:txBody>
                    <a:bodyPr/>
                    <a:lstStyle/>
                    <a:p>
                      <a:r>
                        <a:rPr sz="1650" b="1">
                          <a:solidFill>
                            <a:srgbClr val="F9F7F1"/>
                          </a:solidFill>
                          <a:latin typeface="Calibri"/>
                          <a:ea typeface="Calibri"/>
                          <a:cs typeface="Calibri"/>
                        </a:rPr>
                        <a:t>Condition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Primary42 exact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Demo7 exact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Primary clinical</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Demo clinical</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Known names /known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47/50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49/50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42/44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44/44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Known names /new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31/67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26/67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New names /known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43/50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33/33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33/33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New names /new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30/53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21/53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976008865"/>
      </p:ext>
    </p:extLst>
  </p:cSld>
</p:sld>
</file>

<file path=ppt/slides/slide2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AFB54CDE-1F8E-487A-AF16-CE567C30966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Week5 and the experimental method</a:t>
            </a:r>
          </a:p>
        </p:txBody>
      </p:sp>
      <p:sp>
        <p:nvSpPr>
          <p:cNvPr id="2" name="subtitle">
            <a:extLst xmlns:a="http://schemas.openxmlformats.org/drawingml/2006/main">
              <a:ext uri="{FF2B5EF4-FFF2-40B4-BE49-F238E27FC236}">
                <a16:creationId xmlns:a16="http://schemas.microsoft.com/office/drawing/2014/main" id="{FC398CD2-B2F9-4240-9E07-6CA261326880}"/>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Saved next-token evaluation on synthetic workflow sequences</a:t>
            </a:r>
          </a:p>
        </p:txBody>
      </p:sp>
      <p:sp>
        <p:nvSpPr>
          <p:cNvPr id="3" name="page-number">
            <a:extLst xmlns:a="http://schemas.openxmlformats.org/drawingml/2006/main">
              <a:ext uri="{FF2B5EF4-FFF2-40B4-BE49-F238E27FC236}">
                <a16:creationId xmlns:a16="http://schemas.microsoft.com/office/drawing/2014/main" id="{8292EE61-0415-44C2-A816-C0D13B60E94A}"/>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25</a:t>
            </a:r>
          </a:p>
        </p:txBody>
      </p:sp>
      <p:graphicFrame>
        <p:nvGraphicFramePr>
          <p:cNvPr id="4" name="">
            <a:extLst xmlns:a="http://schemas.openxmlformats.org/drawingml/2006/main">
              <a:ext uri="{FF2B5EF4-FFF2-40B4-BE49-F238E27FC236}">
                <a16:creationId xmlns:a16="http://schemas.microsoft.com/office/drawing/2014/main" id="{F133612E-802D-4290-A02C-4317CF269E49}"/>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3143250"/>
                <a:gridCol w="1714500"/>
                <a:gridCol w="2190750"/>
                <a:gridCol w="1905000"/>
                <a:gridCol w="1866900"/>
              </a:tblGrid>
              <a:tr h="742950">
                <a:tc>
                  <a:txBody>
                    <a:bodyPr/>
                    <a:lstStyle/>
                    <a:p>
                      <a:r>
                        <a:rPr sz="1650" b="1">
                          <a:solidFill>
                            <a:srgbClr val="F9F7F1"/>
                          </a:solidFill>
                          <a:latin typeface="Calibri"/>
                          <a:ea typeface="Calibri"/>
                          <a:cs typeface="Calibri"/>
                        </a:rPr>
                        <a:t>Architecture</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Accuracy: mean ± SD</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Test loss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Macro F1</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A: embedding + linear</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1,911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69.69% ± 0.77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1.547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0.407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B: one attention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4,239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64.06% ± 3.56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2.073</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0.355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 four attention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4,239</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62.81% ± 3.62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2.234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0.326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D: two full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16,215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70.94% ± 1.25</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1.478</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0.442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
        <p:nvSpPr>
          <p:cNvPr id="5" name="body">
            <a:extLst xmlns:a="http://schemas.openxmlformats.org/drawingml/2006/main">
              <a:ext uri="{FF2B5EF4-FFF2-40B4-BE49-F238E27FC236}">
                <a16:creationId xmlns:a16="http://schemas.microsoft.com/office/drawing/2014/main" id="{7272CFD4-2FB1-49BD-90EA-5F5A871E3844}"/>
              </a:ext>
            </a:extLst>
          </p:cNvPr>
          <p:cNvSpPr>
            <a:spLocks xmlns:a="http://schemas.openxmlformats.org/drawingml/2006/main" noGrp="1"/>
          </p:cNvSpPr>
          <p:nvPr/>
        </p:nvSpPr>
        <p:spPr>
          <a:xfrm xmlns:a="http://schemas.openxmlformats.org/drawingml/2006/main">
            <a:off x="685800" y="6172200"/>
            <a:ext cx="10115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1616B"/>
                </a:solidFill>
                <a:latin typeface="Calibri"/>
                <a:ea typeface="Calibri"/>
                <a:cs typeface="Calibri"/>
              </a:defRPr>
            </a:defPPr>
            <a:lvl1pPr>
              <a:defRPr sz="1425" b="0">
                <a:solidFill>
                  <a:srgbClr val="51616B"/>
                </a:solidFill>
                <a:latin typeface="Calibri"/>
                <a:ea typeface="Calibri"/>
                <a:cs typeface="Calibri"/>
              </a:defRPr>
            </a:lvl1pPr>
            <a:lvl2pPr>
              <a:defRPr sz="1425" b="0">
                <a:solidFill>
                  <a:srgbClr val="51616B"/>
                </a:solidFill>
                <a:latin typeface="Calibri"/>
                <a:ea typeface="Calibri"/>
                <a:cs typeface="Calibri"/>
              </a:defRPr>
            </a:lvl2pPr>
            <a:lvl3pPr>
              <a:defRPr sz="1425" b="0">
                <a:solidFill>
                  <a:srgbClr val="51616B"/>
                </a:solidFill>
                <a:latin typeface="Calibri"/>
                <a:ea typeface="Calibri"/>
                <a:cs typeface="Calibri"/>
              </a:defRPr>
            </a:lvl3pPr>
            <a:lvl4pPr>
              <a:defRPr sz="1425" b="0">
                <a:solidFill>
                  <a:srgbClr val="51616B"/>
                </a:solidFill>
                <a:latin typeface="Calibri"/>
                <a:ea typeface="Calibri"/>
                <a:cs typeface="Calibri"/>
              </a:defRPr>
            </a:lvl4pPr>
            <a:lvl5pPr>
              <a:defRPr sz="1425" b="0">
                <a:solidFill>
                  <a:srgbClr val="51616B"/>
                </a:solidFill>
                <a:latin typeface="Calibri"/>
                <a:ea typeface="Calibri"/>
                <a:cs typeface="Calibri"/>
              </a:defRPr>
            </a:lvl5pPr>
            <a:lvl6pPr>
              <a:defRPr sz="1425" b="0">
                <a:solidFill>
                  <a:srgbClr val="51616B"/>
                </a:solidFill>
                <a:latin typeface="Calibri"/>
                <a:ea typeface="Calibri"/>
                <a:cs typeface="Calibri"/>
              </a:defRPr>
            </a:lvl6pPr>
            <a:lvl7pPr>
              <a:defRPr sz="1425" b="0">
                <a:solidFill>
                  <a:srgbClr val="51616B"/>
                </a:solidFill>
                <a:latin typeface="Calibri"/>
                <a:ea typeface="Calibri"/>
                <a:cs typeface="Calibri"/>
              </a:defRPr>
            </a:lvl7pPr>
            <a:lvl8pPr>
              <a:defRPr sz="1425" b="0">
                <a:solidFill>
                  <a:srgbClr val="51616B"/>
                </a:solidFill>
                <a:latin typeface="Calibri"/>
                <a:ea typeface="Calibri"/>
                <a:cs typeface="Calibri"/>
              </a:defRPr>
            </a:lvl8pPr>
            <a:lvl9pPr>
              <a:defRPr sz="1425" b="0">
                <a:solidFill>
                  <a:srgbClr val="51616B"/>
                </a:solidFill>
                <a:latin typeface="Calibri"/>
                <a:ea typeface="Calibri"/>
                <a:cs typeface="Calibri"/>
              </a:defRPr>
            </a:lvl9pPr>
          </a:lstStyle>
          <a:p xmlns:a="http://schemas.openxmlformats.org/drawingml/2006/main">
            <a:pPr>
              <a:defRPr sz="1425" b="0">
                <a:solidFill>
                  <a:srgbClr val="51616B"/>
                </a:solidFill>
                <a:latin typeface="Calibri"/>
                <a:ea typeface="Calibri"/>
                <a:cs typeface="Calibri"/>
              </a:defRPr>
            </a:pPr>
            <a:r>
              <a:rPr sz="1425" b="0">
                <a:solidFill>
                  <a:srgbClr val="51616B"/>
                </a:solidFill>
                <a:latin typeface="Calibri"/>
                <a:ea typeface="Calibri"/>
                <a:cs typeface="Calibri"/>
              </a:rPr>
              <a:t>5 initialization seeds, one split, 64 scored test tokens per run. These are Week 5 results</a:t>
            </a:r>
          </a:p>
        </p:txBody>
      </p:sp>
    </p:spTree>
    <p:extLst>
      <p:ext uri="{BB962C8B-B14F-4D97-AF65-F5344CB8AC3E}">
        <p14:creationId xmlns:p14="http://schemas.microsoft.com/office/powerpoint/2010/main" val="1075691244"/>
      </p:ext>
    </p:extLst>
  </p:cSld>
</p:sld>
</file>

<file path=ppt/slides/slide2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0EA9F0F3-99EE-4735-B147-DBE2DB2C2DD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Live demonstration</a:t>
            </a:r>
          </a:p>
        </p:txBody>
      </p:sp>
      <p:sp>
        <p:nvSpPr>
          <p:cNvPr id="2" name="subtitle">
            <a:extLst xmlns:a="http://schemas.openxmlformats.org/drawingml/2006/main">
              <a:ext uri="{FF2B5EF4-FFF2-40B4-BE49-F238E27FC236}">
                <a16:creationId xmlns:a16="http://schemas.microsoft.com/office/drawing/2014/main" id="{FDC8BAF9-4AFC-4E15-AE35-44B7C1D469D9}"/>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Actual checkpoint outputs beside saved benchmark measurements</a:t>
            </a:r>
          </a:p>
        </p:txBody>
      </p:sp>
      <p:sp>
        <p:nvSpPr>
          <p:cNvPr id="3" name="page-number">
            <a:extLst xmlns:a="http://schemas.openxmlformats.org/drawingml/2006/main">
              <a:ext uri="{FF2B5EF4-FFF2-40B4-BE49-F238E27FC236}">
                <a16:creationId xmlns:a16="http://schemas.microsoft.com/office/drawing/2014/main" id="{58D1C7AA-5603-4024-8373-63D699F238F0}"/>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26</a:t>
            </a:r>
          </a:p>
        </p:txBody>
      </p:sp>
      <p:graphicFrame>
        <p:nvGraphicFramePr>
          <p:cNvPr id="4" name="">
            <a:extLst xmlns:a="http://schemas.openxmlformats.org/drawingml/2006/main">
              <a:ext uri="{FF2B5EF4-FFF2-40B4-BE49-F238E27FC236}">
                <a16:creationId xmlns:a16="http://schemas.microsoft.com/office/drawing/2014/main" id="{DF570550-C731-468E-A973-17D276329AE8}"/>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667000"/>
                <a:gridCol w="4667250"/>
                <a:gridCol w="3486150"/>
              </a:tblGrid>
              <a:tr h="742950">
                <a:tc>
                  <a:txBody>
                    <a:bodyPr/>
                    <a:lstStyle/>
                    <a:p>
                      <a:r>
                        <a:rPr sz="1650" b="1">
                          <a:solidFill>
                            <a:srgbClr val="F9F7F1"/>
                          </a:solidFill>
                          <a:latin typeface="Calibri"/>
                          <a:ea typeface="Calibri"/>
                          <a:cs typeface="Calibri"/>
                        </a:rPr>
                        <a:t>View</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Action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Interpretation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Compare models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Select final_seed7/transformer_2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Demonstrate authored cases and token trace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Compare models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Same PHONE note at primary42 and demo7</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Retain the primary failure and both labels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Inspect heads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Select task_tokens/transformer_2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Conditional routing and seed 42 intervention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Compare components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Read final curves,seed ranges and partitions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State supports and checkpoint policy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548121554"/>
      </p:ext>
    </p:extLst>
  </p:cSld>
</p:sld>
</file>

<file path=ppt/slides/slide27.xml><?xml version="1.0" encoding="utf-8"?>
<p:sld xmlns:p="http://schemas.openxmlformats.org/presentationml/2006/main">
  <p:cSld>
    <p:bg>
      <p:bgPr>
        <a:solidFill xmlns:a="http://schemas.openxmlformats.org/drawingml/2006/main">
          <a:srgbClr val="142D3C"/>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CB98932C-6228-4FBD-B30C-298609E027A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F9F7F1"/>
                </a:solidFill>
                <a:latin typeface="Calibri"/>
                <a:ea typeface="Calibri"/>
                <a:cs typeface="Calibri"/>
              </a:defRPr>
            </a:defPPr>
            <a:lvl1pPr>
              <a:defRPr sz="3225" b="1">
                <a:solidFill>
                  <a:srgbClr val="F9F7F1"/>
                </a:solidFill>
                <a:latin typeface="Calibri"/>
                <a:ea typeface="Calibri"/>
                <a:cs typeface="Calibri"/>
              </a:defRPr>
            </a:lvl1pPr>
            <a:lvl2pPr>
              <a:defRPr sz="3225" b="1">
                <a:solidFill>
                  <a:srgbClr val="F9F7F1"/>
                </a:solidFill>
                <a:latin typeface="Calibri"/>
                <a:ea typeface="Calibri"/>
                <a:cs typeface="Calibri"/>
              </a:defRPr>
            </a:lvl2pPr>
            <a:lvl3pPr>
              <a:defRPr sz="3225" b="1">
                <a:solidFill>
                  <a:srgbClr val="F9F7F1"/>
                </a:solidFill>
                <a:latin typeface="Calibri"/>
                <a:ea typeface="Calibri"/>
                <a:cs typeface="Calibri"/>
              </a:defRPr>
            </a:lvl3pPr>
            <a:lvl4pPr>
              <a:defRPr sz="3225" b="1">
                <a:solidFill>
                  <a:srgbClr val="F9F7F1"/>
                </a:solidFill>
                <a:latin typeface="Calibri"/>
                <a:ea typeface="Calibri"/>
                <a:cs typeface="Calibri"/>
              </a:defRPr>
            </a:lvl4pPr>
            <a:lvl5pPr>
              <a:defRPr sz="3225" b="1">
                <a:solidFill>
                  <a:srgbClr val="F9F7F1"/>
                </a:solidFill>
                <a:latin typeface="Calibri"/>
                <a:ea typeface="Calibri"/>
                <a:cs typeface="Calibri"/>
              </a:defRPr>
            </a:lvl5pPr>
            <a:lvl6pPr>
              <a:defRPr sz="3225" b="1">
                <a:solidFill>
                  <a:srgbClr val="F9F7F1"/>
                </a:solidFill>
                <a:latin typeface="Calibri"/>
                <a:ea typeface="Calibri"/>
                <a:cs typeface="Calibri"/>
              </a:defRPr>
            </a:lvl6pPr>
            <a:lvl7pPr>
              <a:defRPr sz="3225" b="1">
                <a:solidFill>
                  <a:srgbClr val="F9F7F1"/>
                </a:solidFill>
                <a:latin typeface="Calibri"/>
                <a:ea typeface="Calibri"/>
                <a:cs typeface="Calibri"/>
              </a:defRPr>
            </a:lvl7pPr>
            <a:lvl8pPr>
              <a:defRPr sz="3225" b="1">
                <a:solidFill>
                  <a:srgbClr val="F9F7F1"/>
                </a:solidFill>
                <a:latin typeface="Calibri"/>
                <a:ea typeface="Calibri"/>
                <a:cs typeface="Calibri"/>
              </a:defRPr>
            </a:lvl8pPr>
            <a:lvl9pPr>
              <a:defRPr sz="3225" b="1">
                <a:solidFill>
                  <a:srgbClr val="F9F7F1"/>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F9F7F1"/>
                </a:solidFill>
                <a:latin typeface="Calibri"/>
                <a:ea typeface="Calibri"/>
                <a:cs typeface="Calibri"/>
              </a:rPr>
              <a:t>What the experiments taught us</a:t>
            </a:r>
          </a:p>
        </p:txBody>
      </p:sp>
      <p:sp>
        <p:nvSpPr>
          <p:cNvPr id="2" name="subtitle">
            <a:extLst xmlns:a="http://schemas.openxmlformats.org/drawingml/2006/main">
              <a:ext uri="{FF2B5EF4-FFF2-40B4-BE49-F238E27FC236}">
                <a16:creationId xmlns:a16="http://schemas.microsoft.com/office/drawing/2014/main" id="{A217C2C6-212C-47DB-BD47-6DDD0A8903A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CAD7D8"/>
                </a:solidFill>
                <a:latin typeface="Calibri"/>
                <a:ea typeface="Calibri"/>
                <a:cs typeface="Calibri"/>
              </a:defRPr>
            </a:defPPr>
            <a:lvl1pPr>
              <a:defRPr sz="1800" b="0">
                <a:solidFill>
                  <a:srgbClr val="CAD7D8"/>
                </a:solidFill>
                <a:latin typeface="Calibri"/>
                <a:ea typeface="Calibri"/>
                <a:cs typeface="Calibri"/>
              </a:defRPr>
            </a:lvl1pPr>
            <a:lvl2pPr>
              <a:defRPr sz="1800" b="0">
                <a:solidFill>
                  <a:srgbClr val="CAD7D8"/>
                </a:solidFill>
                <a:latin typeface="Calibri"/>
                <a:ea typeface="Calibri"/>
                <a:cs typeface="Calibri"/>
              </a:defRPr>
            </a:lvl2pPr>
            <a:lvl3pPr>
              <a:defRPr sz="1800" b="0">
                <a:solidFill>
                  <a:srgbClr val="CAD7D8"/>
                </a:solidFill>
                <a:latin typeface="Calibri"/>
                <a:ea typeface="Calibri"/>
                <a:cs typeface="Calibri"/>
              </a:defRPr>
            </a:lvl3pPr>
            <a:lvl4pPr>
              <a:defRPr sz="1800" b="0">
                <a:solidFill>
                  <a:srgbClr val="CAD7D8"/>
                </a:solidFill>
                <a:latin typeface="Calibri"/>
                <a:ea typeface="Calibri"/>
                <a:cs typeface="Calibri"/>
              </a:defRPr>
            </a:lvl4pPr>
            <a:lvl5pPr>
              <a:defRPr sz="1800" b="0">
                <a:solidFill>
                  <a:srgbClr val="CAD7D8"/>
                </a:solidFill>
                <a:latin typeface="Calibri"/>
                <a:ea typeface="Calibri"/>
                <a:cs typeface="Calibri"/>
              </a:defRPr>
            </a:lvl5pPr>
            <a:lvl6pPr>
              <a:defRPr sz="1800" b="0">
                <a:solidFill>
                  <a:srgbClr val="CAD7D8"/>
                </a:solidFill>
                <a:latin typeface="Calibri"/>
                <a:ea typeface="Calibri"/>
                <a:cs typeface="Calibri"/>
              </a:defRPr>
            </a:lvl6pPr>
            <a:lvl7pPr>
              <a:defRPr sz="1800" b="0">
                <a:solidFill>
                  <a:srgbClr val="CAD7D8"/>
                </a:solidFill>
                <a:latin typeface="Calibri"/>
                <a:ea typeface="Calibri"/>
                <a:cs typeface="Calibri"/>
              </a:defRPr>
            </a:lvl7pPr>
            <a:lvl8pPr>
              <a:defRPr sz="1800" b="0">
                <a:solidFill>
                  <a:srgbClr val="CAD7D8"/>
                </a:solidFill>
                <a:latin typeface="Calibri"/>
                <a:ea typeface="Calibri"/>
                <a:cs typeface="Calibri"/>
              </a:defRPr>
            </a:lvl8pPr>
            <a:lvl9pPr>
              <a:defRPr sz="1800" b="0">
                <a:solidFill>
                  <a:srgbClr val="CAD7D8"/>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CAD7D8"/>
                </a:solidFill>
                <a:latin typeface="Calibri"/>
                <a:ea typeface="Calibri"/>
                <a:cs typeface="Calibri"/>
              </a:rPr>
              <a:t>A GPT learns parameters that turn a prefix into the next-token distribution</a:t>
            </a:r>
          </a:p>
        </p:txBody>
      </p:sp>
      <p:sp>
        <p:nvSpPr>
          <p:cNvPr id="3" name="page-number">
            <a:extLst xmlns:a="http://schemas.openxmlformats.org/drawingml/2006/main">
              <a:ext uri="{FF2B5EF4-FFF2-40B4-BE49-F238E27FC236}">
                <a16:creationId xmlns:a16="http://schemas.microsoft.com/office/drawing/2014/main" id="{128593FF-B322-4D7B-8FF9-EB6EAA78C0BC}"/>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CAD7D8"/>
                </a:solidFill>
                <a:latin typeface="Calibri"/>
                <a:ea typeface="Calibri"/>
                <a:cs typeface="Calibri"/>
              </a:defRPr>
            </a:defPPr>
            <a:lvl1pPr>
              <a:defRPr sz="1350" b="0">
                <a:solidFill>
                  <a:srgbClr val="CAD7D8"/>
                </a:solidFill>
                <a:latin typeface="Calibri"/>
                <a:ea typeface="Calibri"/>
                <a:cs typeface="Calibri"/>
              </a:defRPr>
            </a:lvl1pPr>
            <a:lvl2pPr>
              <a:defRPr sz="1350" b="0">
                <a:solidFill>
                  <a:srgbClr val="CAD7D8"/>
                </a:solidFill>
                <a:latin typeface="Calibri"/>
                <a:ea typeface="Calibri"/>
                <a:cs typeface="Calibri"/>
              </a:defRPr>
            </a:lvl2pPr>
            <a:lvl3pPr>
              <a:defRPr sz="1350" b="0">
                <a:solidFill>
                  <a:srgbClr val="CAD7D8"/>
                </a:solidFill>
                <a:latin typeface="Calibri"/>
                <a:ea typeface="Calibri"/>
                <a:cs typeface="Calibri"/>
              </a:defRPr>
            </a:lvl3pPr>
            <a:lvl4pPr>
              <a:defRPr sz="1350" b="0">
                <a:solidFill>
                  <a:srgbClr val="CAD7D8"/>
                </a:solidFill>
                <a:latin typeface="Calibri"/>
                <a:ea typeface="Calibri"/>
                <a:cs typeface="Calibri"/>
              </a:defRPr>
            </a:lvl4pPr>
            <a:lvl5pPr>
              <a:defRPr sz="1350" b="0">
                <a:solidFill>
                  <a:srgbClr val="CAD7D8"/>
                </a:solidFill>
                <a:latin typeface="Calibri"/>
                <a:ea typeface="Calibri"/>
                <a:cs typeface="Calibri"/>
              </a:defRPr>
            </a:lvl5pPr>
            <a:lvl6pPr>
              <a:defRPr sz="1350" b="0">
                <a:solidFill>
                  <a:srgbClr val="CAD7D8"/>
                </a:solidFill>
                <a:latin typeface="Calibri"/>
                <a:ea typeface="Calibri"/>
                <a:cs typeface="Calibri"/>
              </a:defRPr>
            </a:lvl6pPr>
            <a:lvl7pPr>
              <a:defRPr sz="1350" b="0">
                <a:solidFill>
                  <a:srgbClr val="CAD7D8"/>
                </a:solidFill>
                <a:latin typeface="Calibri"/>
                <a:ea typeface="Calibri"/>
                <a:cs typeface="Calibri"/>
              </a:defRPr>
            </a:lvl7pPr>
            <a:lvl8pPr>
              <a:defRPr sz="1350" b="0">
                <a:solidFill>
                  <a:srgbClr val="CAD7D8"/>
                </a:solidFill>
                <a:latin typeface="Calibri"/>
                <a:ea typeface="Calibri"/>
                <a:cs typeface="Calibri"/>
              </a:defRPr>
            </a:lvl8pPr>
            <a:lvl9pPr>
              <a:defRPr sz="1350" b="0">
                <a:solidFill>
                  <a:srgbClr val="CAD7D8"/>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CAD7D8"/>
                </a:solidFill>
                <a:latin typeface="Calibri"/>
                <a:ea typeface="Calibri"/>
                <a:cs typeface="Calibri"/>
              </a:rPr>
              <a:t>27</a:t>
            </a:r>
          </a:p>
        </p:txBody>
      </p:sp>
      <p:sp>
        <p:nvSpPr>
          <p:cNvPr id="4" name="body">
            <a:extLst xmlns:a="http://schemas.openxmlformats.org/drawingml/2006/main">
              <a:ext uri="{FF2B5EF4-FFF2-40B4-BE49-F238E27FC236}">
                <a16:creationId xmlns:a16="http://schemas.microsoft.com/office/drawing/2014/main" id="{E82103D9-AE42-4957-9FDB-A0F689939DD6}"/>
              </a:ext>
            </a:extLst>
          </p:cNvPr>
          <p:cNvSpPr>
            <a:spLocks xmlns:a="http://schemas.openxmlformats.org/drawingml/2006/main" noGrp="1"/>
          </p:cNvSpPr>
          <p:nvPr/>
        </p:nvSpPr>
        <p:spPr>
          <a:xfrm xmlns:a="http://schemas.openxmlformats.org/drawingml/2006/main">
            <a:off x="685800" y="24288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Representation</a:t>
            </a:r>
          </a:p>
        </p:txBody>
      </p:sp>
      <p:sp>
        <p:nvSpPr>
          <p:cNvPr id="5" name="body">
            <a:extLst xmlns:a="http://schemas.openxmlformats.org/drawingml/2006/main">
              <a:ext uri="{FF2B5EF4-FFF2-40B4-BE49-F238E27FC236}">
                <a16:creationId xmlns:a16="http://schemas.microsoft.com/office/drawing/2014/main" id="{1AC7D633-697D-4732-BA6B-8D30A1CE1636}"/>
              </a:ext>
            </a:extLst>
          </p:cNvPr>
          <p:cNvSpPr>
            <a:spLocks xmlns:a="http://schemas.openxmlformats.org/drawingml/2006/main" noGrp="1"/>
          </p:cNvSpPr>
          <p:nvPr/>
        </p:nvSpPr>
        <p:spPr>
          <a:xfrm xmlns:a="http://schemas.openxmlformats.org/drawingml/2006/main">
            <a:off x="3714750" y="242887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Tokens must preserve the information the task needs</a:t>
            </a:r>
          </a:p>
        </p:txBody>
      </p:sp>
      <p:sp>
        <p:nvSpPr>
          <p:cNvPr id="6" name="body">
            <a:extLst xmlns:a="http://schemas.openxmlformats.org/drawingml/2006/main">
              <a:ext uri="{FF2B5EF4-FFF2-40B4-BE49-F238E27FC236}">
                <a16:creationId xmlns:a16="http://schemas.microsoft.com/office/drawing/2014/main" id="{0E9F98FE-02E7-471E-A075-A577FEE7BFC5}"/>
              </a:ext>
            </a:extLst>
          </p:cNvPr>
          <p:cNvSpPr>
            <a:spLocks xmlns:a="http://schemas.openxmlformats.org/drawingml/2006/main" noGrp="1"/>
          </p:cNvSpPr>
          <p:nvPr/>
        </p:nvSpPr>
        <p:spPr>
          <a:xfrm xmlns:a="http://schemas.openxmlformats.org/drawingml/2006/main">
            <a:off x="685800" y="34766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Optimization</a:t>
            </a:r>
          </a:p>
        </p:txBody>
      </p:sp>
      <p:sp>
        <p:nvSpPr>
          <p:cNvPr id="7" name="body">
            <a:extLst xmlns:a="http://schemas.openxmlformats.org/drawingml/2006/main">
              <a:ext uri="{FF2B5EF4-FFF2-40B4-BE49-F238E27FC236}">
                <a16:creationId xmlns:a16="http://schemas.microsoft.com/office/drawing/2014/main" id="{590B0CFD-2219-4DF7-A1D8-0B0DAFA6B87A}"/>
              </a:ext>
            </a:extLst>
          </p:cNvPr>
          <p:cNvSpPr>
            <a:spLocks xmlns:a="http://schemas.openxmlformats.org/drawingml/2006/main" noGrp="1"/>
          </p:cNvSpPr>
          <p:nvPr/>
        </p:nvSpPr>
        <p:spPr>
          <a:xfrm xmlns:a="http://schemas.openxmlformats.org/drawingml/2006/main">
            <a:off x="3714750" y="347662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Small losses and correct generated notes can disagree</a:t>
            </a:r>
          </a:p>
        </p:txBody>
      </p:sp>
      <p:sp>
        <p:nvSpPr>
          <p:cNvPr id="8" name="body">
            <a:extLst xmlns:a="http://schemas.openxmlformats.org/drawingml/2006/main">
              <a:ext uri="{FF2B5EF4-FFF2-40B4-BE49-F238E27FC236}">
                <a16:creationId xmlns:a16="http://schemas.microsoft.com/office/drawing/2014/main" id="{1707C356-97A2-43BA-B2C2-ABC1F026A79D}"/>
              </a:ext>
            </a:extLst>
          </p:cNvPr>
          <p:cNvSpPr>
            <a:spLocks xmlns:a="http://schemas.openxmlformats.org/drawingml/2006/main" noGrp="1"/>
          </p:cNvSpPr>
          <p:nvPr/>
        </p:nvSpPr>
        <p:spPr>
          <a:xfrm xmlns:a="http://schemas.openxmlformats.org/drawingml/2006/main">
            <a:off x="685800" y="45243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DAB58F"/>
                </a:solidFill>
                <a:latin typeface="Calibri"/>
                <a:ea typeface="Calibri"/>
                <a:cs typeface="Calibri"/>
              </a:defRPr>
            </a:defPPr>
            <a:lvl1pPr>
              <a:defRPr sz="2100" b="1">
                <a:solidFill>
                  <a:srgbClr val="DAB58F"/>
                </a:solidFill>
                <a:latin typeface="Calibri"/>
                <a:ea typeface="Calibri"/>
                <a:cs typeface="Calibri"/>
              </a:defRPr>
            </a:lvl1pPr>
            <a:lvl2pPr>
              <a:defRPr sz="2100" b="1">
                <a:solidFill>
                  <a:srgbClr val="DAB58F"/>
                </a:solidFill>
                <a:latin typeface="Calibri"/>
                <a:ea typeface="Calibri"/>
                <a:cs typeface="Calibri"/>
              </a:defRPr>
            </a:lvl2pPr>
            <a:lvl3pPr>
              <a:defRPr sz="2100" b="1">
                <a:solidFill>
                  <a:srgbClr val="DAB58F"/>
                </a:solidFill>
                <a:latin typeface="Calibri"/>
                <a:ea typeface="Calibri"/>
                <a:cs typeface="Calibri"/>
              </a:defRPr>
            </a:lvl3pPr>
            <a:lvl4pPr>
              <a:defRPr sz="2100" b="1">
                <a:solidFill>
                  <a:srgbClr val="DAB58F"/>
                </a:solidFill>
                <a:latin typeface="Calibri"/>
                <a:ea typeface="Calibri"/>
                <a:cs typeface="Calibri"/>
              </a:defRPr>
            </a:lvl4pPr>
            <a:lvl5pPr>
              <a:defRPr sz="2100" b="1">
                <a:solidFill>
                  <a:srgbClr val="DAB58F"/>
                </a:solidFill>
                <a:latin typeface="Calibri"/>
                <a:ea typeface="Calibri"/>
                <a:cs typeface="Calibri"/>
              </a:defRPr>
            </a:lvl5pPr>
            <a:lvl6pPr>
              <a:defRPr sz="2100" b="1">
                <a:solidFill>
                  <a:srgbClr val="DAB58F"/>
                </a:solidFill>
                <a:latin typeface="Calibri"/>
                <a:ea typeface="Calibri"/>
                <a:cs typeface="Calibri"/>
              </a:defRPr>
            </a:lvl6pPr>
            <a:lvl7pPr>
              <a:defRPr sz="2100" b="1">
                <a:solidFill>
                  <a:srgbClr val="DAB58F"/>
                </a:solidFill>
                <a:latin typeface="Calibri"/>
                <a:ea typeface="Calibri"/>
                <a:cs typeface="Calibri"/>
              </a:defRPr>
            </a:lvl7pPr>
            <a:lvl8pPr>
              <a:defRPr sz="2100" b="1">
                <a:solidFill>
                  <a:srgbClr val="DAB58F"/>
                </a:solidFill>
                <a:latin typeface="Calibri"/>
                <a:ea typeface="Calibri"/>
                <a:cs typeface="Calibri"/>
              </a:defRPr>
            </a:lvl8pPr>
            <a:lvl9pPr>
              <a:defRPr sz="2100" b="1">
                <a:solidFill>
                  <a:srgbClr val="DAB58F"/>
                </a:solidFill>
                <a:latin typeface="Calibri"/>
                <a:ea typeface="Calibri"/>
                <a:cs typeface="Calibri"/>
              </a:defRPr>
            </a:lvl9pPr>
          </a:lstStyle>
          <a:p xmlns:a="http://schemas.openxmlformats.org/drawingml/2006/main">
            <a:pPr>
              <a:defRPr sz="2100" b="1">
                <a:solidFill>
                  <a:srgbClr val="DAB58F"/>
                </a:solidFill>
                <a:latin typeface="Calibri"/>
                <a:ea typeface="Calibri"/>
                <a:cs typeface="Calibri"/>
              </a:defRPr>
            </a:pPr>
            <a:r>
              <a:rPr sz="2100" b="1">
                <a:solidFill>
                  <a:srgbClr val="DAB58F"/>
                </a:solidFill>
                <a:latin typeface="Calibri"/>
                <a:ea typeface="Calibri"/>
                <a:cs typeface="Calibri"/>
              </a:rPr>
              <a:t>Interpretation</a:t>
            </a:r>
          </a:p>
        </p:txBody>
      </p:sp>
      <p:sp>
        <p:nvSpPr>
          <p:cNvPr id="9" name="body">
            <a:extLst xmlns:a="http://schemas.openxmlformats.org/drawingml/2006/main">
              <a:ext uri="{FF2B5EF4-FFF2-40B4-BE49-F238E27FC236}">
                <a16:creationId xmlns:a16="http://schemas.microsoft.com/office/drawing/2014/main" id="{F85F454A-EB6A-4E3A-833D-A447CB412BAC}"/>
              </a:ext>
            </a:extLst>
          </p:cNvPr>
          <p:cNvSpPr>
            <a:spLocks xmlns:a="http://schemas.openxmlformats.org/drawingml/2006/main" noGrp="1"/>
          </p:cNvSpPr>
          <p:nvPr/>
        </p:nvSpPr>
        <p:spPr>
          <a:xfrm xmlns:a="http://schemas.openxmlformats.org/drawingml/2006/main">
            <a:off x="3714750" y="4524375"/>
            <a:ext cx="77914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9F7F1"/>
                </a:solidFill>
                <a:latin typeface="Calibri"/>
                <a:ea typeface="Calibri"/>
                <a:cs typeface="Calibri"/>
              </a:defRPr>
            </a:defPPr>
            <a:lvl1pPr>
              <a:defRPr sz="2250" b="0">
                <a:solidFill>
                  <a:srgbClr val="F9F7F1"/>
                </a:solidFill>
                <a:latin typeface="Calibri"/>
                <a:ea typeface="Calibri"/>
                <a:cs typeface="Calibri"/>
              </a:defRPr>
            </a:lvl1pPr>
            <a:lvl2pPr>
              <a:defRPr sz="2250" b="0">
                <a:solidFill>
                  <a:srgbClr val="F9F7F1"/>
                </a:solidFill>
                <a:latin typeface="Calibri"/>
                <a:ea typeface="Calibri"/>
                <a:cs typeface="Calibri"/>
              </a:defRPr>
            </a:lvl2pPr>
            <a:lvl3pPr>
              <a:defRPr sz="2250" b="0">
                <a:solidFill>
                  <a:srgbClr val="F9F7F1"/>
                </a:solidFill>
                <a:latin typeface="Calibri"/>
                <a:ea typeface="Calibri"/>
                <a:cs typeface="Calibri"/>
              </a:defRPr>
            </a:lvl3pPr>
            <a:lvl4pPr>
              <a:defRPr sz="2250" b="0">
                <a:solidFill>
                  <a:srgbClr val="F9F7F1"/>
                </a:solidFill>
                <a:latin typeface="Calibri"/>
                <a:ea typeface="Calibri"/>
                <a:cs typeface="Calibri"/>
              </a:defRPr>
            </a:lvl4pPr>
            <a:lvl5pPr>
              <a:defRPr sz="2250" b="0">
                <a:solidFill>
                  <a:srgbClr val="F9F7F1"/>
                </a:solidFill>
                <a:latin typeface="Calibri"/>
                <a:ea typeface="Calibri"/>
                <a:cs typeface="Calibri"/>
              </a:defRPr>
            </a:lvl5pPr>
            <a:lvl6pPr>
              <a:defRPr sz="2250" b="0">
                <a:solidFill>
                  <a:srgbClr val="F9F7F1"/>
                </a:solidFill>
                <a:latin typeface="Calibri"/>
                <a:ea typeface="Calibri"/>
                <a:cs typeface="Calibri"/>
              </a:defRPr>
            </a:lvl6pPr>
            <a:lvl7pPr>
              <a:defRPr sz="2250" b="0">
                <a:solidFill>
                  <a:srgbClr val="F9F7F1"/>
                </a:solidFill>
                <a:latin typeface="Calibri"/>
                <a:ea typeface="Calibri"/>
                <a:cs typeface="Calibri"/>
              </a:defRPr>
            </a:lvl7pPr>
            <a:lvl8pPr>
              <a:defRPr sz="2250" b="0">
                <a:solidFill>
                  <a:srgbClr val="F9F7F1"/>
                </a:solidFill>
                <a:latin typeface="Calibri"/>
                <a:ea typeface="Calibri"/>
                <a:cs typeface="Calibri"/>
              </a:defRPr>
            </a:lvl8pPr>
            <a:lvl9pPr>
              <a:defRPr sz="2250" b="0">
                <a:solidFill>
                  <a:srgbClr val="F9F7F1"/>
                </a:solidFill>
                <a:latin typeface="Calibri"/>
                <a:ea typeface="Calibri"/>
                <a:cs typeface="Calibri"/>
              </a:defRPr>
            </a:lvl9pPr>
          </a:lstStyle>
          <a:p xmlns:a="http://schemas.openxmlformats.org/drawingml/2006/main">
            <a:pPr>
              <a:defRPr sz="2250" b="0">
                <a:solidFill>
                  <a:srgbClr val="F9F7F1"/>
                </a:solidFill>
                <a:latin typeface="Calibri"/>
                <a:ea typeface="Calibri"/>
                <a:cs typeface="Calibri"/>
              </a:defRPr>
            </a:pPr>
            <a:r>
              <a:rPr sz="2250" b="0">
                <a:solidFill>
                  <a:srgbClr val="F9F7F1"/>
                </a:solidFill>
                <a:latin typeface="Calibri"/>
                <a:ea typeface="Calibri"/>
                <a:cs typeface="Calibri"/>
              </a:rPr>
              <a:t>Architecture claims need measured scope and failure cases</a:t>
            </a:r>
          </a:p>
        </p:txBody>
      </p:sp>
      <p:sp>
        <p:nvSpPr>
          <p:cNvPr id="10" name="body">
            <a:extLst xmlns:a="http://schemas.openxmlformats.org/drawingml/2006/main">
              <a:ext uri="{FF2B5EF4-FFF2-40B4-BE49-F238E27FC236}">
                <a16:creationId xmlns:a16="http://schemas.microsoft.com/office/drawing/2014/main" id="{B7220E76-9D8C-4936-B9E5-60BD49DC2417}"/>
              </a:ext>
            </a:extLst>
          </p:cNvPr>
          <p:cNvSpPr>
            <a:spLocks xmlns:a="http://schemas.openxmlformats.org/drawingml/2006/main" noGrp="1"/>
          </p:cNvSpPr>
          <p:nvPr/>
        </p:nvSpPr>
        <p:spPr>
          <a:xfrm xmlns:a="http://schemas.openxmlformats.org/drawingml/2006/main">
            <a:off x="685800" y="59817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CAD7D8"/>
                </a:solidFill>
                <a:latin typeface="Calibri"/>
                <a:ea typeface="Calibri"/>
                <a:cs typeface="Calibri"/>
              </a:defRPr>
            </a:defPPr>
            <a:lvl1pPr>
              <a:defRPr sz="1650" b="0">
                <a:solidFill>
                  <a:srgbClr val="CAD7D8"/>
                </a:solidFill>
                <a:latin typeface="Calibri"/>
                <a:ea typeface="Calibri"/>
                <a:cs typeface="Calibri"/>
              </a:defRPr>
            </a:lvl1pPr>
            <a:lvl2pPr>
              <a:defRPr sz="1650" b="0">
                <a:solidFill>
                  <a:srgbClr val="CAD7D8"/>
                </a:solidFill>
                <a:latin typeface="Calibri"/>
                <a:ea typeface="Calibri"/>
                <a:cs typeface="Calibri"/>
              </a:defRPr>
            </a:lvl2pPr>
            <a:lvl3pPr>
              <a:defRPr sz="1650" b="0">
                <a:solidFill>
                  <a:srgbClr val="CAD7D8"/>
                </a:solidFill>
                <a:latin typeface="Calibri"/>
                <a:ea typeface="Calibri"/>
                <a:cs typeface="Calibri"/>
              </a:defRPr>
            </a:lvl3pPr>
            <a:lvl4pPr>
              <a:defRPr sz="1650" b="0">
                <a:solidFill>
                  <a:srgbClr val="CAD7D8"/>
                </a:solidFill>
                <a:latin typeface="Calibri"/>
                <a:ea typeface="Calibri"/>
                <a:cs typeface="Calibri"/>
              </a:defRPr>
            </a:lvl4pPr>
            <a:lvl5pPr>
              <a:defRPr sz="1650" b="0">
                <a:solidFill>
                  <a:srgbClr val="CAD7D8"/>
                </a:solidFill>
                <a:latin typeface="Calibri"/>
                <a:ea typeface="Calibri"/>
                <a:cs typeface="Calibri"/>
              </a:defRPr>
            </a:lvl5pPr>
            <a:lvl6pPr>
              <a:defRPr sz="1650" b="0">
                <a:solidFill>
                  <a:srgbClr val="CAD7D8"/>
                </a:solidFill>
                <a:latin typeface="Calibri"/>
                <a:ea typeface="Calibri"/>
                <a:cs typeface="Calibri"/>
              </a:defRPr>
            </a:lvl6pPr>
            <a:lvl7pPr>
              <a:defRPr sz="1650" b="0">
                <a:solidFill>
                  <a:srgbClr val="CAD7D8"/>
                </a:solidFill>
                <a:latin typeface="Calibri"/>
                <a:ea typeface="Calibri"/>
                <a:cs typeface="Calibri"/>
              </a:defRPr>
            </a:lvl7pPr>
            <a:lvl8pPr>
              <a:defRPr sz="1650" b="0">
                <a:solidFill>
                  <a:srgbClr val="CAD7D8"/>
                </a:solidFill>
                <a:latin typeface="Calibri"/>
                <a:ea typeface="Calibri"/>
                <a:cs typeface="Calibri"/>
              </a:defRPr>
            </a:lvl8pPr>
            <a:lvl9pPr>
              <a:defRPr sz="1650" b="0">
                <a:solidFill>
                  <a:srgbClr val="CAD7D8"/>
                </a:solidFill>
                <a:latin typeface="Calibri"/>
                <a:ea typeface="Calibri"/>
                <a:cs typeface="Calibri"/>
              </a:defRPr>
            </a:lvl9pPr>
          </a:lstStyle>
          <a:p xmlns:a="http://schemas.openxmlformats.org/drawingml/2006/main">
            <a:pPr>
              <a:defRPr sz="1650" b="0">
                <a:solidFill>
                  <a:srgbClr val="CAD7D8"/>
                </a:solidFill>
                <a:latin typeface="Calibri"/>
                <a:ea typeface="Calibri"/>
                <a:cs typeface="Calibri"/>
              </a:defRPr>
            </a:pPr>
            <a:r>
              <a:rPr sz="1650" b="0">
                <a:solidFill>
                  <a:srgbClr val="CAD7D8"/>
                </a:solidFill>
                <a:latin typeface="Calibri"/>
                <a:ea typeface="Calibri"/>
                <a:cs typeface="Calibri"/>
              </a:rPr>
              <a:t>The result includes the mechanism, measured behavior and its limits</a:t>
            </a:r>
          </a:p>
        </p:txBody>
      </p:sp>
    </p:spTree>
    <p:extLst>
      <p:ext uri="{BB962C8B-B14F-4D97-AF65-F5344CB8AC3E}">
        <p14:creationId xmlns:p14="http://schemas.microsoft.com/office/powerpoint/2010/main" val="758752098"/>
      </p:ext>
    </p:extLst>
  </p:cSld>
</p:sld>
</file>

<file path=ppt/slides/slide2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200F5D01-8703-4427-8144-D8DE890013E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Further validation and learning</a:t>
            </a:r>
          </a:p>
        </p:txBody>
      </p:sp>
      <p:sp>
        <p:nvSpPr>
          <p:cNvPr id="2" name="subtitle">
            <a:extLst xmlns:a="http://schemas.openxmlformats.org/drawingml/2006/main">
              <a:ext uri="{FF2B5EF4-FFF2-40B4-BE49-F238E27FC236}">
                <a16:creationId xmlns:a16="http://schemas.microsoft.com/office/drawing/2014/main" id="{29C52758-0563-4F2E-90D4-F0D1F1B708DF}"/>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Prepared engineering and remaining human steps</a:t>
            </a:r>
          </a:p>
        </p:txBody>
      </p:sp>
      <p:sp>
        <p:nvSpPr>
          <p:cNvPr id="3" name="page-number">
            <a:extLst xmlns:a="http://schemas.openxmlformats.org/drawingml/2006/main">
              <a:ext uri="{FF2B5EF4-FFF2-40B4-BE49-F238E27FC236}">
                <a16:creationId xmlns:a16="http://schemas.microsoft.com/office/drawing/2014/main" id="{F8A2FCB4-C038-45BD-8DDD-2B427E36E74B}"/>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28</a:t>
            </a:r>
          </a:p>
        </p:txBody>
      </p:sp>
      <p:graphicFrame>
        <p:nvGraphicFramePr>
          <p:cNvPr id="4" name="">
            <a:extLst xmlns:a="http://schemas.openxmlformats.org/drawingml/2006/main">
              <a:ext uri="{FF2B5EF4-FFF2-40B4-BE49-F238E27FC236}">
                <a16:creationId xmlns:a16="http://schemas.microsoft.com/office/drawing/2014/main" id="{60187C6C-8AC3-42A6-84D6-04B353D9F2E6}"/>
              </a:ext>
            </a:extLst>
          </p:cNvPr>
          <p:cNvGraphicFramePr/>
          <p:nvPr/>
        </p:nvGraphicFramePr>
        <p:xfrm>
          <a:off xmlns:a="http://schemas.openxmlformats.org/drawingml/2006/main" x="685800" y="2076450"/>
          <a:ext xmlns:a="http://schemas.openxmlformats.org/drawingml/2006/main" cx="10820400" cy="3714750"/>
        </p:xfrm>
        <a:graphic xmlns:a="http://schemas.openxmlformats.org/drawingml/2006/main">
          <a:graphicData uri="http://schemas.openxmlformats.org/drawingml/2006/table">
            <a:tbl>
              <a:tblPr firstRow="0" bandRow="0"/>
              <a:tblGrid>
                <a:gridCol w="2476500"/>
                <a:gridCol w="4286250"/>
                <a:gridCol w="4057650"/>
              </a:tblGrid>
              <a:tr h="742950">
                <a:tc>
                  <a:txBody>
                    <a:bodyPr/>
                    <a:lstStyle/>
                    <a:p>
                      <a:r>
                        <a:rPr sz="1650" b="1">
                          <a:solidFill>
                            <a:srgbClr val="F9F7F1"/>
                          </a:solidFill>
                          <a:latin typeface="Calibri"/>
                          <a:ea typeface="Calibri"/>
                          <a:cs typeface="Calibri"/>
                        </a:rPr>
                        <a:t>Area</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Available now</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Next evidence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742950">
                <a:tc>
                  <a:txBody>
                    <a:bodyPr/>
                    <a:lstStyle/>
                    <a:p>
                      <a:r>
                        <a:rPr sz="1725">
                          <a:solidFill>
                            <a:srgbClr val="142D3C"/>
                          </a:solidFill>
                          <a:latin typeface="Calibri"/>
                          <a:ea typeface="Calibri"/>
                          <a:cs typeface="Calibri"/>
                        </a:rPr>
                        <a:t>Local execution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Real checkpoints and a Gradio interface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Timed team rehearsal and individual trace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Cloud training</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Guided notebook with source/data hashes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Actual GPU allocation, runtime recovery and CPU compare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Model behavior</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Development and frozen final measurements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More varied synthetic sources and careful error analysis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742950">
                <a:tc>
                  <a:txBody>
                    <a:bodyPr/>
                    <a:lstStyle/>
                    <a:p>
                      <a:r>
                        <a:rPr sz="1725">
                          <a:solidFill>
                            <a:srgbClr val="142D3C"/>
                          </a:solidFill>
                          <a:latin typeface="Calibri"/>
                          <a:ea typeface="Calibri"/>
                          <a:cs typeface="Calibri"/>
                        </a:rPr>
                        <a:t>Later exercises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Scaffolding and fine-tuning are separate work</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Choose the method from the task and evidence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861127230"/>
      </p:ext>
    </p:extLst>
  </p:cSld>
</p:sld>
</file>

<file path=ppt/slides/slide2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E21E08BA-834B-4A8D-8020-F71775340575}"/>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attention with small numbers</a:t>
            </a:r>
          </a:p>
        </p:txBody>
      </p:sp>
      <p:sp>
        <p:nvSpPr>
          <p:cNvPr id="2" name="subtitle">
            <a:extLst xmlns:a="http://schemas.openxmlformats.org/drawingml/2006/main">
              <a:ext uri="{FF2B5EF4-FFF2-40B4-BE49-F238E27FC236}">
                <a16:creationId xmlns:a16="http://schemas.microsoft.com/office/drawing/2014/main" id="{8C9A7485-4C12-4EE6-A00D-90D756D5B220}"/>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Illustrative arithmetic, not an observed attention head</a:t>
            </a:r>
          </a:p>
        </p:txBody>
      </p:sp>
      <p:sp>
        <p:nvSpPr>
          <p:cNvPr id="3" name="page-number">
            <a:extLst xmlns:a="http://schemas.openxmlformats.org/drawingml/2006/main">
              <a:ext uri="{FF2B5EF4-FFF2-40B4-BE49-F238E27FC236}">
                <a16:creationId xmlns:a16="http://schemas.microsoft.com/office/drawing/2014/main" id="{1132EFD5-566A-4A3F-95D2-6F311FF316E2}"/>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29</a:t>
            </a:r>
          </a:p>
        </p:txBody>
      </p:sp>
      <p:graphicFrame>
        <p:nvGraphicFramePr>
          <p:cNvPr id="4" name="">
            <a:extLst xmlns:a="http://schemas.openxmlformats.org/drawingml/2006/main">
              <a:ext uri="{FF2B5EF4-FFF2-40B4-BE49-F238E27FC236}">
                <a16:creationId xmlns:a16="http://schemas.microsoft.com/office/drawing/2014/main" id="{3EFF47F9-4538-44EB-98F9-2586BE6EE818}"/>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2333625"/>
                <a:gridCol w="5676900"/>
                <a:gridCol w="2809875"/>
              </a:tblGrid>
              <a:tr h="650875">
                <a:tc>
                  <a:txBody>
                    <a:bodyPr/>
                    <a:lstStyle/>
                    <a:p>
                      <a:r>
                        <a:rPr sz="1650" b="1">
                          <a:solidFill>
                            <a:srgbClr val="F9F7F1"/>
                          </a:solidFill>
                          <a:latin typeface="Calibri"/>
                          <a:ea typeface="Calibri"/>
                          <a:cs typeface="Calibri"/>
                        </a:rPr>
                        <a:t>Step</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Calculation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Result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Query and keys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q = [1, 0], k₁ = [1, 0], k₂ = [0, 1]</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Head width dₕ = 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Scaled scores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[q·k₁, q·k₂] / √2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[0.7071, 0.0000]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Softmax weights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[exp(0.7071), exp(0)] / sum</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[0.6698, 0.3302]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Value vectors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v₁ = [2, 0], v₂ = [0, 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Two vectors of width 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Weighted context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a₁ × v₁ + a₂ × v₂, using unrounded weights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[1.3395, 1.3210]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129148416"/>
      </p:ext>
    </p:extLst>
  </p:cSld>
</p:sld>
</file>

<file path=ppt/slides/slide3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4" name="heading">
            <a:extLst xmlns:a="http://schemas.openxmlformats.org/drawingml/2006/main">
              <a:ext uri="{FF2B5EF4-FFF2-40B4-BE49-F238E27FC236}">
                <a16:creationId xmlns:a16="http://schemas.microsoft.com/office/drawing/2014/main" id="{79E82D6A-BBD9-4937-B779-84D241F4F594}"/>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normalization and the FFN</a:t>
            </a:r>
          </a:p>
        </p:txBody>
      </p:sp>
      <p:sp>
        <p:nvSpPr>
          <p:cNvPr id="2" name="subtitle">
            <a:extLst xmlns:a="http://schemas.openxmlformats.org/drawingml/2006/main">
              <a:ext uri="{FF2B5EF4-FFF2-40B4-BE49-F238E27FC236}">
                <a16:creationId xmlns:a16="http://schemas.microsoft.com/office/drawing/2014/main" id="{CA0BA1B8-D5C2-4175-87A1-543EDC323182}"/>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Operations within a token representation</a:t>
            </a:r>
          </a:p>
        </p:txBody>
      </p:sp>
      <p:sp>
        <p:nvSpPr>
          <p:cNvPr id="3" name="page-number">
            <a:extLst xmlns:a="http://schemas.openxmlformats.org/drawingml/2006/main">
              <a:ext uri="{FF2B5EF4-FFF2-40B4-BE49-F238E27FC236}">
                <a16:creationId xmlns:a16="http://schemas.microsoft.com/office/drawing/2014/main" id="{E579BF93-6C0C-44DC-9EF6-04D661BC2A0A}"/>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30</a:t>
            </a:r>
          </a:p>
        </p:txBody>
      </p:sp>
      <p:sp>
        <p:nvSpPr>
          <p:cNvPr id="4" name="body">
            <a:extLst xmlns:a="http://schemas.openxmlformats.org/drawingml/2006/main">
              <a:ext uri="{FF2B5EF4-FFF2-40B4-BE49-F238E27FC236}">
                <a16:creationId xmlns:a16="http://schemas.microsoft.com/office/drawing/2014/main" id="{9236B89C-D071-4A9D-B045-86A300D05525}"/>
              </a:ext>
            </a:extLst>
          </p:cNvPr>
          <p:cNvSpPr>
            <a:spLocks xmlns:a="http://schemas.openxmlformats.org/drawingml/2006/main" noGrp="1"/>
          </p:cNvSpPr>
          <p:nvPr/>
        </p:nvSpPr>
        <p:spPr>
          <a:xfrm xmlns:a="http://schemas.openxmlformats.org/drawingml/2006/main">
            <a:off x="685800" y="21717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850" b="1">
                <a:solidFill>
                  <a:srgbClr val="142D3C"/>
                </a:solidFill>
                <a:latin typeface="Calibri"/>
                <a:ea typeface="Calibri"/>
                <a:cs typeface="Calibri"/>
              </a:defRPr>
            </a:defPPr>
            <a:lvl1pPr>
              <a:defRPr sz="2850" b="1">
                <a:solidFill>
                  <a:srgbClr val="142D3C"/>
                </a:solidFill>
                <a:latin typeface="Calibri"/>
                <a:ea typeface="Calibri"/>
                <a:cs typeface="Calibri"/>
              </a:defRPr>
            </a:lvl1pPr>
            <a:lvl2pPr>
              <a:defRPr sz="2850" b="1">
                <a:solidFill>
                  <a:srgbClr val="142D3C"/>
                </a:solidFill>
                <a:latin typeface="Calibri"/>
                <a:ea typeface="Calibri"/>
                <a:cs typeface="Calibri"/>
              </a:defRPr>
            </a:lvl2pPr>
            <a:lvl3pPr>
              <a:defRPr sz="2850" b="1">
                <a:solidFill>
                  <a:srgbClr val="142D3C"/>
                </a:solidFill>
                <a:latin typeface="Calibri"/>
                <a:ea typeface="Calibri"/>
                <a:cs typeface="Calibri"/>
              </a:defRPr>
            </a:lvl3pPr>
            <a:lvl4pPr>
              <a:defRPr sz="2850" b="1">
                <a:solidFill>
                  <a:srgbClr val="142D3C"/>
                </a:solidFill>
                <a:latin typeface="Calibri"/>
                <a:ea typeface="Calibri"/>
                <a:cs typeface="Calibri"/>
              </a:defRPr>
            </a:lvl4pPr>
            <a:lvl5pPr>
              <a:defRPr sz="2850" b="1">
                <a:solidFill>
                  <a:srgbClr val="142D3C"/>
                </a:solidFill>
                <a:latin typeface="Calibri"/>
                <a:ea typeface="Calibri"/>
                <a:cs typeface="Calibri"/>
              </a:defRPr>
            </a:lvl5pPr>
            <a:lvl6pPr>
              <a:defRPr sz="2850" b="1">
                <a:solidFill>
                  <a:srgbClr val="142D3C"/>
                </a:solidFill>
                <a:latin typeface="Calibri"/>
                <a:ea typeface="Calibri"/>
                <a:cs typeface="Calibri"/>
              </a:defRPr>
            </a:lvl6pPr>
            <a:lvl7pPr>
              <a:defRPr sz="2850" b="1">
                <a:solidFill>
                  <a:srgbClr val="142D3C"/>
                </a:solidFill>
                <a:latin typeface="Calibri"/>
                <a:ea typeface="Calibri"/>
                <a:cs typeface="Calibri"/>
              </a:defRPr>
            </a:lvl7pPr>
            <a:lvl8pPr>
              <a:defRPr sz="2850" b="1">
                <a:solidFill>
                  <a:srgbClr val="142D3C"/>
                </a:solidFill>
                <a:latin typeface="Calibri"/>
                <a:ea typeface="Calibri"/>
                <a:cs typeface="Calibri"/>
              </a:defRPr>
            </a:lvl8pPr>
            <a:lvl9pPr>
              <a:defRPr sz="2850" b="1">
                <a:solidFill>
                  <a:srgbClr val="142D3C"/>
                </a:solidFill>
                <a:latin typeface="Calibri"/>
                <a:ea typeface="Calibri"/>
                <a:cs typeface="Calibri"/>
              </a:defRPr>
            </a:lvl9pPr>
          </a:lstStyle>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LN(x) = γ ⊙ (x − μ) / √(σ² + ε) + β</a:t>
            </a:r>
          </a:p>
          <a:p xmlns:a="http://schemas.openxmlformats.org/drawingml/2006/main">
            <a:pPr>
              <a:defRPr sz="2850" b="1">
                <a:solidFill>
                  <a:srgbClr val="142D3C"/>
                </a:solidFill>
                <a:latin typeface="Calibri"/>
                <a:ea typeface="Calibri"/>
                <a:cs typeface="Calibri"/>
              </a:defRPr>
            </a:pPr>
            <a:r>
              <a:rPr sz="2850" b="1">
                <a:solidFill>
                  <a:srgbClr val="142D3C"/>
                </a:solidFill>
                <a:latin typeface="Calibri"/>
                <a:ea typeface="Calibri"/>
                <a:cs typeface="Calibri"/>
              </a:rPr>
              <a:t>FFN(x) = GELU(xW₁ + b₁)W₂ + b₂</a:t>
            </a:r>
          </a:p>
        </p:txBody>
      </p:sp>
      <p:sp>
        <p:nvSpPr>
          <p:cNvPr id="5" name="body">
            <a:extLst xmlns:a="http://schemas.openxmlformats.org/drawingml/2006/main">
              <a:ext uri="{FF2B5EF4-FFF2-40B4-BE49-F238E27FC236}">
                <a16:creationId xmlns:a16="http://schemas.microsoft.com/office/drawing/2014/main" id="{D47C3DED-09A7-44C8-8C40-7FDD48EDF7FA}"/>
              </a:ext>
            </a:extLst>
          </p:cNvPr>
          <p:cNvSpPr>
            <a:spLocks xmlns:a="http://schemas.openxmlformats.org/drawingml/2006/main" noGrp="1"/>
          </p:cNvSpPr>
          <p:nvPr/>
        </p:nvSpPr>
        <p:spPr>
          <a:xfrm xmlns:a="http://schemas.openxmlformats.org/drawingml/2006/main">
            <a:off x="685800" y="366712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μ, σ²</a:t>
            </a:r>
          </a:p>
        </p:txBody>
      </p:sp>
      <p:sp>
        <p:nvSpPr>
          <p:cNvPr id="6" name="body">
            <a:extLst xmlns:a="http://schemas.openxmlformats.org/drawingml/2006/main">
              <a:ext uri="{FF2B5EF4-FFF2-40B4-BE49-F238E27FC236}">
                <a16:creationId xmlns:a16="http://schemas.microsoft.com/office/drawing/2014/main" id="{E320AF6C-F419-4FC1-942F-BA12DEE4BF6C}"/>
              </a:ext>
            </a:extLst>
          </p:cNvPr>
          <p:cNvSpPr>
            <a:spLocks xmlns:a="http://schemas.openxmlformats.org/drawingml/2006/main" noGrp="1"/>
          </p:cNvSpPr>
          <p:nvPr/>
        </p:nvSpPr>
        <p:spPr>
          <a:xfrm xmlns:a="http://schemas.openxmlformats.org/drawingml/2006/main">
            <a:off x="3143250" y="366712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Mean and variance across the features of one token</a:t>
            </a:r>
          </a:p>
        </p:txBody>
      </p:sp>
      <p:sp>
        <p:nvSpPr>
          <p:cNvPr id="7" name="body">
            <a:extLst xmlns:a="http://schemas.openxmlformats.org/drawingml/2006/main">
              <a:ext uri="{FF2B5EF4-FFF2-40B4-BE49-F238E27FC236}">
                <a16:creationId xmlns:a16="http://schemas.microsoft.com/office/drawing/2014/main" id="{0DB6611C-D02E-431E-AB28-55A96B5417C0}"/>
              </a:ext>
            </a:extLst>
          </p:cNvPr>
          <p:cNvSpPr>
            <a:spLocks xmlns:a="http://schemas.openxmlformats.org/drawingml/2006/main" noGrp="1"/>
          </p:cNvSpPr>
          <p:nvPr/>
        </p:nvSpPr>
        <p:spPr>
          <a:xfrm xmlns:a="http://schemas.openxmlformats.org/drawingml/2006/main">
            <a:off x="685800" y="417195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γ, β, ε</a:t>
            </a:r>
          </a:p>
        </p:txBody>
      </p:sp>
      <p:sp>
        <p:nvSpPr>
          <p:cNvPr id="8" name="body">
            <a:extLst xmlns:a="http://schemas.openxmlformats.org/drawingml/2006/main">
              <a:ext uri="{FF2B5EF4-FFF2-40B4-BE49-F238E27FC236}">
                <a16:creationId xmlns:a16="http://schemas.microsoft.com/office/drawing/2014/main" id="{6E3008B4-4A09-474C-9582-17C17B66685A}"/>
              </a:ext>
            </a:extLst>
          </p:cNvPr>
          <p:cNvSpPr>
            <a:spLocks xmlns:a="http://schemas.openxmlformats.org/drawingml/2006/main" noGrp="1"/>
          </p:cNvSpPr>
          <p:nvPr/>
        </p:nvSpPr>
        <p:spPr>
          <a:xfrm xmlns:a="http://schemas.openxmlformats.org/drawingml/2006/main">
            <a:off x="3143250" y="417195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Learned scale, learned offset, small denominator constant</a:t>
            </a:r>
          </a:p>
        </p:txBody>
      </p:sp>
      <p:sp>
        <p:nvSpPr>
          <p:cNvPr id="9" name="body">
            <a:extLst xmlns:a="http://schemas.openxmlformats.org/drawingml/2006/main">
              <a:ext uri="{FF2B5EF4-FFF2-40B4-BE49-F238E27FC236}">
                <a16:creationId xmlns:a16="http://schemas.microsoft.com/office/drawing/2014/main" id="{34F98562-F8B3-4C36-B2A5-FFDE1560A86E}"/>
              </a:ext>
            </a:extLst>
          </p:cNvPr>
          <p:cNvSpPr>
            <a:spLocks xmlns:a="http://schemas.openxmlformats.org/drawingml/2006/main" noGrp="1"/>
          </p:cNvSpPr>
          <p:nvPr/>
        </p:nvSpPr>
        <p:spPr>
          <a:xfrm xmlns:a="http://schemas.openxmlformats.org/drawingml/2006/main">
            <a:off x="685800" y="46767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W₁, W₂</a:t>
            </a:r>
          </a:p>
        </p:txBody>
      </p:sp>
      <p:sp>
        <p:nvSpPr>
          <p:cNvPr id="10" name="body">
            <a:extLst xmlns:a="http://schemas.openxmlformats.org/drawingml/2006/main">
              <a:ext uri="{FF2B5EF4-FFF2-40B4-BE49-F238E27FC236}">
                <a16:creationId xmlns:a16="http://schemas.microsoft.com/office/drawing/2014/main" id="{020186BF-339B-4A30-9E0A-303686C63619}"/>
              </a:ext>
            </a:extLst>
          </p:cNvPr>
          <p:cNvSpPr>
            <a:spLocks xmlns:a="http://schemas.openxmlformats.org/drawingml/2006/main" noGrp="1"/>
          </p:cNvSpPr>
          <p:nvPr/>
        </p:nvSpPr>
        <p:spPr>
          <a:xfrm xmlns:a="http://schemas.openxmlformats.org/drawingml/2006/main">
            <a:off x="3143250" y="4676775"/>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Project 64 features to 192, then back to 64</a:t>
            </a:r>
          </a:p>
        </p:txBody>
      </p:sp>
      <p:sp>
        <p:nvSpPr>
          <p:cNvPr id="11" name="body">
            <a:extLst xmlns:a="http://schemas.openxmlformats.org/drawingml/2006/main">
              <a:ext uri="{FF2B5EF4-FFF2-40B4-BE49-F238E27FC236}">
                <a16:creationId xmlns:a16="http://schemas.microsoft.com/office/drawing/2014/main" id="{1163653B-9D71-4A94-BB3A-255E2BEA02BB}"/>
              </a:ext>
            </a:extLst>
          </p:cNvPr>
          <p:cNvSpPr>
            <a:spLocks xmlns:a="http://schemas.openxmlformats.org/drawingml/2006/main" noGrp="1"/>
          </p:cNvSpPr>
          <p:nvPr/>
        </p:nvSpPr>
        <p:spPr>
          <a:xfrm xmlns:a="http://schemas.openxmlformats.org/drawingml/2006/main">
            <a:off x="685800" y="51816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F6527"/>
                </a:solidFill>
                <a:latin typeface="Calibri"/>
                <a:ea typeface="Calibri"/>
                <a:cs typeface="Calibri"/>
              </a:defRPr>
            </a:defPPr>
            <a:lvl1pPr>
              <a:defRPr sz="1725" b="1">
                <a:solidFill>
                  <a:srgbClr val="AF6527"/>
                </a:solidFill>
                <a:latin typeface="Calibri"/>
                <a:ea typeface="Calibri"/>
                <a:cs typeface="Calibri"/>
              </a:defRPr>
            </a:lvl1pPr>
            <a:lvl2pPr>
              <a:defRPr sz="1725" b="1">
                <a:solidFill>
                  <a:srgbClr val="AF6527"/>
                </a:solidFill>
                <a:latin typeface="Calibri"/>
                <a:ea typeface="Calibri"/>
                <a:cs typeface="Calibri"/>
              </a:defRPr>
            </a:lvl2pPr>
            <a:lvl3pPr>
              <a:defRPr sz="1725" b="1">
                <a:solidFill>
                  <a:srgbClr val="AF6527"/>
                </a:solidFill>
                <a:latin typeface="Calibri"/>
                <a:ea typeface="Calibri"/>
                <a:cs typeface="Calibri"/>
              </a:defRPr>
            </a:lvl3pPr>
            <a:lvl4pPr>
              <a:defRPr sz="1725" b="1">
                <a:solidFill>
                  <a:srgbClr val="AF6527"/>
                </a:solidFill>
                <a:latin typeface="Calibri"/>
                <a:ea typeface="Calibri"/>
                <a:cs typeface="Calibri"/>
              </a:defRPr>
            </a:lvl4pPr>
            <a:lvl5pPr>
              <a:defRPr sz="1725" b="1">
                <a:solidFill>
                  <a:srgbClr val="AF6527"/>
                </a:solidFill>
                <a:latin typeface="Calibri"/>
                <a:ea typeface="Calibri"/>
                <a:cs typeface="Calibri"/>
              </a:defRPr>
            </a:lvl5pPr>
            <a:lvl6pPr>
              <a:defRPr sz="1725" b="1">
                <a:solidFill>
                  <a:srgbClr val="AF6527"/>
                </a:solidFill>
                <a:latin typeface="Calibri"/>
                <a:ea typeface="Calibri"/>
                <a:cs typeface="Calibri"/>
              </a:defRPr>
            </a:lvl6pPr>
            <a:lvl7pPr>
              <a:defRPr sz="1725" b="1">
                <a:solidFill>
                  <a:srgbClr val="AF6527"/>
                </a:solidFill>
                <a:latin typeface="Calibri"/>
                <a:ea typeface="Calibri"/>
                <a:cs typeface="Calibri"/>
              </a:defRPr>
            </a:lvl7pPr>
            <a:lvl8pPr>
              <a:defRPr sz="1725" b="1">
                <a:solidFill>
                  <a:srgbClr val="AF6527"/>
                </a:solidFill>
                <a:latin typeface="Calibri"/>
                <a:ea typeface="Calibri"/>
                <a:cs typeface="Calibri"/>
              </a:defRPr>
            </a:lvl8pPr>
            <a:lvl9pPr>
              <a:defRPr sz="1725" b="1">
                <a:solidFill>
                  <a:srgbClr val="AF6527"/>
                </a:solidFill>
                <a:latin typeface="Calibri"/>
                <a:ea typeface="Calibri"/>
                <a:cs typeface="Calibri"/>
              </a:defRPr>
            </a:lvl9pPr>
          </a:lstStyle>
          <a:p xmlns:a="http://schemas.openxmlformats.org/drawingml/2006/main">
            <a:pPr>
              <a:defRPr sz="1725" b="1">
                <a:solidFill>
                  <a:srgbClr val="AF6527"/>
                </a:solidFill>
                <a:latin typeface="Calibri"/>
                <a:ea typeface="Calibri"/>
                <a:cs typeface="Calibri"/>
              </a:defRPr>
            </a:pPr>
            <a:r>
              <a:rPr sz="1725" b="1">
                <a:solidFill>
                  <a:srgbClr val="AF6527"/>
                </a:solidFill>
                <a:latin typeface="Calibri"/>
                <a:ea typeface="Calibri"/>
                <a:cs typeface="Calibri"/>
              </a:rPr>
              <a:t>GELU, ⊙</a:t>
            </a:r>
          </a:p>
        </p:txBody>
      </p:sp>
      <p:sp>
        <p:nvSpPr>
          <p:cNvPr id="12" name="body">
            <a:extLst xmlns:a="http://schemas.openxmlformats.org/drawingml/2006/main">
              <a:ext uri="{FF2B5EF4-FFF2-40B4-BE49-F238E27FC236}">
                <a16:creationId xmlns:a16="http://schemas.microsoft.com/office/drawing/2014/main" id="{49BB66F0-3750-41F2-BF0B-960CF7F5032E}"/>
              </a:ext>
            </a:extLst>
          </p:cNvPr>
          <p:cNvSpPr>
            <a:spLocks xmlns:a="http://schemas.openxmlformats.org/drawingml/2006/main" noGrp="1"/>
          </p:cNvSpPr>
          <p:nvPr/>
        </p:nvSpPr>
        <p:spPr>
          <a:xfrm xmlns:a="http://schemas.openxmlformats.org/drawingml/2006/main">
            <a:off x="3143250" y="5181600"/>
            <a:ext cx="8362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142D3C"/>
                </a:solidFill>
                <a:latin typeface="Calibri"/>
                <a:ea typeface="Calibri"/>
                <a:cs typeface="Calibri"/>
              </a:defRPr>
            </a:defPPr>
            <a:lvl1pPr>
              <a:defRPr sz="1800" b="0">
                <a:solidFill>
                  <a:srgbClr val="142D3C"/>
                </a:solidFill>
                <a:latin typeface="Calibri"/>
                <a:ea typeface="Calibri"/>
                <a:cs typeface="Calibri"/>
              </a:defRPr>
            </a:lvl1pPr>
            <a:lvl2pPr>
              <a:defRPr sz="1800" b="0">
                <a:solidFill>
                  <a:srgbClr val="142D3C"/>
                </a:solidFill>
                <a:latin typeface="Calibri"/>
                <a:ea typeface="Calibri"/>
                <a:cs typeface="Calibri"/>
              </a:defRPr>
            </a:lvl2pPr>
            <a:lvl3pPr>
              <a:defRPr sz="1800" b="0">
                <a:solidFill>
                  <a:srgbClr val="142D3C"/>
                </a:solidFill>
                <a:latin typeface="Calibri"/>
                <a:ea typeface="Calibri"/>
                <a:cs typeface="Calibri"/>
              </a:defRPr>
            </a:lvl3pPr>
            <a:lvl4pPr>
              <a:defRPr sz="1800" b="0">
                <a:solidFill>
                  <a:srgbClr val="142D3C"/>
                </a:solidFill>
                <a:latin typeface="Calibri"/>
                <a:ea typeface="Calibri"/>
                <a:cs typeface="Calibri"/>
              </a:defRPr>
            </a:lvl4pPr>
            <a:lvl5pPr>
              <a:defRPr sz="1800" b="0">
                <a:solidFill>
                  <a:srgbClr val="142D3C"/>
                </a:solidFill>
                <a:latin typeface="Calibri"/>
                <a:ea typeface="Calibri"/>
                <a:cs typeface="Calibri"/>
              </a:defRPr>
            </a:lvl5pPr>
            <a:lvl6pPr>
              <a:defRPr sz="1800" b="0">
                <a:solidFill>
                  <a:srgbClr val="142D3C"/>
                </a:solidFill>
                <a:latin typeface="Calibri"/>
                <a:ea typeface="Calibri"/>
                <a:cs typeface="Calibri"/>
              </a:defRPr>
            </a:lvl6pPr>
            <a:lvl7pPr>
              <a:defRPr sz="1800" b="0">
                <a:solidFill>
                  <a:srgbClr val="142D3C"/>
                </a:solidFill>
                <a:latin typeface="Calibri"/>
                <a:ea typeface="Calibri"/>
                <a:cs typeface="Calibri"/>
              </a:defRPr>
            </a:lvl7pPr>
            <a:lvl8pPr>
              <a:defRPr sz="1800" b="0">
                <a:solidFill>
                  <a:srgbClr val="142D3C"/>
                </a:solidFill>
                <a:latin typeface="Calibri"/>
                <a:ea typeface="Calibri"/>
                <a:cs typeface="Calibri"/>
              </a:defRPr>
            </a:lvl8pPr>
            <a:lvl9pPr>
              <a:defRPr sz="1800" b="0">
                <a:solidFill>
                  <a:srgbClr val="142D3C"/>
                </a:solidFill>
                <a:latin typeface="Calibri"/>
                <a:ea typeface="Calibri"/>
                <a:cs typeface="Calibri"/>
              </a:defRPr>
            </a:lvl9pPr>
          </a:lstStyle>
          <a:p xmlns:a="http://schemas.openxmlformats.org/drawingml/2006/main">
            <a:pPr>
              <a:defRPr sz="1800" b="0">
                <a:solidFill>
                  <a:srgbClr val="142D3C"/>
                </a:solidFill>
                <a:latin typeface="Calibri"/>
                <a:ea typeface="Calibri"/>
                <a:cs typeface="Calibri"/>
              </a:defRPr>
            </a:pPr>
            <a:r>
              <a:rPr sz="1800" b="0">
                <a:solidFill>
                  <a:srgbClr val="142D3C"/>
                </a:solidFill>
                <a:latin typeface="Calibri"/>
                <a:ea typeface="Calibri"/>
                <a:cs typeface="Calibri"/>
              </a:rPr>
              <a:t>Nonlinear activation, and element-wise multiplication</a:t>
            </a:r>
          </a:p>
        </p:txBody>
      </p:sp>
      <p:sp>
        <p:nvSpPr>
          <p:cNvPr id="13" name="body">
            <a:extLst xmlns:a="http://schemas.openxmlformats.org/drawingml/2006/main">
              <a:ext uri="{FF2B5EF4-FFF2-40B4-BE49-F238E27FC236}">
                <a16:creationId xmlns:a16="http://schemas.microsoft.com/office/drawing/2014/main" id="{56D1B882-4C14-44D1-A4F2-919B8D0D32A2}"/>
              </a:ext>
            </a:extLst>
          </p:cNvPr>
          <p:cNvSpPr>
            <a:spLocks xmlns:a="http://schemas.openxmlformats.org/drawingml/2006/main" noGrp="1"/>
          </p:cNvSpPr>
          <p:nvPr/>
        </p:nvSpPr>
        <p:spPr>
          <a:xfrm xmlns:a="http://schemas.openxmlformats.org/drawingml/2006/main">
            <a:off x="685800" y="59912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The same FFN parameters apply to every position within a block</a:t>
            </a:r>
          </a:p>
        </p:txBody>
      </p:sp>
    </p:spTree>
    <p:extLst>
      <p:ext uri="{BB962C8B-B14F-4D97-AF65-F5344CB8AC3E}">
        <p14:creationId xmlns:p14="http://schemas.microsoft.com/office/powerpoint/2010/main" val="2137982884"/>
      </p:ext>
    </p:extLst>
  </p:cSld>
</p:sld>
</file>

<file path=ppt/slides/slide3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E1312DE5-93A3-4408-B8B4-D14CD8ABE01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the loss-mask boundary</a:t>
            </a:r>
          </a:p>
        </p:txBody>
      </p:sp>
      <p:sp>
        <p:nvSpPr>
          <p:cNvPr id="2" name="subtitle">
            <a:extLst xmlns:a="http://schemas.openxmlformats.org/drawingml/2006/main">
              <a:ext uri="{FF2B5EF4-FFF2-40B4-BE49-F238E27FC236}">
                <a16:creationId xmlns:a16="http://schemas.microsoft.com/office/drawing/2014/main" id="{A360BE29-2316-4350-B3D4-22A8EBF7904A}"/>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Excerpt under the final task-piece tokenizer</a:t>
            </a:r>
          </a:p>
        </p:txBody>
      </p:sp>
      <p:sp>
        <p:nvSpPr>
          <p:cNvPr id="3" name="page-number">
            <a:extLst xmlns:a="http://schemas.openxmlformats.org/drawingml/2006/main">
              <a:ext uri="{FF2B5EF4-FFF2-40B4-BE49-F238E27FC236}">
                <a16:creationId xmlns:a16="http://schemas.microsoft.com/office/drawing/2014/main" id="{F2DB1567-F483-4B13-874D-EEBD97A3FD14}"/>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31</a:t>
            </a:r>
          </a:p>
        </p:txBody>
      </p:sp>
      <p:graphicFrame>
        <p:nvGraphicFramePr>
          <p:cNvPr id="4" name="">
            <a:extLst xmlns:a="http://schemas.openxmlformats.org/drawingml/2006/main">
              <a:ext uri="{FF2B5EF4-FFF2-40B4-BE49-F238E27FC236}">
                <a16:creationId xmlns:a16="http://schemas.microsoft.com/office/drawing/2014/main" id="{F5DF0C7B-0210-4807-B2A1-B58A893CA7D0}"/>
              </a:ext>
            </a:extLst>
          </p:cNvPr>
          <p:cNvGraphicFramePr/>
          <p:nvPr/>
        </p:nvGraphicFramePr>
        <p:xfrm>
          <a:off xmlns:a="http://schemas.openxmlformats.org/drawingml/2006/main" x="685800" y="2076450"/>
          <a:ext xmlns:a="http://schemas.openxmlformats.org/drawingml/2006/main" cx="10820400" cy="4000500"/>
        </p:xfrm>
        <a:graphic xmlns:a="http://schemas.openxmlformats.org/drawingml/2006/main">
          <a:graphicData uri="http://schemas.openxmlformats.org/drawingml/2006/table">
            <a:tbl>
              <a:tblPr firstRow="0" bandRow="0"/>
              <a:tblGrid>
                <a:gridCol w="2857500"/>
                <a:gridCol w="2476500"/>
                <a:gridCol w="1476375"/>
                <a:gridCol w="4010025"/>
              </a:tblGrid>
              <a:tr h="571500">
                <a:tc>
                  <a:txBody>
                    <a:bodyPr/>
                    <a:lstStyle/>
                    <a:p>
                      <a:r>
                        <a:rPr sz="1650" b="1">
                          <a:solidFill>
                            <a:srgbClr val="F9F7F1"/>
                          </a:solidFill>
                          <a:latin typeface="Calibri"/>
                          <a:ea typeface="Calibri"/>
                          <a:cs typeface="Calibri"/>
                        </a:rPr>
                        <a:t>Input token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Next target</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Score?</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Reason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571500">
                <a:tc>
                  <a:txBody>
                    <a:bodyPr/>
                    <a:lstStyle/>
                    <a:p>
                      <a:r>
                        <a:rPr sz="1725">
                          <a:solidFill>
                            <a:srgbClr val="142D3C"/>
                          </a:solidFill>
                          <a:latin typeface="Calibri"/>
                          <a:ea typeface="Calibri"/>
                          <a:cs typeface="Calibri"/>
                        </a:rPr>
                        <a:t>&lt;INPUT&gt;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PATIENT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Source prediction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Last source token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&lt;OUTPUT&gt;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Protocol boundary</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&lt;OUTPUT&gt;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PATIENT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First output token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PATIENT</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space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Next output token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Last output token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&lt;EOS&gt;</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Yes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Learn termination</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71500">
                <a:tc>
                  <a:txBody>
                    <a:bodyPr/>
                    <a:lstStyle/>
                    <a:p>
                      <a:r>
                        <a:rPr sz="1725">
                          <a:solidFill>
                            <a:srgbClr val="142D3C"/>
                          </a:solidFill>
                          <a:latin typeface="Calibri"/>
                          <a:ea typeface="Calibri"/>
                          <a:cs typeface="Calibri"/>
                        </a:rPr>
                        <a:t>Padding</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-100(ignore)</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No</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Batch filler</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541028407"/>
      </p:ext>
    </p:extLst>
  </p:cSld>
</p:sld>
</file>

<file path=ppt/slides/slide3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B5BA809E-7675-4375-B226-7DA25EAB5C36}"/>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measured parameter count</a:t>
            </a:r>
          </a:p>
        </p:txBody>
      </p:sp>
      <p:sp>
        <p:nvSpPr>
          <p:cNvPr id="2" name="subtitle">
            <a:extLst xmlns:a="http://schemas.openxmlformats.org/drawingml/2006/main">
              <a:ext uri="{FF2B5EF4-FFF2-40B4-BE49-F238E27FC236}">
                <a16:creationId xmlns:a16="http://schemas.microsoft.com/office/drawing/2014/main" id="{436614A7-9233-4169-A4BD-FC94B9FCA21C}"/>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Full model: vocabulary 146,width 64,FFN 192,context 256</a:t>
            </a:r>
          </a:p>
        </p:txBody>
      </p:sp>
      <p:sp>
        <p:nvSpPr>
          <p:cNvPr id="3" name="page-number">
            <a:extLst xmlns:a="http://schemas.openxmlformats.org/drawingml/2006/main">
              <a:ext uri="{FF2B5EF4-FFF2-40B4-BE49-F238E27FC236}">
                <a16:creationId xmlns:a16="http://schemas.microsoft.com/office/drawing/2014/main" id="{033BA1C6-82FA-48E1-BBBE-EE73F0A0B371}"/>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32</a:t>
            </a:r>
          </a:p>
        </p:txBody>
      </p:sp>
      <p:graphicFrame>
        <p:nvGraphicFramePr>
          <p:cNvPr id="4" name="">
            <a:extLst xmlns:a="http://schemas.openxmlformats.org/drawingml/2006/main">
              <a:ext uri="{FF2B5EF4-FFF2-40B4-BE49-F238E27FC236}">
                <a16:creationId xmlns:a16="http://schemas.microsoft.com/office/drawing/2014/main" id="{E84D598B-7731-41BA-BEB1-7CE913569488}"/>
              </a:ext>
            </a:extLst>
          </p:cNvPr>
          <p:cNvGraphicFramePr/>
          <p:nvPr/>
        </p:nvGraphicFramePr>
        <p:xfrm>
          <a:off xmlns:a="http://schemas.openxmlformats.org/drawingml/2006/main" x="685800" y="2076450"/>
          <a:ext xmlns:a="http://schemas.openxmlformats.org/drawingml/2006/main" cx="10820400" cy="4038600"/>
        </p:xfrm>
        <a:graphic xmlns:a="http://schemas.openxmlformats.org/drawingml/2006/main">
          <a:graphicData uri="http://schemas.openxmlformats.org/drawingml/2006/table">
            <a:tbl>
              <a:tblPr firstRow="0" bandRow="0"/>
              <a:tblGrid>
                <a:gridCol w="3286125"/>
                <a:gridCol w="5524500"/>
                <a:gridCol w="2009775"/>
              </a:tblGrid>
              <a:tr h="504825">
                <a:tc>
                  <a:txBody>
                    <a:bodyPr/>
                    <a:lstStyle/>
                    <a:p>
                      <a:r>
                        <a:rPr sz="1650" b="1">
                          <a:solidFill>
                            <a:srgbClr val="F9F7F1"/>
                          </a:solidFill>
                          <a:latin typeface="Calibri"/>
                          <a:ea typeface="Calibri"/>
                          <a:cs typeface="Calibri"/>
                        </a:rPr>
                        <a:t>Component</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Calculation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Parameters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504825">
                <a:tc>
                  <a:txBody>
                    <a:bodyPr/>
                    <a:lstStyle/>
                    <a:p>
                      <a:r>
                        <a:rPr sz="1650">
                          <a:solidFill>
                            <a:srgbClr val="142D3C"/>
                          </a:solidFill>
                          <a:latin typeface="Calibri"/>
                          <a:ea typeface="Calibri"/>
                          <a:cs typeface="Calibri"/>
                        </a:rPr>
                        <a:t>Token embedding</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146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9,344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Position embedding</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256 ×64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16,384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Attention,two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 ×4 ×(64²+64)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33,280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FFNs,two blocks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2 ×(2 ×64 ×192+192+64)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49,664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All norms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5 ×(64+64)</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640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Vocabulary head</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64 ×146+146</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9,490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504825">
                <a:tc>
                  <a:txBody>
                    <a:bodyPr/>
                    <a:lstStyle/>
                    <a:p>
                      <a:r>
                        <a:rPr sz="1650">
                          <a:solidFill>
                            <a:srgbClr val="142D3C"/>
                          </a:solidFill>
                          <a:latin typeface="Calibri"/>
                          <a:ea typeface="Calibri"/>
                          <a:cs typeface="Calibri"/>
                        </a:rPr>
                        <a:t>Total</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Sum of six components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650">
                          <a:solidFill>
                            <a:srgbClr val="142D3C"/>
                          </a:solidFill>
                          <a:latin typeface="Calibri"/>
                          <a:ea typeface="Calibri"/>
                          <a:cs typeface="Calibri"/>
                        </a:rPr>
                        <a:t>118,802</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377384338"/>
      </p:ext>
    </p:extLst>
  </p:cSld>
</p:sld>
</file>

<file path=ppt/slides/slide3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6342EE79-2599-4AB4-B39A-E4E0F9F3E6C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the autoregressive loop</a:t>
            </a:r>
          </a:p>
        </p:txBody>
      </p:sp>
      <p:sp>
        <p:nvSpPr>
          <p:cNvPr id="2" name="subtitle">
            <a:extLst xmlns:a="http://schemas.openxmlformats.org/drawingml/2006/main">
              <a:ext uri="{FF2B5EF4-FFF2-40B4-BE49-F238E27FC236}">
                <a16:creationId xmlns:a16="http://schemas.microsoft.com/office/drawing/2014/main" id="{C3438987-E9A8-458D-B953-C31FB41036D0}"/>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Conceptual pseudocode, not a recorded run</a:t>
            </a:r>
          </a:p>
        </p:txBody>
      </p:sp>
      <p:sp>
        <p:nvSpPr>
          <p:cNvPr id="3" name="page-number">
            <a:extLst xmlns:a="http://schemas.openxmlformats.org/drawingml/2006/main">
              <a:ext uri="{FF2B5EF4-FFF2-40B4-BE49-F238E27FC236}">
                <a16:creationId xmlns:a16="http://schemas.microsoft.com/office/drawing/2014/main" id="{28DE72D0-2B1B-4B1F-9BB7-43C2212B0C2E}"/>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33</a:t>
            </a:r>
          </a:p>
        </p:txBody>
      </p:sp>
      <p:sp>
        <p:nvSpPr>
          <p:cNvPr id="4" name="body">
            <a:extLst xmlns:a="http://schemas.openxmlformats.org/drawingml/2006/main">
              <a:ext uri="{FF2B5EF4-FFF2-40B4-BE49-F238E27FC236}">
                <a16:creationId xmlns:a16="http://schemas.microsoft.com/office/drawing/2014/main" id="{3F28A5C5-CCB3-4D8C-B7D5-F1BE2E851E67}"/>
              </a:ext>
            </a:extLst>
          </p:cNvPr>
          <p:cNvSpPr>
            <a:spLocks xmlns:a="http://schemas.openxmlformats.org/drawingml/2006/main" noGrp="1"/>
          </p:cNvSpPr>
          <p:nvPr/>
        </p:nvSpPr>
        <p:spPr>
          <a:xfrm xmlns:a="http://schemas.openxmlformats.org/drawingml/2006/main">
            <a:off x="685800" y="2143125"/>
            <a:ext cx="108204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42D3C"/>
                </a:solidFill>
                <a:latin typeface="Calibri"/>
                <a:ea typeface="Calibri"/>
                <a:cs typeface="Calibri"/>
              </a:defRPr>
            </a:defPPr>
            <a:lvl1pPr>
              <a:defRPr sz="2325" b="0">
                <a:solidFill>
                  <a:srgbClr val="142D3C"/>
                </a:solidFill>
                <a:latin typeface="Calibri"/>
                <a:ea typeface="Calibri"/>
                <a:cs typeface="Calibri"/>
              </a:defRPr>
            </a:lvl1pPr>
            <a:lvl2pPr>
              <a:defRPr sz="2325" b="0">
                <a:solidFill>
                  <a:srgbClr val="142D3C"/>
                </a:solidFill>
                <a:latin typeface="Calibri"/>
                <a:ea typeface="Calibri"/>
                <a:cs typeface="Calibri"/>
              </a:defRPr>
            </a:lvl2pPr>
            <a:lvl3pPr>
              <a:defRPr sz="2325" b="0">
                <a:solidFill>
                  <a:srgbClr val="142D3C"/>
                </a:solidFill>
                <a:latin typeface="Calibri"/>
                <a:ea typeface="Calibri"/>
                <a:cs typeface="Calibri"/>
              </a:defRPr>
            </a:lvl3pPr>
            <a:lvl4pPr>
              <a:defRPr sz="2325" b="0">
                <a:solidFill>
                  <a:srgbClr val="142D3C"/>
                </a:solidFill>
                <a:latin typeface="Calibri"/>
                <a:ea typeface="Calibri"/>
                <a:cs typeface="Calibri"/>
              </a:defRPr>
            </a:lvl4pPr>
            <a:lvl5pPr>
              <a:defRPr sz="2325" b="0">
                <a:solidFill>
                  <a:srgbClr val="142D3C"/>
                </a:solidFill>
                <a:latin typeface="Calibri"/>
                <a:ea typeface="Calibri"/>
                <a:cs typeface="Calibri"/>
              </a:defRPr>
            </a:lvl5pPr>
            <a:lvl6pPr>
              <a:defRPr sz="2325" b="0">
                <a:solidFill>
                  <a:srgbClr val="142D3C"/>
                </a:solidFill>
                <a:latin typeface="Calibri"/>
                <a:ea typeface="Calibri"/>
                <a:cs typeface="Calibri"/>
              </a:defRPr>
            </a:lvl6pPr>
            <a:lvl7pPr>
              <a:defRPr sz="2325" b="0">
                <a:solidFill>
                  <a:srgbClr val="142D3C"/>
                </a:solidFill>
                <a:latin typeface="Calibri"/>
                <a:ea typeface="Calibri"/>
                <a:cs typeface="Calibri"/>
              </a:defRPr>
            </a:lvl7pPr>
            <a:lvl8pPr>
              <a:defRPr sz="2325" b="0">
                <a:solidFill>
                  <a:srgbClr val="142D3C"/>
                </a:solidFill>
                <a:latin typeface="Calibri"/>
                <a:ea typeface="Calibri"/>
                <a:cs typeface="Calibri"/>
              </a:defRPr>
            </a:lvl8pPr>
            <a:lvl9pPr>
              <a:defRPr sz="2325" b="0">
                <a:solidFill>
                  <a:srgbClr val="142D3C"/>
                </a:solidFill>
                <a:latin typeface="Calibri"/>
                <a:ea typeface="Calibri"/>
                <a:cs typeface="Calibri"/>
              </a:defRPr>
            </a:lvl9pPr>
          </a:lstStyle>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ids = encode(source_prompt_through_OUTPUT)</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while generated_count &lt; limit:</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logits = model(ids)</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next_logits = logits[:, -1, :]</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next_id = argmax(next_logits)       # explicit greedy mode</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ids = append(ids, next_id)</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if next_id == EOS:</a:t>
            </a:r>
          </a:p>
          <a:p xmlns:a="http://schemas.openxmlformats.org/drawingml/2006/main">
            <a:pPr>
              <a:defRPr sz="2325" b="0">
                <a:solidFill>
                  <a:srgbClr val="142D3C"/>
                </a:solidFill>
                <a:latin typeface="Calibri"/>
                <a:ea typeface="Calibri"/>
                <a:cs typeface="Calibri"/>
              </a:defRPr>
            </a:pPr>
            <a:r>
              <a:rPr sz="2325" b="0">
                <a:solidFill>
                  <a:srgbClr val="142D3C"/>
                </a:solidFill>
                <a:latin typeface="Calibri"/>
                <a:ea typeface="Calibri"/>
                <a:cs typeface="Calibri"/>
              </a:rPr>
              <a:t>        break</a:t>
            </a:r>
          </a:p>
        </p:txBody>
      </p:sp>
      <p:sp>
        <p:nvSpPr>
          <p:cNvPr id="5" name="body">
            <a:extLst xmlns:a="http://schemas.openxmlformats.org/drawingml/2006/main">
              <a:ext uri="{FF2B5EF4-FFF2-40B4-BE49-F238E27FC236}">
                <a16:creationId xmlns:a16="http://schemas.microsoft.com/office/drawing/2014/main" id="{7DD3823F-A2E4-42CB-AC1C-3A8508242098}"/>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 separate sampling mode applies softmax(logits / temperature) and samples from it</a:t>
            </a:r>
          </a:p>
        </p:txBody>
      </p:sp>
    </p:spTree>
    <p:extLst>
      <p:ext uri="{BB962C8B-B14F-4D97-AF65-F5344CB8AC3E}">
        <p14:creationId xmlns:p14="http://schemas.microsoft.com/office/powerpoint/2010/main" val="1499145437"/>
      </p:ext>
    </p:extLst>
  </p:cSld>
</p:sld>
</file>

<file path=ppt/slides/slide3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 name="heading">
            <a:extLst xmlns:a="http://schemas.openxmlformats.org/drawingml/2006/main">
              <a:ext uri="{FF2B5EF4-FFF2-40B4-BE49-F238E27FC236}">
                <a16:creationId xmlns:a16="http://schemas.microsoft.com/office/drawing/2014/main" id="{20F990A9-EEF4-4B47-AB2C-B3289D31D2E7}"/>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generalization conditions</a:t>
            </a:r>
          </a:p>
        </p:txBody>
      </p:sp>
      <p:sp>
        <p:nvSpPr>
          <p:cNvPr id="2" name="subtitle">
            <a:extLst xmlns:a="http://schemas.openxmlformats.org/drawingml/2006/main">
              <a:ext uri="{FF2B5EF4-FFF2-40B4-BE49-F238E27FC236}">
                <a16:creationId xmlns:a16="http://schemas.microsoft.com/office/drawing/2014/main" id="{E1899F0B-0A4F-4E2C-B2A7-441086A1353E}"/>
              </a:ext>
            </a:extLst>
          </p:cNvPr>
          <p:cNvSpPr>
            <a:spLocks xmlns:a="http://schemas.openxmlformats.org/drawingml/2006/main" noGrp="1"/>
          </p:cNvSpPr>
          <p:nvPr/>
        </p:nvSpPr>
        <p:spPr>
          <a:xfrm xmlns:a="http://schemas.openxmlformats.org/drawingml/2006/main">
            <a:off x="685800" y="14382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1616B"/>
                </a:solidFill>
                <a:latin typeface="Calibri"/>
                <a:ea typeface="Calibri"/>
                <a:cs typeface="Calibri"/>
              </a:defRPr>
            </a:defPPr>
            <a:lvl1pPr>
              <a:defRPr sz="1800" b="0">
                <a:solidFill>
                  <a:srgbClr val="51616B"/>
                </a:solidFill>
                <a:latin typeface="Calibri"/>
                <a:ea typeface="Calibri"/>
                <a:cs typeface="Calibri"/>
              </a:defRPr>
            </a:lvl1pPr>
            <a:lvl2pPr>
              <a:defRPr sz="1800" b="0">
                <a:solidFill>
                  <a:srgbClr val="51616B"/>
                </a:solidFill>
                <a:latin typeface="Calibri"/>
                <a:ea typeface="Calibri"/>
                <a:cs typeface="Calibri"/>
              </a:defRPr>
            </a:lvl2pPr>
            <a:lvl3pPr>
              <a:defRPr sz="1800" b="0">
                <a:solidFill>
                  <a:srgbClr val="51616B"/>
                </a:solidFill>
                <a:latin typeface="Calibri"/>
                <a:ea typeface="Calibri"/>
                <a:cs typeface="Calibri"/>
              </a:defRPr>
            </a:lvl3pPr>
            <a:lvl4pPr>
              <a:defRPr sz="1800" b="0">
                <a:solidFill>
                  <a:srgbClr val="51616B"/>
                </a:solidFill>
                <a:latin typeface="Calibri"/>
                <a:ea typeface="Calibri"/>
                <a:cs typeface="Calibri"/>
              </a:defRPr>
            </a:lvl4pPr>
            <a:lvl5pPr>
              <a:defRPr sz="1800" b="0">
                <a:solidFill>
                  <a:srgbClr val="51616B"/>
                </a:solidFill>
                <a:latin typeface="Calibri"/>
                <a:ea typeface="Calibri"/>
                <a:cs typeface="Calibri"/>
              </a:defRPr>
            </a:lvl5pPr>
            <a:lvl6pPr>
              <a:defRPr sz="1800" b="0">
                <a:solidFill>
                  <a:srgbClr val="51616B"/>
                </a:solidFill>
                <a:latin typeface="Calibri"/>
                <a:ea typeface="Calibri"/>
                <a:cs typeface="Calibri"/>
              </a:defRPr>
            </a:lvl6pPr>
            <a:lvl7pPr>
              <a:defRPr sz="1800" b="0">
                <a:solidFill>
                  <a:srgbClr val="51616B"/>
                </a:solidFill>
                <a:latin typeface="Calibri"/>
                <a:ea typeface="Calibri"/>
                <a:cs typeface="Calibri"/>
              </a:defRPr>
            </a:lvl7pPr>
            <a:lvl8pPr>
              <a:defRPr sz="1800" b="0">
                <a:solidFill>
                  <a:srgbClr val="51616B"/>
                </a:solidFill>
                <a:latin typeface="Calibri"/>
                <a:ea typeface="Calibri"/>
                <a:cs typeface="Calibri"/>
              </a:defRPr>
            </a:lvl8pPr>
            <a:lvl9pPr>
              <a:defRPr sz="1800" b="0">
                <a:solidFill>
                  <a:srgbClr val="51616B"/>
                </a:solidFill>
                <a:latin typeface="Calibri"/>
                <a:ea typeface="Calibri"/>
                <a:cs typeface="Calibri"/>
              </a:defRPr>
            </a:lvl9pPr>
          </a:lstStyle>
          <a:p xmlns:a="http://schemas.openxmlformats.org/drawingml/2006/main">
            <a:pPr>
              <a:defRPr sz="1800" b="0">
                <a:solidFill>
                  <a:srgbClr val="51616B"/>
                </a:solidFill>
                <a:latin typeface="Calibri"/>
                <a:ea typeface="Calibri"/>
                <a:cs typeface="Calibri"/>
              </a:defRPr>
            </a:pPr>
            <a:r>
              <a:rPr sz="1800" b="0">
                <a:solidFill>
                  <a:srgbClr val="51616B"/>
                </a:solidFill>
                <a:latin typeface="Calibri"/>
                <a:ea typeface="Calibri"/>
                <a:cs typeface="Calibri"/>
              </a:rPr>
              <a:t>Final partitions are separate from validation-only diagnostics</a:t>
            </a:r>
          </a:p>
        </p:txBody>
      </p:sp>
      <p:sp>
        <p:nvSpPr>
          <p:cNvPr id="3" name="page-number">
            <a:extLst xmlns:a="http://schemas.openxmlformats.org/drawingml/2006/main">
              <a:ext uri="{FF2B5EF4-FFF2-40B4-BE49-F238E27FC236}">
                <a16:creationId xmlns:a16="http://schemas.microsoft.com/office/drawing/2014/main" id="{8C309151-38A1-41C3-898A-8F60F9D36399}"/>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34</a:t>
            </a:r>
          </a:p>
        </p:txBody>
      </p:sp>
      <p:graphicFrame>
        <p:nvGraphicFramePr>
          <p:cNvPr id="4" name="">
            <a:extLst xmlns:a="http://schemas.openxmlformats.org/drawingml/2006/main">
              <a:ext uri="{FF2B5EF4-FFF2-40B4-BE49-F238E27FC236}">
                <a16:creationId xmlns:a16="http://schemas.microsoft.com/office/drawing/2014/main" id="{BE335A19-2761-4CEA-A6B6-16B169140E74}"/>
              </a:ext>
            </a:extLst>
          </p:cNvPr>
          <p:cNvGraphicFramePr/>
          <p:nvPr/>
        </p:nvGraphicFramePr>
        <p:xfrm>
          <a:off xmlns:a="http://schemas.openxmlformats.org/drawingml/2006/main" x="685800" y="2076450"/>
          <a:ext xmlns:a="http://schemas.openxmlformats.org/drawingml/2006/main" cx="10820400" cy="3905250"/>
        </p:xfrm>
        <a:graphic xmlns:a="http://schemas.openxmlformats.org/drawingml/2006/main">
          <a:graphicData uri="http://schemas.openxmlformats.org/drawingml/2006/table">
            <a:tbl>
              <a:tblPr firstRow="0" bandRow="0"/>
              <a:tblGrid>
                <a:gridCol w="3905250"/>
                <a:gridCol w="1714500"/>
                <a:gridCol w="5200650"/>
              </a:tblGrid>
              <a:tr h="650875">
                <a:tc>
                  <a:txBody>
                    <a:bodyPr/>
                    <a:lstStyle/>
                    <a:p>
                      <a:r>
                        <a:rPr sz="1650" b="1">
                          <a:solidFill>
                            <a:srgbClr val="F9F7F1"/>
                          </a:solidFill>
                          <a:latin typeface="Calibri"/>
                          <a:ea typeface="Calibri"/>
                          <a:cs typeface="Calibri"/>
                        </a:rPr>
                        <a:t>Partition</a:t>
                      </a:r>
                    </a:p>
                  </a:txBody>
                  <a:tcPr marL="142875" marR="142875" marT="57150" marB="57150" anchor="ctr">
                    <a:lnL w="6668">
                      <a:solidFill>
                        <a:srgbClr val="D2D5D1"/>
                      </a:solidFill>
                      <a:prstDash val="solid"/>
                    </a:lnL>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Notes</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c>
                  <a:txBody>
                    <a:bodyPr/>
                    <a:lstStyle/>
                    <a:p>
                      <a:r>
                        <a:rPr sz="1650" b="1">
                          <a:solidFill>
                            <a:srgbClr val="F9F7F1"/>
                          </a:solidFill>
                          <a:latin typeface="Calibri"/>
                          <a:ea typeface="Calibri"/>
                          <a:cs typeface="Calibri"/>
                        </a:rPr>
                        <a:t>Condition</a:t>
                      </a:r>
                    </a:p>
                  </a:txBody>
                  <a:tcPr marL="142875" marR="142875" marT="57150" marB="57150" anchor="ctr">
                    <a:lnR w="6668">
                      <a:solidFill>
                        <a:srgbClr val="D2D5D1"/>
                      </a:solidFill>
                      <a:prstDash val="solid"/>
                    </a:lnR>
                    <a:lnT w="6668">
                      <a:solidFill>
                        <a:srgbClr val="D2D5D1"/>
                      </a:solidFill>
                      <a:prstDash val="solid"/>
                    </a:lnT>
                    <a:lnB w="6668">
                      <a:solidFill>
                        <a:srgbClr val="D2D5D1"/>
                      </a:solidFill>
                      <a:prstDash val="solid"/>
                    </a:lnB>
                    <a:solidFill>
                      <a:srgbClr val="142D3C"/>
                    </a:solidFill>
                  </a:tcPr>
                </a:tc>
              </a:tr>
              <a:tr h="650875">
                <a:tc>
                  <a:txBody>
                    <a:bodyPr/>
                    <a:lstStyle/>
                    <a:p>
                      <a:r>
                        <a:rPr sz="1725">
                          <a:solidFill>
                            <a:srgbClr val="142D3C"/>
                          </a:solidFill>
                          <a:latin typeface="Calibri"/>
                          <a:ea typeface="Calibri"/>
                          <a:cs typeface="Calibri"/>
                        </a:rPr>
                        <a:t>Known names / known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New combinations; familiar pools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New names / known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Separate final-name pool</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Known names / new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Final-only structural templates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New names / new layouts</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50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Joint entity/layout transfer</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r h="650875">
                <a:tc>
                  <a:txBody>
                    <a:bodyPr/>
                    <a:lstStyle/>
                    <a:p>
                      <a:r>
                        <a:rPr sz="1725">
                          <a:solidFill>
                            <a:srgbClr val="142D3C"/>
                          </a:solidFill>
                          <a:latin typeface="Calibri"/>
                          <a:ea typeface="Calibri"/>
                          <a:cs typeface="Calibri"/>
                        </a:rPr>
                        <a:t>Training / validation</a:t>
                      </a:r>
                    </a:p>
                  </a:txBody>
                  <a:tcPr marL="142875" marR="142875" marT="57150" marB="57150" anchor="ctr">
                    <a:lnL w="6668">
                      <a:solidFill>
                        <a:srgbClr val="D2D5D1"/>
                      </a:solidFill>
                      <a:prstDash val="solid"/>
                    </a:lnL>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700 / 100</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c>
                  <a:txBody>
                    <a:bodyPr/>
                    <a:lstStyle/>
                    <a:p>
                      <a:r>
                        <a:rPr sz="1725">
                          <a:solidFill>
                            <a:srgbClr val="142D3C"/>
                          </a:solidFill>
                          <a:latin typeface="Calibri"/>
                          <a:ea typeface="Calibri"/>
                          <a:cs typeface="Calibri"/>
                        </a:rPr>
                        <a:t>Validation includes its own novel conditions</a:t>
                      </a:r>
                    </a:p>
                  </a:txBody>
                  <a:tcPr marL="142875" marR="142875" marT="57150" marB="57150" anchor="ctr">
                    <a:lnR w="6668">
                      <a:solidFill>
                        <a:srgbClr val="D2D5D1"/>
                      </a:solidFill>
                      <a:prstDash val="solid"/>
                    </a:lnR>
                    <a:lnB w="6668">
                      <a:solidFill>
                        <a:srgbClr val="D2D5D1"/>
                      </a:solidFill>
                      <a:prstDash val="solid"/>
                    </a:lnB>
                    <a:solidFill>
                      <a:srgbClr val="F5F2EB"/>
                    </a:solidFill>
                  </a:tcPr>
                </a:tc>
              </a:tr>
            </a:tbl>
          </a:graphicData>
        </a:graphic>
      </p:graphicFrame>
    </p:spTree>
    <p:extLst>
      <p:ext uri="{BB962C8B-B14F-4D97-AF65-F5344CB8AC3E}">
        <p14:creationId xmlns:p14="http://schemas.microsoft.com/office/powerpoint/2010/main" val="150728591"/>
      </p:ext>
    </p:extLst>
  </p:cSld>
</p:sld>
</file>

<file path=ppt/slides/slide3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2" name="heading">
            <a:extLst xmlns:a="http://schemas.openxmlformats.org/drawingml/2006/main">
              <a:ext uri="{FF2B5EF4-FFF2-40B4-BE49-F238E27FC236}">
                <a16:creationId xmlns:a16="http://schemas.microsoft.com/office/drawing/2014/main" id="{B5796550-9B47-4983-8675-34FCCF444F2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questions for the technical discussion</a:t>
            </a:r>
          </a:p>
        </p:txBody>
      </p:sp>
      <p:sp>
        <p:nvSpPr>
          <p:cNvPr id="2" name="page-number">
            <a:extLst xmlns:a="http://schemas.openxmlformats.org/drawingml/2006/main">
              <a:ext uri="{FF2B5EF4-FFF2-40B4-BE49-F238E27FC236}">
                <a16:creationId xmlns:a16="http://schemas.microsoft.com/office/drawing/2014/main" id="{17AA2EEF-4192-4874-BDC4-332A9909A376}"/>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35</a:t>
            </a:r>
          </a:p>
        </p:txBody>
      </p:sp>
      <p:sp>
        <p:nvSpPr>
          <p:cNvPr id="3" name="body">
            <a:extLst xmlns:a="http://schemas.openxmlformats.org/drawingml/2006/main">
              <a:ext uri="{FF2B5EF4-FFF2-40B4-BE49-F238E27FC236}">
                <a16:creationId xmlns:a16="http://schemas.microsoft.com/office/drawing/2014/main" id="{1FCFE2CE-E7BC-4B76-BC44-004D288D19DC}"/>
              </a:ext>
            </a:extLst>
          </p:cNvPr>
          <p:cNvSpPr>
            <a:spLocks xmlns:a="http://schemas.openxmlformats.org/drawingml/2006/main" noGrp="1"/>
          </p:cNvSpPr>
          <p:nvPr/>
        </p:nvSpPr>
        <p:spPr>
          <a:xfrm xmlns:a="http://schemas.openxmlformats.org/drawingml/2006/main">
            <a:off x="685800" y="21431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Mechanism and learning</a:t>
            </a:r>
          </a:p>
        </p:txBody>
      </p:sp>
      <p:sp>
        <p:nvSpPr>
          <p:cNvPr id="4" name="body">
            <a:extLst xmlns:a="http://schemas.openxmlformats.org/drawingml/2006/main">
              <a:ext uri="{FF2B5EF4-FFF2-40B4-BE49-F238E27FC236}">
                <a16:creationId xmlns:a16="http://schemas.microsoft.com/office/drawing/2014/main" id="{37B1B5A8-D1FB-46A7-B93D-07DF97A7E6D2}"/>
              </a:ext>
            </a:extLst>
          </p:cNvPr>
          <p:cNvSpPr>
            <a:spLocks xmlns:a="http://schemas.openxmlformats.org/drawingml/2006/main" noGrp="1"/>
          </p:cNvSpPr>
          <p:nvPr/>
        </p:nvSpPr>
        <p:spPr>
          <a:xfrm xmlns:a="http://schemas.openxmlformats.org/drawingml/2006/main">
            <a:off x="6429375" y="2143125"/>
            <a:ext cx="50768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F6527"/>
                </a:solidFill>
                <a:latin typeface="Calibri"/>
                <a:ea typeface="Calibri"/>
                <a:cs typeface="Calibri"/>
              </a:defRPr>
            </a:defPPr>
            <a:lvl1pPr>
              <a:defRPr sz="2325" b="1">
                <a:solidFill>
                  <a:srgbClr val="AF6527"/>
                </a:solidFill>
                <a:latin typeface="Calibri"/>
                <a:ea typeface="Calibri"/>
                <a:cs typeface="Calibri"/>
              </a:defRPr>
            </a:lvl1pPr>
            <a:lvl2pPr>
              <a:defRPr sz="2325" b="1">
                <a:solidFill>
                  <a:srgbClr val="AF6527"/>
                </a:solidFill>
                <a:latin typeface="Calibri"/>
                <a:ea typeface="Calibri"/>
                <a:cs typeface="Calibri"/>
              </a:defRPr>
            </a:lvl2pPr>
            <a:lvl3pPr>
              <a:defRPr sz="2325" b="1">
                <a:solidFill>
                  <a:srgbClr val="AF6527"/>
                </a:solidFill>
                <a:latin typeface="Calibri"/>
                <a:ea typeface="Calibri"/>
                <a:cs typeface="Calibri"/>
              </a:defRPr>
            </a:lvl3pPr>
            <a:lvl4pPr>
              <a:defRPr sz="2325" b="1">
                <a:solidFill>
                  <a:srgbClr val="AF6527"/>
                </a:solidFill>
                <a:latin typeface="Calibri"/>
                <a:ea typeface="Calibri"/>
                <a:cs typeface="Calibri"/>
              </a:defRPr>
            </a:lvl4pPr>
            <a:lvl5pPr>
              <a:defRPr sz="2325" b="1">
                <a:solidFill>
                  <a:srgbClr val="AF6527"/>
                </a:solidFill>
                <a:latin typeface="Calibri"/>
                <a:ea typeface="Calibri"/>
                <a:cs typeface="Calibri"/>
              </a:defRPr>
            </a:lvl5pPr>
            <a:lvl6pPr>
              <a:defRPr sz="2325" b="1">
                <a:solidFill>
                  <a:srgbClr val="AF6527"/>
                </a:solidFill>
                <a:latin typeface="Calibri"/>
                <a:ea typeface="Calibri"/>
                <a:cs typeface="Calibri"/>
              </a:defRPr>
            </a:lvl6pPr>
            <a:lvl7pPr>
              <a:defRPr sz="2325" b="1">
                <a:solidFill>
                  <a:srgbClr val="AF6527"/>
                </a:solidFill>
                <a:latin typeface="Calibri"/>
                <a:ea typeface="Calibri"/>
                <a:cs typeface="Calibri"/>
              </a:defRPr>
            </a:lvl7pPr>
            <a:lvl8pPr>
              <a:defRPr sz="2325" b="1">
                <a:solidFill>
                  <a:srgbClr val="AF6527"/>
                </a:solidFill>
                <a:latin typeface="Calibri"/>
                <a:ea typeface="Calibri"/>
                <a:cs typeface="Calibri"/>
              </a:defRPr>
            </a:lvl8pPr>
            <a:lvl9pPr>
              <a:defRPr sz="2325" b="1">
                <a:solidFill>
                  <a:srgbClr val="AF6527"/>
                </a:solidFill>
                <a:latin typeface="Calibri"/>
                <a:ea typeface="Calibri"/>
                <a:cs typeface="Calibri"/>
              </a:defRPr>
            </a:lvl9pPr>
          </a:lstStyle>
          <a:p xmlns:a="http://schemas.openxmlformats.org/drawingml/2006/main">
            <a:pPr>
              <a:defRPr sz="2325" b="1">
                <a:solidFill>
                  <a:srgbClr val="AF6527"/>
                </a:solidFill>
                <a:latin typeface="Calibri"/>
                <a:ea typeface="Calibri"/>
                <a:cs typeface="Calibri"/>
              </a:defRPr>
            </a:pPr>
            <a:r>
              <a:rPr sz="2325" b="1">
                <a:solidFill>
                  <a:srgbClr val="AF6527"/>
                </a:solidFill>
                <a:latin typeface="Calibri"/>
                <a:ea typeface="Calibri"/>
                <a:cs typeface="Calibri"/>
              </a:rPr>
              <a:t>Evidence and engineering</a:t>
            </a:r>
          </a:p>
        </p:txBody>
      </p:sp>
      <p:sp>
        <p:nvSpPr>
          <p:cNvPr id="5" name="body">
            <a:extLst xmlns:a="http://schemas.openxmlformats.org/drawingml/2006/main">
              <a:ext uri="{FF2B5EF4-FFF2-40B4-BE49-F238E27FC236}">
                <a16:creationId xmlns:a16="http://schemas.microsoft.com/office/drawing/2014/main" id="{0183B749-CCFE-4142-AF32-1A56037DB71F}"/>
              </a:ext>
            </a:extLst>
          </p:cNvPr>
          <p:cNvSpPr>
            <a:spLocks xmlns:a="http://schemas.openxmlformats.org/drawingml/2006/main" noGrp="1"/>
          </p:cNvSpPr>
          <p:nvPr/>
        </p:nvSpPr>
        <p:spPr>
          <a:xfrm xmlns:a="http://schemas.openxmlformats.org/drawingml/2006/main">
            <a:off x="685800" y="302895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How does the loss mask train source representations?</a:t>
            </a:r>
          </a:p>
        </p:txBody>
      </p:sp>
      <p:sp>
        <p:nvSpPr>
          <p:cNvPr id="6" name="body">
            <a:extLst xmlns:a="http://schemas.openxmlformats.org/drawingml/2006/main">
              <a:ext uri="{FF2B5EF4-FFF2-40B4-BE49-F238E27FC236}">
                <a16:creationId xmlns:a16="http://schemas.microsoft.com/office/drawing/2014/main" id="{9C923FD0-1DA8-4924-842A-C06D65D65B49}"/>
              </a:ext>
            </a:extLst>
          </p:cNvPr>
          <p:cNvSpPr>
            <a:spLocks xmlns:a="http://schemas.openxmlformats.org/drawingml/2006/main" noGrp="1"/>
          </p:cNvSpPr>
          <p:nvPr/>
        </p:nvSpPr>
        <p:spPr>
          <a:xfrm xmlns:a="http://schemas.openxmlformats.org/drawingml/2006/main">
            <a:off x="685800" y="389572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can Model A score well but fail the context pair?</a:t>
            </a:r>
          </a:p>
        </p:txBody>
      </p:sp>
      <p:sp>
        <p:nvSpPr>
          <p:cNvPr id="7" name="body">
            <a:extLst xmlns:a="http://schemas.openxmlformats.org/drawingml/2006/main">
              <a:ext uri="{FF2B5EF4-FFF2-40B4-BE49-F238E27FC236}">
                <a16:creationId xmlns:a16="http://schemas.microsoft.com/office/drawing/2014/main" id="{88A873F4-7F0F-45B8-9DB3-9379DC7770C6}"/>
              </a:ext>
            </a:extLst>
          </p:cNvPr>
          <p:cNvSpPr>
            <a:spLocks xmlns:a="http://schemas.openxmlformats.org/drawingml/2006/main" noGrp="1"/>
          </p:cNvSpPr>
          <p:nvPr/>
        </p:nvSpPr>
        <p:spPr>
          <a:xfrm xmlns:a="http://schemas.openxmlformats.org/drawingml/2006/main">
            <a:off x="685800" y="4762500"/>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do additional heads not guarantee better results?</a:t>
            </a:r>
          </a:p>
        </p:txBody>
      </p:sp>
      <p:sp>
        <p:nvSpPr>
          <p:cNvPr id="8" name="body">
            <a:extLst xmlns:a="http://schemas.openxmlformats.org/drawingml/2006/main">
              <a:ext uri="{FF2B5EF4-FFF2-40B4-BE49-F238E27FC236}">
                <a16:creationId xmlns:a16="http://schemas.microsoft.com/office/drawing/2014/main" id="{CD8104E1-EC12-40DB-8163-99FFF9ACE219}"/>
              </a:ext>
            </a:extLst>
          </p:cNvPr>
          <p:cNvSpPr>
            <a:spLocks xmlns:a="http://schemas.openxmlformats.org/drawingml/2006/main" noGrp="1"/>
          </p:cNvSpPr>
          <p:nvPr/>
        </p:nvSpPr>
        <p:spPr>
          <a:xfrm xmlns:a="http://schemas.openxmlformats.org/drawingml/2006/main">
            <a:off x="6429375" y="302895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can the smaller model outperform a deeper one?</a:t>
            </a:r>
          </a:p>
        </p:txBody>
      </p:sp>
      <p:sp>
        <p:nvSpPr>
          <p:cNvPr id="9" name="body">
            <a:extLst xmlns:a="http://schemas.openxmlformats.org/drawingml/2006/main">
              <a:ext uri="{FF2B5EF4-FFF2-40B4-BE49-F238E27FC236}">
                <a16:creationId xmlns:a16="http://schemas.microsoft.com/office/drawing/2014/main" id="{68148C00-EFD2-4F2C-9EE8-9F1B5B969E47}"/>
              </a:ext>
            </a:extLst>
          </p:cNvPr>
          <p:cNvSpPr>
            <a:spLocks xmlns:a="http://schemas.openxmlformats.org/drawingml/2006/main" noGrp="1"/>
          </p:cNvSpPr>
          <p:nvPr/>
        </p:nvSpPr>
        <p:spPr>
          <a:xfrm xmlns:a="http://schemas.openxmlformats.org/drawingml/2006/main">
            <a:off x="6429375" y="3895725"/>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Why do the 24 diagnostics differ from novel layouts?</a:t>
            </a:r>
          </a:p>
        </p:txBody>
      </p:sp>
      <p:sp>
        <p:nvSpPr>
          <p:cNvPr id="10" name="body">
            <a:extLst xmlns:a="http://schemas.openxmlformats.org/drawingml/2006/main">
              <a:ext uri="{FF2B5EF4-FFF2-40B4-BE49-F238E27FC236}">
                <a16:creationId xmlns:a16="http://schemas.microsoft.com/office/drawing/2014/main" id="{B55447BA-206A-456F-8A79-A1C780834DE0}"/>
              </a:ext>
            </a:extLst>
          </p:cNvPr>
          <p:cNvSpPr>
            <a:spLocks xmlns:a="http://schemas.openxmlformats.org/drawingml/2006/main" noGrp="1"/>
          </p:cNvSpPr>
          <p:nvPr/>
        </p:nvSpPr>
        <p:spPr>
          <a:xfrm xmlns:a="http://schemas.openxmlformats.org/drawingml/2006/main">
            <a:off x="6429375" y="4762500"/>
            <a:ext cx="50768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42D3C"/>
                </a:solidFill>
                <a:latin typeface="Calibri"/>
                <a:ea typeface="Calibri"/>
                <a:cs typeface="Calibri"/>
              </a:defRPr>
            </a:defPPr>
            <a:lvl1pPr>
              <a:defRPr sz="2025" b="0">
                <a:solidFill>
                  <a:srgbClr val="142D3C"/>
                </a:solidFill>
                <a:latin typeface="Calibri"/>
                <a:ea typeface="Calibri"/>
                <a:cs typeface="Calibri"/>
              </a:defRPr>
            </a:lvl1pPr>
            <a:lvl2pPr>
              <a:defRPr sz="2025" b="0">
                <a:solidFill>
                  <a:srgbClr val="142D3C"/>
                </a:solidFill>
                <a:latin typeface="Calibri"/>
                <a:ea typeface="Calibri"/>
                <a:cs typeface="Calibri"/>
              </a:defRPr>
            </a:lvl2pPr>
            <a:lvl3pPr>
              <a:defRPr sz="2025" b="0">
                <a:solidFill>
                  <a:srgbClr val="142D3C"/>
                </a:solidFill>
                <a:latin typeface="Calibri"/>
                <a:ea typeface="Calibri"/>
                <a:cs typeface="Calibri"/>
              </a:defRPr>
            </a:lvl3pPr>
            <a:lvl4pPr>
              <a:defRPr sz="2025" b="0">
                <a:solidFill>
                  <a:srgbClr val="142D3C"/>
                </a:solidFill>
                <a:latin typeface="Calibri"/>
                <a:ea typeface="Calibri"/>
                <a:cs typeface="Calibri"/>
              </a:defRPr>
            </a:lvl4pPr>
            <a:lvl5pPr>
              <a:defRPr sz="2025" b="0">
                <a:solidFill>
                  <a:srgbClr val="142D3C"/>
                </a:solidFill>
                <a:latin typeface="Calibri"/>
                <a:ea typeface="Calibri"/>
                <a:cs typeface="Calibri"/>
              </a:defRPr>
            </a:lvl5pPr>
            <a:lvl6pPr>
              <a:defRPr sz="2025" b="0">
                <a:solidFill>
                  <a:srgbClr val="142D3C"/>
                </a:solidFill>
                <a:latin typeface="Calibri"/>
                <a:ea typeface="Calibri"/>
                <a:cs typeface="Calibri"/>
              </a:defRPr>
            </a:lvl6pPr>
            <a:lvl7pPr>
              <a:defRPr sz="2025" b="0">
                <a:solidFill>
                  <a:srgbClr val="142D3C"/>
                </a:solidFill>
                <a:latin typeface="Calibri"/>
                <a:ea typeface="Calibri"/>
                <a:cs typeface="Calibri"/>
              </a:defRPr>
            </a:lvl7pPr>
            <a:lvl8pPr>
              <a:defRPr sz="2025" b="0">
                <a:solidFill>
                  <a:srgbClr val="142D3C"/>
                </a:solidFill>
                <a:latin typeface="Calibri"/>
                <a:ea typeface="Calibri"/>
                <a:cs typeface="Calibri"/>
              </a:defRPr>
            </a:lvl8pPr>
            <a:lvl9pPr>
              <a:defRPr sz="2025" b="0">
                <a:solidFill>
                  <a:srgbClr val="142D3C"/>
                </a:solidFill>
                <a:latin typeface="Calibri"/>
                <a:ea typeface="Calibri"/>
                <a:cs typeface="Calibri"/>
              </a:defRPr>
            </a:lvl9pPr>
          </a:lstStyle>
          <a:p xmlns:a="http://schemas.openxmlformats.org/drawingml/2006/main">
            <a:pPr>
              <a:defRPr sz="2025" b="0">
                <a:solidFill>
                  <a:srgbClr val="142D3C"/>
                </a:solidFill>
                <a:latin typeface="Calibri"/>
                <a:ea typeface="Calibri"/>
                <a:cs typeface="Calibri"/>
              </a:defRPr>
            </a:pPr>
            <a:r>
              <a:rPr sz="2025" b="0">
                <a:solidFill>
                  <a:srgbClr val="142D3C"/>
                </a:solidFill>
                <a:latin typeface="Calibri"/>
                <a:ea typeface="Calibri"/>
                <a:cs typeface="Calibri"/>
              </a:rPr>
              <a:t>How was the demo checkpoint selected?</a:t>
            </a:r>
          </a:p>
        </p:txBody>
      </p:sp>
      <p:sp>
        <p:nvSpPr>
          <p:cNvPr id="11" name="body">
            <a:extLst xmlns:a="http://schemas.openxmlformats.org/drawingml/2006/main">
              <a:ext uri="{FF2B5EF4-FFF2-40B4-BE49-F238E27FC236}">
                <a16:creationId xmlns:a16="http://schemas.microsoft.com/office/drawing/2014/main" id="{AEC0EB0C-BDA7-4627-A9EE-6C3E95258415}"/>
              </a:ext>
            </a:extLst>
          </p:cNvPr>
          <p:cNvSpPr>
            <a:spLocks xmlns:a="http://schemas.openxmlformats.org/drawingml/2006/main" noGrp="1"/>
          </p:cNvSpPr>
          <p:nvPr/>
        </p:nvSpPr>
        <p:spPr>
          <a:xfrm xmlns:a="http://schemas.openxmlformats.org/drawingml/2006/main">
            <a:off x="685800" y="598170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51616B"/>
                </a:solidFill>
                <a:latin typeface="Calibri"/>
                <a:ea typeface="Calibri"/>
                <a:cs typeface="Calibri"/>
              </a:defRPr>
            </a:defPPr>
            <a:lvl1pPr>
              <a:defRPr sz="1650" b="0">
                <a:solidFill>
                  <a:srgbClr val="51616B"/>
                </a:solidFill>
                <a:latin typeface="Calibri"/>
                <a:ea typeface="Calibri"/>
                <a:cs typeface="Calibri"/>
              </a:defRPr>
            </a:lvl1pPr>
            <a:lvl2pPr>
              <a:defRPr sz="1650" b="0">
                <a:solidFill>
                  <a:srgbClr val="51616B"/>
                </a:solidFill>
                <a:latin typeface="Calibri"/>
                <a:ea typeface="Calibri"/>
                <a:cs typeface="Calibri"/>
              </a:defRPr>
            </a:lvl2pPr>
            <a:lvl3pPr>
              <a:defRPr sz="1650" b="0">
                <a:solidFill>
                  <a:srgbClr val="51616B"/>
                </a:solidFill>
                <a:latin typeface="Calibri"/>
                <a:ea typeface="Calibri"/>
                <a:cs typeface="Calibri"/>
              </a:defRPr>
            </a:lvl3pPr>
            <a:lvl4pPr>
              <a:defRPr sz="1650" b="0">
                <a:solidFill>
                  <a:srgbClr val="51616B"/>
                </a:solidFill>
                <a:latin typeface="Calibri"/>
                <a:ea typeface="Calibri"/>
                <a:cs typeface="Calibri"/>
              </a:defRPr>
            </a:lvl4pPr>
            <a:lvl5pPr>
              <a:defRPr sz="1650" b="0">
                <a:solidFill>
                  <a:srgbClr val="51616B"/>
                </a:solidFill>
                <a:latin typeface="Calibri"/>
                <a:ea typeface="Calibri"/>
                <a:cs typeface="Calibri"/>
              </a:defRPr>
            </a:lvl5pPr>
            <a:lvl6pPr>
              <a:defRPr sz="1650" b="0">
                <a:solidFill>
                  <a:srgbClr val="51616B"/>
                </a:solidFill>
                <a:latin typeface="Calibri"/>
                <a:ea typeface="Calibri"/>
                <a:cs typeface="Calibri"/>
              </a:defRPr>
            </a:lvl6pPr>
            <a:lvl7pPr>
              <a:defRPr sz="1650" b="0">
                <a:solidFill>
                  <a:srgbClr val="51616B"/>
                </a:solidFill>
                <a:latin typeface="Calibri"/>
                <a:ea typeface="Calibri"/>
                <a:cs typeface="Calibri"/>
              </a:defRPr>
            </a:lvl7pPr>
            <a:lvl8pPr>
              <a:defRPr sz="1650" b="0">
                <a:solidFill>
                  <a:srgbClr val="51616B"/>
                </a:solidFill>
                <a:latin typeface="Calibri"/>
                <a:ea typeface="Calibri"/>
                <a:cs typeface="Calibri"/>
              </a:defRPr>
            </a:lvl8pPr>
            <a:lvl9pPr>
              <a:defRPr sz="1650" b="0">
                <a:solidFill>
                  <a:srgbClr val="51616B"/>
                </a:solidFill>
                <a:latin typeface="Calibri"/>
                <a:ea typeface="Calibri"/>
                <a:cs typeface="Calibri"/>
              </a:defRPr>
            </a:lvl9pPr>
          </a:lstStyle>
          <a:p xmlns:a="http://schemas.openxmlformats.org/drawingml/2006/main">
            <a:pPr>
              <a:defRPr sz="1650" b="0">
                <a:solidFill>
                  <a:srgbClr val="51616B"/>
                </a:solidFill>
                <a:latin typeface="Calibri"/>
                <a:ea typeface="Calibri"/>
                <a:cs typeface="Calibri"/>
              </a:defRPr>
            </a:pPr>
            <a:r>
              <a:rPr sz="1650" b="0">
                <a:solidFill>
                  <a:srgbClr val="51616B"/>
                </a:solidFill>
                <a:latin typeface="Calibri"/>
                <a:ea typeface="Calibri"/>
                <a:cs typeface="Calibri"/>
              </a:rPr>
              <a:t>Answers should refer to code, controlled tests and actual generated examples</a:t>
            </a:r>
          </a:p>
        </p:txBody>
      </p:sp>
    </p:spTree>
    <p:extLst>
      <p:ext uri="{BB962C8B-B14F-4D97-AF65-F5344CB8AC3E}">
        <p14:creationId xmlns:p14="http://schemas.microsoft.com/office/powerpoint/2010/main" val="457883029"/>
      </p:ext>
    </p:extLst>
  </p:cSld>
</p:sld>
</file>

<file path=ppt/slides/slide3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16" name="heading">
            <a:extLst xmlns:a="http://schemas.openxmlformats.org/drawingml/2006/main">
              <a:ext uri="{FF2B5EF4-FFF2-40B4-BE49-F238E27FC236}">
                <a16:creationId xmlns:a16="http://schemas.microsoft.com/office/drawing/2014/main" id="{1CBCA1ED-A267-4F79-AE79-B137B8E2DEBE}"/>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42D3C"/>
                </a:solidFill>
                <a:latin typeface="Calibri"/>
                <a:ea typeface="Calibri"/>
                <a:cs typeface="Calibri"/>
              </a:defRPr>
            </a:defPPr>
            <a:lvl1pPr>
              <a:defRPr sz="3225" b="1">
                <a:solidFill>
                  <a:srgbClr val="142D3C"/>
                </a:solidFill>
                <a:latin typeface="Calibri"/>
                <a:ea typeface="Calibri"/>
                <a:cs typeface="Calibri"/>
              </a:defRPr>
            </a:lvl1pPr>
            <a:lvl2pPr>
              <a:defRPr sz="3225" b="1">
                <a:solidFill>
                  <a:srgbClr val="142D3C"/>
                </a:solidFill>
                <a:latin typeface="Calibri"/>
                <a:ea typeface="Calibri"/>
                <a:cs typeface="Calibri"/>
              </a:defRPr>
            </a:lvl2pPr>
            <a:lvl3pPr>
              <a:defRPr sz="3225" b="1">
                <a:solidFill>
                  <a:srgbClr val="142D3C"/>
                </a:solidFill>
                <a:latin typeface="Calibri"/>
                <a:ea typeface="Calibri"/>
                <a:cs typeface="Calibri"/>
              </a:defRPr>
            </a:lvl3pPr>
            <a:lvl4pPr>
              <a:defRPr sz="3225" b="1">
                <a:solidFill>
                  <a:srgbClr val="142D3C"/>
                </a:solidFill>
                <a:latin typeface="Calibri"/>
                <a:ea typeface="Calibri"/>
                <a:cs typeface="Calibri"/>
              </a:defRPr>
            </a:lvl4pPr>
            <a:lvl5pPr>
              <a:defRPr sz="3225" b="1">
                <a:solidFill>
                  <a:srgbClr val="142D3C"/>
                </a:solidFill>
                <a:latin typeface="Calibri"/>
                <a:ea typeface="Calibri"/>
                <a:cs typeface="Calibri"/>
              </a:defRPr>
            </a:lvl5pPr>
            <a:lvl6pPr>
              <a:defRPr sz="3225" b="1">
                <a:solidFill>
                  <a:srgbClr val="142D3C"/>
                </a:solidFill>
                <a:latin typeface="Calibri"/>
                <a:ea typeface="Calibri"/>
                <a:cs typeface="Calibri"/>
              </a:defRPr>
            </a:lvl6pPr>
            <a:lvl7pPr>
              <a:defRPr sz="3225" b="1">
                <a:solidFill>
                  <a:srgbClr val="142D3C"/>
                </a:solidFill>
                <a:latin typeface="Calibri"/>
                <a:ea typeface="Calibri"/>
                <a:cs typeface="Calibri"/>
              </a:defRPr>
            </a:lvl7pPr>
            <a:lvl8pPr>
              <a:defRPr sz="3225" b="1">
                <a:solidFill>
                  <a:srgbClr val="142D3C"/>
                </a:solidFill>
                <a:latin typeface="Calibri"/>
                <a:ea typeface="Calibri"/>
                <a:cs typeface="Calibri"/>
              </a:defRPr>
            </a:lvl8pPr>
            <a:lvl9pPr>
              <a:defRPr sz="3225" b="1">
                <a:solidFill>
                  <a:srgbClr val="142D3C"/>
                </a:solidFill>
                <a:latin typeface="Calibri"/>
                <a:ea typeface="Calibri"/>
                <a:cs typeface="Calibri"/>
              </a:defRPr>
            </a:lvl9pPr>
          </a:lstStyle>
          <a:p xmlns:a="http://schemas.openxmlformats.org/drawingml/2006/main">
            <a:pPr>
              <a:defRPr sz="3225" b="1">
                <a:solidFill>
                  <a:srgbClr val="142D3C"/>
                </a:solidFill>
                <a:latin typeface="Calibri"/>
                <a:ea typeface="Calibri"/>
                <a:cs typeface="Calibri"/>
              </a:defRPr>
            </a:pPr>
            <a:r>
              <a:rPr sz="3225" b="1">
                <a:solidFill>
                  <a:srgbClr val="142D3C"/>
                </a:solidFill>
                <a:latin typeface="Calibri"/>
                <a:ea typeface="Calibri"/>
                <a:cs typeface="Calibri"/>
              </a:rPr>
              <a:t>Appendix: evidence and references</a:t>
            </a:r>
          </a:p>
        </p:txBody>
      </p:sp>
      <p:sp>
        <p:nvSpPr>
          <p:cNvPr id="2" name="page-number">
            <a:extLst xmlns:a="http://schemas.openxmlformats.org/drawingml/2006/main">
              <a:ext uri="{FF2B5EF4-FFF2-40B4-BE49-F238E27FC236}">
                <a16:creationId xmlns:a16="http://schemas.microsoft.com/office/drawing/2014/main" id="{4CF24AB1-2AD8-499C-8FDA-4C0F12C8B354}"/>
              </a:ext>
            </a:extLst>
          </p:cNvPr>
          <p:cNvSpPr>
            <a:spLocks xmlns:a="http://schemas.openxmlformats.org/drawingml/2006/main" noGrp="1"/>
          </p:cNvSpPr>
          <p:nvPr/>
        </p:nvSpPr>
        <p:spPr>
          <a:xfrm xmlns:a="http://schemas.openxmlformats.org/drawingml/2006/main">
            <a:off x="11049000" y="63150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1616B"/>
                </a:solidFill>
                <a:latin typeface="Calibri"/>
                <a:ea typeface="Calibri"/>
                <a:cs typeface="Calibri"/>
              </a:defRPr>
            </a:defPPr>
            <a:lvl1pPr>
              <a:defRPr sz="1350" b="0">
                <a:solidFill>
                  <a:srgbClr val="51616B"/>
                </a:solidFill>
                <a:latin typeface="Calibri"/>
                <a:ea typeface="Calibri"/>
                <a:cs typeface="Calibri"/>
              </a:defRPr>
            </a:lvl1pPr>
            <a:lvl2pPr>
              <a:defRPr sz="1350" b="0">
                <a:solidFill>
                  <a:srgbClr val="51616B"/>
                </a:solidFill>
                <a:latin typeface="Calibri"/>
                <a:ea typeface="Calibri"/>
                <a:cs typeface="Calibri"/>
              </a:defRPr>
            </a:lvl2pPr>
            <a:lvl3pPr>
              <a:defRPr sz="1350" b="0">
                <a:solidFill>
                  <a:srgbClr val="51616B"/>
                </a:solidFill>
                <a:latin typeface="Calibri"/>
                <a:ea typeface="Calibri"/>
                <a:cs typeface="Calibri"/>
              </a:defRPr>
            </a:lvl3pPr>
            <a:lvl4pPr>
              <a:defRPr sz="1350" b="0">
                <a:solidFill>
                  <a:srgbClr val="51616B"/>
                </a:solidFill>
                <a:latin typeface="Calibri"/>
                <a:ea typeface="Calibri"/>
                <a:cs typeface="Calibri"/>
              </a:defRPr>
            </a:lvl4pPr>
            <a:lvl5pPr>
              <a:defRPr sz="1350" b="0">
                <a:solidFill>
                  <a:srgbClr val="51616B"/>
                </a:solidFill>
                <a:latin typeface="Calibri"/>
                <a:ea typeface="Calibri"/>
                <a:cs typeface="Calibri"/>
              </a:defRPr>
            </a:lvl5pPr>
            <a:lvl6pPr>
              <a:defRPr sz="1350" b="0">
                <a:solidFill>
                  <a:srgbClr val="51616B"/>
                </a:solidFill>
                <a:latin typeface="Calibri"/>
                <a:ea typeface="Calibri"/>
                <a:cs typeface="Calibri"/>
              </a:defRPr>
            </a:lvl6pPr>
            <a:lvl7pPr>
              <a:defRPr sz="1350" b="0">
                <a:solidFill>
                  <a:srgbClr val="51616B"/>
                </a:solidFill>
                <a:latin typeface="Calibri"/>
                <a:ea typeface="Calibri"/>
                <a:cs typeface="Calibri"/>
              </a:defRPr>
            </a:lvl7pPr>
            <a:lvl8pPr>
              <a:defRPr sz="1350" b="0">
                <a:solidFill>
                  <a:srgbClr val="51616B"/>
                </a:solidFill>
                <a:latin typeface="Calibri"/>
                <a:ea typeface="Calibri"/>
                <a:cs typeface="Calibri"/>
              </a:defRPr>
            </a:lvl8pPr>
            <a:lvl9pPr>
              <a:defRPr sz="1350" b="0">
                <a:solidFill>
                  <a:srgbClr val="51616B"/>
                </a:solidFill>
                <a:latin typeface="Calibri"/>
                <a:ea typeface="Calibri"/>
                <a:cs typeface="Calibri"/>
              </a:defRPr>
            </a:lvl9pPr>
          </a:lstStyle>
          <a:p xmlns:a="http://schemas.openxmlformats.org/drawingml/2006/main">
            <a:pPr>
              <a:defRPr sz="1350" b="0">
                <a:solidFill>
                  <a:srgbClr val="51616B"/>
                </a:solidFill>
                <a:latin typeface="Calibri"/>
                <a:ea typeface="Calibri"/>
                <a:cs typeface="Calibri"/>
              </a:defRPr>
            </a:pPr>
            <a:r>
              <a:rPr sz="1350" b="0">
                <a:solidFill>
                  <a:srgbClr val="51616B"/>
                </a:solidFill>
                <a:latin typeface="Calibri"/>
                <a:ea typeface="Calibri"/>
                <a:cs typeface="Calibri"/>
              </a:rPr>
              <a:t>36</a:t>
            </a:r>
          </a:p>
        </p:txBody>
      </p:sp>
      <p:sp>
        <p:nvSpPr>
          <p:cNvPr id="3" name="body">
            <a:extLst xmlns:a="http://schemas.openxmlformats.org/drawingml/2006/main">
              <a:ext uri="{FF2B5EF4-FFF2-40B4-BE49-F238E27FC236}">
                <a16:creationId xmlns:a16="http://schemas.microsoft.com/office/drawing/2014/main" id="{3E432A60-159A-4046-9FDB-891CB6DFB7CA}"/>
              </a:ext>
            </a:extLst>
          </p:cNvPr>
          <p:cNvSpPr>
            <a:spLocks xmlns:a="http://schemas.openxmlformats.org/drawingml/2006/main" noGrp="1"/>
          </p:cNvSpPr>
          <p:nvPr/>
        </p:nvSpPr>
        <p:spPr>
          <a:xfrm xmlns:a="http://schemas.openxmlformats.org/drawingml/2006/main">
            <a:off x="685800" y="19812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Assignment</a:t>
            </a:r>
          </a:p>
        </p:txBody>
      </p:sp>
      <p:sp>
        <p:nvSpPr>
          <p:cNvPr id="4" name="body">
            <a:extLst xmlns:a="http://schemas.openxmlformats.org/drawingml/2006/main">
              <a:ext uri="{FF2B5EF4-FFF2-40B4-BE49-F238E27FC236}">
                <a16:creationId xmlns:a16="http://schemas.microsoft.com/office/drawing/2014/main" id="{D3CB3595-73BF-4E47-AB34-F4D4C7092470}"/>
              </a:ext>
            </a:extLst>
          </p:cNvPr>
          <p:cNvSpPr>
            <a:spLocks xmlns:a="http://schemas.openxmlformats.org/drawingml/2006/main" noGrp="1"/>
          </p:cNvSpPr>
          <p:nvPr/>
        </p:nvSpPr>
        <p:spPr>
          <a:xfrm xmlns:a="http://schemas.openxmlformats.org/drawingml/2006/main">
            <a:off x="3714750" y="198120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Week 6 Tiny-GPT and synthetic Mitra task</a:t>
            </a:r>
          </a:p>
        </p:txBody>
      </p:sp>
      <p:sp>
        <p:nvSpPr>
          <p:cNvPr id="5" name="body">
            <a:extLst xmlns:a="http://schemas.openxmlformats.org/drawingml/2006/main">
              <a:ext uri="{FF2B5EF4-FFF2-40B4-BE49-F238E27FC236}">
                <a16:creationId xmlns:a16="http://schemas.microsoft.com/office/drawing/2014/main" id="{FBDC7AC5-DB9C-4EC6-98E5-8CA144980BEF}"/>
              </a:ext>
            </a:extLst>
          </p:cNvPr>
          <p:cNvSpPr>
            <a:spLocks xmlns:a="http://schemas.openxmlformats.org/drawingml/2006/main" noGrp="1"/>
          </p:cNvSpPr>
          <p:nvPr/>
        </p:nvSpPr>
        <p:spPr>
          <a:xfrm xmlns:a="http://schemas.openxmlformats.org/drawingml/2006/main">
            <a:off x="685800" y="26003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Project implementation</a:t>
            </a:r>
          </a:p>
        </p:txBody>
      </p:sp>
      <p:sp>
        <p:nvSpPr>
          <p:cNvPr id="6" name="body">
            <a:extLst xmlns:a="http://schemas.openxmlformats.org/drawingml/2006/main">
              <a:ext uri="{FF2B5EF4-FFF2-40B4-BE49-F238E27FC236}">
                <a16:creationId xmlns:a16="http://schemas.microsoft.com/office/drawing/2014/main" id="{5E040C66-B5D3-47B2-95B7-1BBA7C3084DA}"/>
              </a:ext>
            </a:extLst>
          </p:cNvPr>
          <p:cNvSpPr>
            <a:spLocks xmlns:a="http://schemas.openxmlformats.org/drawingml/2006/main" noGrp="1"/>
          </p:cNvSpPr>
          <p:nvPr/>
        </p:nvSpPr>
        <p:spPr>
          <a:xfrm xmlns:a="http://schemas.openxmlformats.org/drawingml/2006/main">
            <a:off x="3714750" y="260032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Manual model, training, tokenizer and evaluation code</a:t>
            </a:r>
          </a:p>
        </p:txBody>
      </p:sp>
      <p:sp>
        <p:nvSpPr>
          <p:cNvPr id="7" name="body">
            <a:extLst xmlns:a="http://schemas.openxmlformats.org/drawingml/2006/main">
              <a:ext uri="{FF2B5EF4-FFF2-40B4-BE49-F238E27FC236}">
                <a16:creationId xmlns:a16="http://schemas.microsoft.com/office/drawing/2014/main" id="{6F3A794E-399F-43D5-BB6D-4A9238C39795}"/>
              </a:ext>
            </a:extLst>
          </p:cNvPr>
          <p:cNvSpPr>
            <a:spLocks xmlns:a="http://schemas.openxmlformats.org/drawingml/2006/main" noGrp="1"/>
          </p:cNvSpPr>
          <p:nvPr/>
        </p:nvSpPr>
        <p:spPr>
          <a:xfrm xmlns:a="http://schemas.openxmlformats.org/drawingml/2006/main">
            <a:off x="685800" y="321945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Measured evidence</a:t>
            </a:r>
          </a:p>
        </p:txBody>
      </p:sp>
      <p:sp>
        <p:nvSpPr>
          <p:cNvPr id="8" name="body">
            <a:extLst xmlns:a="http://schemas.openxmlformats.org/drawingml/2006/main">
              <a:ext uri="{FF2B5EF4-FFF2-40B4-BE49-F238E27FC236}">
                <a16:creationId xmlns:a16="http://schemas.microsoft.com/office/drawing/2014/main" id="{718CD77E-B3E9-4100-B55F-451F8333E80C}"/>
              </a:ext>
            </a:extLst>
          </p:cNvPr>
          <p:cNvSpPr>
            <a:spLocks xmlns:a="http://schemas.openxmlformats.org/drawingml/2006/main" noGrp="1"/>
          </p:cNvSpPr>
          <p:nvPr/>
        </p:nvSpPr>
        <p:spPr>
          <a:xfrm xmlns:a="http://schemas.openxmlformats.org/drawingml/2006/main">
            <a:off x="3714750" y="321945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Checkpoints, raw outputs, masks/resume tests and protocols</a:t>
            </a:r>
          </a:p>
        </p:txBody>
      </p:sp>
      <p:sp>
        <p:nvSpPr>
          <p:cNvPr id="9" name="body">
            <a:extLst xmlns:a="http://schemas.openxmlformats.org/drawingml/2006/main">
              <a:ext uri="{FF2B5EF4-FFF2-40B4-BE49-F238E27FC236}">
                <a16:creationId xmlns:a16="http://schemas.microsoft.com/office/drawing/2014/main" id="{EC216013-6A00-4161-8C2C-B1542930F0C2}"/>
              </a:ext>
            </a:extLst>
          </p:cNvPr>
          <p:cNvSpPr>
            <a:spLocks xmlns:a="http://schemas.openxmlformats.org/drawingml/2006/main" noGrp="1"/>
          </p:cNvSpPr>
          <p:nvPr/>
        </p:nvSpPr>
        <p:spPr>
          <a:xfrm xmlns:a="http://schemas.openxmlformats.org/drawingml/2006/main">
            <a:off x="685800" y="383857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Prior experiment</a:t>
            </a:r>
          </a:p>
        </p:txBody>
      </p:sp>
      <p:sp>
        <p:nvSpPr>
          <p:cNvPr id="10" name="body">
            <a:extLst xmlns:a="http://schemas.openxmlformats.org/drawingml/2006/main">
              <a:ext uri="{FF2B5EF4-FFF2-40B4-BE49-F238E27FC236}">
                <a16:creationId xmlns:a16="http://schemas.microsoft.com/office/drawing/2014/main" id="{D2EEA231-90F1-4C73-8C8A-5D925847E216}"/>
              </a:ext>
            </a:extLst>
          </p:cNvPr>
          <p:cNvSpPr>
            <a:spLocks xmlns:a="http://schemas.openxmlformats.org/drawingml/2006/main" noGrp="1"/>
          </p:cNvSpPr>
          <p:nvPr/>
        </p:nvSpPr>
        <p:spPr>
          <a:xfrm xmlns:a="http://schemas.openxmlformats.org/drawingml/2006/main">
            <a:off x="3714750" y="383857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Week 5 NumPy results; a separate task</a:t>
            </a:r>
          </a:p>
        </p:txBody>
      </p:sp>
      <p:sp>
        <p:nvSpPr>
          <p:cNvPr id="11" name="body">
            <a:extLst xmlns:a="http://schemas.openxmlformats.org/drawingml/2006/main">
              <a:ext uri="{FF2B5EF4-FFF2-40B4-BE49-F238E27FC236}">
                <a16:creationId xmlns:a16="http://schemas.microsoft.com/office/drawing/2014/main" id="{069BADEA-8C9E-452B-81EB-5744FE0EC39F}"/>
              </a:ext>
            </a:extLst>
          </p:cNvPr>
          <p:cNvSpPr>
            <a:spLocks xmlns:a="http://schemas.openxmlformats.org/drawingml/2006/main" noGrp="1"/>
          </p:cNvSpPr>
          <p:nvPr/>
        </p:nvSpPr>
        <p:spPr>
          <a:xfrm xmlns:a="http://schemas.openxmlformats.org/drawingml/2006/main">
            <a:off x="685800" y="4457700"/>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Architecture</a:t>
            </a:r>
          </a:p>
        </p:txBody>
      </p:sp>
      <p:sp>
        <p:nvSpPr>
          <p:cNvPr id="12" name="body">
            <a:extLst xmlns:a="http://schemas.openxmlformats.org/drawingml/2006/main">
              <a:ext uri="{FF2B5EF4-FFF2-40B4-BE49-F238E27FC236}">
                <a16:creationId xmlns:a16="http://schemas.microsoft.com/office/drawing/2014/main" id="{975E79DF-54D9-48BC-B7E4-A5B2FA53F486}"/>
              </a:ext>
            </a:extLst>
          </p:cNvPr>
          <p:cNvSpPr>
            <a:spLocks xmlns:a="http://schemas.openxmlformats.org/drawingml/2006/main" noGrp="1"/>
          </p:cNvSpPr>
          <p:nvPr/>
        </p:nvSpPr>
        <p:spPr>
          <a:xfrm xmlns:a="http://schemas.openxmlformats.org/drawingml/2006/main">
            <a:off x="3714750" y="4457700"/>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Vaswani et al.; Ba, Kiros and Hinton</a:t>
            </a:r>
          </a:p>
        </p:txBody>
      </p:sp>
      <p:sp>
        <p:nvSpPr>
          <p:cNvPr id="13" name="body">
            <a:extLst xmlns:a="http://schemas.openxmlformats.org/drawingml/2006/main">
              <a:ext uri="{FF2B5EF4-FFF2-40B4-BE49-F238E27FC236}">
                <a16:creationId xmlns:a16="http://schemas.microsoft.com/office/drawing/2014/main" id="{6B3FC9B4-E306-4AB9-B9E3-22F55695E480}"/>
              </a:ext>
            </a:extLst>
          </p:cNvPr>
          <p:cNvSpPr>
            <a:spLocks xmlns:a="http://schemas.openxmlformats.org/drawingml/2006/main" noGrp="1"/>
          </p:cNvSpPr>
          <p:nvPr/>
        </p:nvSpPr>
        <p:spPr>
          <a:xfrm xmlns:a="http://schemas.openxmlformats.org/drawingml/2006/main">
            <a:off x="685800" y="5076825"/>
            <a:ext cx="276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1">
                <a:solidFill>
                  <a:srgbClr val="AF6527"/>
                </a:solidFill>
                <a:latin typeface="Calibri"/>
                <a:ea typeface="Calibri"/>
                <a:cs typeface="Calibri"/>
              </a:defRPr>
            </a:defPPr>
            <a:lvl1pPr>
              <a:defRPr sz="1800" b="1">
                <a:solidFill>
                  <a:srgbClr val="AF6527"/>
                </a:solidFill>
                <a:latin typeface="Calibri"/>
                <a:ea typeface="Calibri"/>
                <a:cs typeface="Calibri"/>
              </a:defRPr>
            </a:lvl1pPr>
            <a:lvl2pPr>
              <a:defRPr sz="1800" b="1">
                <a:solidFill>
                  <a:srgbClr val="AF6527"/>
                </a:solidFill>
                <a:latin typeface="Calibri"/>
                <a:ea typeface="Calibri"/>
                <a:cs typeface="Calibri"/>
              </a:defRPr>
            </a:lvl2pPr>
            <a:lvl3pPr>
              <a:defRPr sz="1800" b="1">
                <a:solidFill>
                  <a:srgbClr val="AF6527"/>
                </a:solidFill>
                <a:latin typeface="Calibri"/>
                <a:ea typeface="Calibri"/>
                <a:cs typeface="Calibri"/>
              </a:defRPr>
            </a:lvl3pPr>
            <a:lvl4pPr>
              <a:defRPr sz="1800" b="1">
                <a:solidFill>
                  <a:srgbClr val="AF6527"/>
                </a:solidFill>
                <a:latin typeface="Calibri"/>
                <a:ea typeface="Calibri"/>
                <a:cs typeface="Calibri"/>
              </a:defRPr>
            </a:lvl4pPr>
            <a:lvl5pPr>
              <a:defRPr sz="1800" b="1">
                <a:solidFill>
                  <a:srgbClr val="AF6527"/>
                </a:solidFill>
                <a:latin typeface="Calibri"/>
                <a:ea typeface="Calibri"/>
                <a:cs typeface="Calibri"/>
              </a:defRPr>
            </a:lvl5pPr>
            <a:lvl6pPr>
              <a:defRPr sz="1800" b="1">
                <a:solidFill>
                  <a:srgbClr val="AF6527"/>
                </a:solidFill>
                <a:latin typeface="Calibri"/>
                <a:ea typeface="Calibri"/>
                <a:cs typeface="Calibri"/>
              </a:defRPr>
            </a:lvl6pPr>
            <a:lvl7pPr>
              <a:defRPr sz="1800" b="1">
                <a:solidFill>
                  <a:srgbClr val="AF6527"/>
                </a:solidFill>
                <a:latin typeface="Calibri"/>
                <a:ea typeface="Calibri"/>
                <a:cs typeface="Calibri"/>
              </a:defRPr>
            </a:lvl7pPr>
            <a:lvl8pPr>
              <a:defRPr sz="1800" b="1">
                <a:solidFill>
                  <a:srgbClr val="AF6527"/>
                </a:solidFill>
                <a:latin typeface="Calibri"/>
                <a:ea typeface="Calibri"/>
                <a:cs typeface="Calibri"/>
              </a:defRPr>
            </a:lvl8pPr>
            <a:lvl9pPr>
              <a:defRPr sz="1800" b="1">
                <a:solidFill>
                  <a:srgbClr val="AF6527"/>
                </a:solidFill>
                <a:latin typeface="Calibri"/>
                <a:ea typeface="Calibri"/>
                <a:cs typeface="Calibri"/>
              </a:defRPr>
            </a:lvl9pPr>
          </a:lstStyle>
          <a:p xmlns:a="http://schemas.openxmlformats.org/drawingml/2006/main">
            <a:pPr>
              <a:defRPr sz="1800" b="1">
                <a:solidFill>
                  <a:srgbClr val="AF6527"/>
                </a:solidFill>
                <a:latin typeface="Calibri"/>
                <a:ea typeface="Calibri"/>
                <a:cs typeface="Calibri"/>
              </a:defRPr>
            </a:pPr>
            <a:r>
              <a:rPr sz="1800" b="1">
                <a:solidFill>
                  <a:srgbClr val="AF6527"/>
                </a:solidFill>
                <a:latin typeface="Calibri"/>
                <a:ea typeface="Calibri"/>
                <a:cs typeface="Calibri"/>
              </a:rPr>
              <a:t>Interpretation</a:t>
            </a:r>
          </a:p>
        </p:txBody>
      </p:sp>
      <p:sp>
        <p:nvSpPr>
          <p:cNvPr id="14" name="body">
            <a:extLst xmlns:a="http://schemas.openxmlformats.org/drawingml/2006/main">
              <a:ext uri="{FF2B5EF4-FFF2-40B4-BE49-F238E27FC236}">
                <a16:creationId xmlns:a16="http://schemas.microsoft.com/office/drawing/2014/main" id="{E7DF96CD-7545-47F3-A45D-264548CA1062}"/>
              </a:ext>
            </a:extLst>
          </p:cNvPr>
          <p:cNvSpPr>
            <a:spLocks xmlns:a="http://schemas.openxmlformats.org/drawingml/2006/main" noGrp="1"/>
          </p:cNvSpPr>
          <p:nvPr/>
        </p:nvSpPr>
        <p:spPr>
          <a:xfrm xmlns:a="http://schemas.openxmlformats.org/drawingml/2006/main">
            <a:off x="3714750" y="5076825"/>
            <a:ext cx="77914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142D3C"/>
                </a:solidFill>
                <a:latin typeface="Calibri"/>
                <a:ea typeface="Calibri"/>
                <a:cs typeface="Calibri"/>
              </a:defRPr>
            </a:defPPr>
            <a:lvl1pPr>
              <a:defRPr sz="1875" b="0">
                <a:solidFill>
                  <a:srgbClr val="142D3C"/>
                </a:solidFill>
                <a:latin typeface="Calibri"/>
                <a:ea typeface="Calibri"/>
                <a:cs typeface="Calibri"/>
              </a:defRPr>
            </a:lvl1pPr>
            <a:lvl2pPr>
              <a:defRPr sz="1875" b="0">
                <a:solidFill>
                  <a:srgbClr val="142D3C"/>
                </a:solidFill>
                <a:latin typeface="Calibri"/>
                <a:ea typeface="Calibri"/>
                <a:cs typeface="Calibri"/>
              </a:defRPr>
            </a:lvl2pPr>
            <a:lvl3pPr>
              <a:defRPr sz="1875" b="0">
                <a:solidFill>
                  <a:srgbClr val="142D3C"/>
                </a:solidFill>
                <a:latin typeface="Calibri"/>
                <a:ea typeface="Calibri"/>
                <a:cs typeface="Calibri"/>
              </a:defRPr>
            </a:lvl3pPr>
            <a:lvl4pPr>
              <a:defRPr sz="1875" b="0">
                <a:solidFill>
                  <a:srgbClr val="142D3C"/>
                </a:solidFill>
                <a:latin typeface="Calibri"/>
                <a:ea typeface="Calibri"/>
                <a:cs typeface="Calibri"/>
              </a:defRPr>
            </a:lvl4pPr>
            <a:lvl5pPr>
              <a:defRPr sz="1875" b="0">
                <a:solidFill>
                  <a:srgbClr val="142D3C"/>
                </a:solidFill>
                <a:latin typeface="Calibri"/>
                <a:ea typeface="Calibri"/>
                <a:cs typeface="Calibri"/>
              </a:defRPr>
            </a:lvl5pPr>
            <a:lvl6pPr>
              <a:defRPr sz="1875" b="0">
                <a:solidFill>
                  <a:srgbClr val="142D3C"/>
                </a:solidFill>
                <a:latin typeface="Calibri"/>
                <a:ea typeface="Calibri"/>
                <a:cs typeface="Calibri"/>
              </a:defRPr>
            </a:lvl6pPr>
            <a:lvl7pPr>
              <a:defRPr sz="1875" b="0">
                <a:solidFill>
                  <a:srgbClr val="142D3C"/>
                </a:solidFill>
                <a:latin typeface="Calibri"/>
                <a:ea typeface="Calibri"/>
                <a:cs typeface="Calibri"/>
              </a:defRPr>
            </a:lvl7pPr>
            <a:lvl8pPr>
              <a:defRPr sz="1875" b="0">
                <a:solidFill>
                  <a:srgbClr val="142D3C"/>
                </a:solidFill>
                <a:latin typeface="Calibri"/>
                <a:ea typeface="Calibri"/>
                <a:cs typeface="Calibri"/>
              </a:defRPr>
            </a:lvl8pPr>
            <a:lvl9pPr>
              <a:defRPr sz="1875" b="0">
                <a:solidFill>
                  <a:srgbClr val="142D3C"/>
                </a:solidFill>
                <a:latin typeface="Calibri"/>
                <a:ea typeface="Calibri"/>
                <a:cs typeface="Calibri"/>
              </a:defRPr>
            </a:lvl9pPr>
          </a:lstStyle>
          <a:p xmlns:a="http://schemas.openxmlformats.org/drawingml/2006/main">
            <a:pPr>
              <a:defRPr sz="1875" b="0">
                <a:solidFill>
                  <a:srgbClr val="142D3C"/>
                </a:solidFill>
                <a:latin typeface="Calibri"/>
                <a:ea typeface="Calibri"/>
                <a:cs typeface="Calibri"/>
              </a:defRPr>
            </a:pPr>
            <a:r>
              <a:rPr sz="1875" b="0">
                <a:solidFill>
                  <a:srgbClr val="142D3C"/>
                </a:solidFill>
                <a:latin typeface="Calibri"/>
                <a:ea typeface="Calibri"/>
                <a:cs typeface="Calibri"/>
              </a:rPr>
              <a:t>Attention routing, interventions and bounded claims</a:t>
            </a:r>
          </a:p>
        </p:txBody>
      </p:sp>
      <p:sp>
        <p:nvSpPr>
          <p:cNvPr id="15" name="body">
            <a:extLst xmlns:a="http://schemas.openxmlformats.org/drawingml/2006/main">
              <a:ext uri="{FF2B5EF4-FFF2-40B4-BE49-F238E27FC236}">
                <a16:creationId xmlns:a16="http://schemas.microsoft.com/office/drawing/2014/main" id="{D823B2CF-C1F4-40E0-AC97-80C9BD1D53EF}"/>
              </a:ext>
            </a:extLst>
          </p:cNvPr>
          <p:cNvSpPr>
            <a:spLocks xmlns:a="http://schemas.openxmlformats.org/drawingml/2006/main" noGrp="1"/>
          </p:cNvSpPr>
          <p:nvPr/>
        </p:nvSpPr>
        <p:spPr>
          <a:xfrm xmlns:a="http://schemas.openxmlformats.org/drawingml/2006/main">
            <a:off x="685800" y="598170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51616B"/>
                </a:solidFill>
                <a:latin typeface="Calibri"/>
                <a:ea typeface="Calibri"/>
                <a:cs typeface="Calibri"/>
              </a:defRPr>
            </a:defPPr>
            <a:lvl1pPr>
              <a:defRPr sz="1575" b="0">
                <a:solidFill>
                  <a:srgbClr val="51616B"/>
                </a:solidFill>
                <a:latin typeface="Calibri"/>
                <a:ea typeface="Calibri"/>
                <a:cs typeface="Calibri"/>
              </a:defRPr>
            </a:lvl1pPr>
            <a:lvl2pPr>
              <a:defRPr sz="1575" b="0">
                <a:solidFill>
                  <a:srgbClr val="51616B"/>
                </a:solidFill>
                <a:latin typeface="Calibri"/>
                <a:ea typeface="Calibri"/>
                <a:cs typeface="Calibri"/>
              </a:defRPr>
            </a:lvl2pPr>
            <a:lvl3pPr>
              <a:defRPr sz="1575" b="0">
                <a:solidFill>
                  <a:srgbClr val="51616B"/>
                </a:solidFill>
                <a:latin typeface="Calibri"/>
                <a:ea typeface="Calibri"/>
                <a:cs typeface="Calibri"/>
              </a:defRPr>
            </a:lvl3pPr>
            <a:lvl4pPr>
              <a:defRPr sz="1575" b="0">
                <a:solidFill>
                  <a:srgbClr val="51616B"/>
                </a:solidFill>
                <a:latin typeface="Calibri"/>
                <a:ea typeface="Calibri"/>
                <a:cs typeface="Calibri"/>
              </a:defRPr>
            </a:lvl4pPr>
            <a:lvl5pPr>
              <a:defRPr sz="1575" b="0">
                <a:solidFill>
                  <a:srgbClr val="51616B"/>
                </a:solidFill>
                <a:latin typeface="Calibri"/>
                <a:ea typeface="Calibri"/>
                <a:cs typeface="Calibri"/>
              </a:defRPr>
            </a:lvl5pPr>
            <a:lvl6pPr>
              <a:defRPr sz="1575" b="0">
                <a:solidFill>
                  <a:srgbClr val="51616B"/>
                </a:solidFill>
                <a:latin typeface="Calibri"/>
                <a:ea typeface="Calibri"/>
                <a:cs typeface="Calibri"/>
              </a:defRPr>
            </a:lvl6pPr>
            <a:lvl7pPr>
              <a:defRPr sz="1575" b="0">
                <a:solidFill>
                  <a:srgbClr val="51616B"/>
                </a:solidFill>
                <a:latin typeface="Calibri"/>
                <a:ea typeface="Calibri"/>
                <a:cs typeface="Calibri"/>
              </a:defRPr>
            </a:lvl7pPr>
            <a:lvl8pPr>
              <a:defRPr sz="1575" b="0">
                <a:solidFill>
                  <a:srgbClr val="51616B"/>
                </a:solidFill>
                <a:latin typeface="Calibri"/>
                <a:ea typeface="Calibri"/>
                <a:cs typeface="Calibri"/>
              </a:defRPr>
            </a:lvl8pPr>
            <a:lvl9pPr>
              <a:defRPr sz="1575" b="0">
                <a:solidFill>
                  <a:srgbClr val="51616B"/>
                </a:solidFill>
                <a:latin typeface="Calibri"/>
                <a:ea typeface="Calibri"/>
                <a:cs typeface="Calibri"/>
              </a:defRPr>
            </a:lvl9pPr>
          </a:lstStyle>
          <a:p xmlns:a="http://schemas.openxmlformats.org/drawingml/2006/main">
            <a:pPr>
              <a:defRPr sz="1575" b="0">
                <a:solidFill>
                  <a:srgbClr val="51616B"/>
                </a:solidFill>
                <a:latin typeface="Calibri"/>
                <a:ea typeface="Calibri"/>
                <a:cs typeface="Calibri"/>
              </a:defRPr>
            </a:pPr>
            <a:r>
              <a:rPr sz="1575" b="0">
                <a:solidFill>
                  <a:srgbClr val="51616B"/>
                </a:solidFill>
                <a:latin typeface="Calibri"/>
                <a:ea typeface="Calibri"/>
                <a:cs typeface="Calibri"/>
              </a:rPr>
              <a:t>Relevant local paths and source links appear in each slide’s speaker notes</a:t>
            </a:r>
          </a:p>
        </p:txBody>
      </p:sp>
    </p:spTree>
    <p:extLst>
      <p:ext uri="{BB962C8B-B14F-4D97-AF65-F5344CB8AC3E}">
        <p14:creationId xmlns:p14="http://schemas.microsoft.com/office/powerpoint/2010/main" val="447042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2026-10-18T00:08:11.0200000Z</dcterms:created>
  <dcterms:modified xsi:type="dcterms:W3CDTF">2026-10-18T00:08:11.0200000Z</dcterms:modified>
</coreProperties>
</file>